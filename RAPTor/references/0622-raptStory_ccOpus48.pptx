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3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92" y="4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170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冷開場。慢。停頓兩秒再開口。把這個小到沒人問的退款問題丟出來——它六個月後會把對帳搞掛。先給人與痛，不給術語。種下全場回扣的種子。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第二人稱，讓每個 PO/BA/SA/RD/QA 對號入座。立起主題反命題：痛不是人不夠聰明，是聰明被苦工浪費掉。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把痛點放大成集體經驗。強調是結構問題（沒有 SSOT），不是人的問題，降低防衛。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製造希望，準備反轉。語氣輕快帶誘惑。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反轉＋第一次回扣退款問句。最後一句放慢：AI 把商業決策偷渡成實作細節。這是全場論點的反命題『猜』。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TED 的 reframe 核心時刻。把全場從『工具優化』抬到『分工定位』。劃掉舊問題、換上新問題。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立下賭注。埋 CTA 種子——『已放上 GitHub、今天就能跑』，讓聽眾從中段開始用『我能用』的耳朵聽。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全場中心論點。先全暗立起整張表；Act 2 每跑一個實作節點，回來點亮一列。這張會出現很多次。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節點①。AI 撿走第一項苦工：消化成草稿。跑完回頭點亮左1。用真實 RFP 效果最強——『這是我們的東西』。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節點②。AI 起草行為規格，但碰到券的政策它停手。點亮右1（釐清名詞/定義）。現場讓 BA 改一句業務語言，給參與感。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節點③。點亮左2（跨層一致性）。強調『每個欄位標好來源』＝可追溯，呼應後面 CiC 不亂猜。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全場最高點。痛→解回扣完成。故意不回答，讓流程停住等人——同時證明『人不可或缺』與『AI 不亂猜』。放慢，留白。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節點⑤。點亮左3（算影響/查一致性）。回扣 Act1 的搬運痛。verify 唯讀，修正交 reconcile。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節點⑥。左欄全亮——AI 把所有苦工撿完了。人方還剩『裁決/負責』要在 Act3 收。數字證明不是 demo。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用結果而非指標表給信任。保留學術誠實邊界。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首尾閉環，退款問句第三次、styling 完全一致。把論點釘死：人不可或缺，AI 不越界。三段停頓。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整張表全亮，論點收束。這是全場的一句話。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把抽象變成每個角色具體、低門檻的第一步。這是帶走物。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把邀請升級成低門檻挑戰：今晚、最爛那份、一個下午。降低嘗試成本＝提高行動率。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首尾閉環。把主題訊息升華成金句。最後一個畫面就是 CTA。三段停頓：金句／兩個解放／換你了。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被問流程細節時翻。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被問『AI 會不會亂改我規格』時翻。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被問引用規則時翻。對應節點⑤的 verify FAIL。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0" y="1965960"/>
            <a:ext cx="1216152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994392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「用優惠券買的訂單要退款——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券，要退嗎？退券前還是券後的錢？」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97680"/>
            <a:ext cx="999439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EB8C6"/>
                </a:solidFill>
                <a:latin typeface="Microsoft JhengHei"/>
              </a:rPr>
              <a:t>六個月前，沒有人問這個問題。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868680"/>
            <a:ext cx="12801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841248"/>
            <a:ext cx="9692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你，是團隊裡最懂業務的那個人。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828800"/>
            <a:ext cx="9692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C9D3E0"/>
                </a:solidFill>
                <a:latin typeface="Microsoft JhengHei"/>
              </a:rPr>
              <a:t>客戶的話、流程的眉角、那些『這種狀況其實要特別處理』的暗規則——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2C984"/>
                </a:solidFill>
                <a:latin typeface="Microsoft JhengHei"/>
              </a:rPr>
              <a:t>只有你知道。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3383280"/>
            <a:ext cx="10607040" cy="173736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86384" y="3383280"/>
            <a:ext cx="82296" cy="1737360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3383280"/>
            <a:ext cx="10149840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但你一週裡有八成時間，不是在用這份知識做判斷——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2C984"/>
                </a:solidFill>
                <a:latin typeface="Microsoft JhengHei"/>
              </a:rPr>
              <a:t>而是在把同一件事，抄到第五份文件裡。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C9D3E0"/>
                </a:solidFill>
                <a:latin typeface="Microsoft JhengHei"/>
              </a:rPr>
              <a:t>改一個欄位名，你要手動巡五個地方。你最值錢的判斷，被埋在最不值錢的搬運底下。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868680"/>
            <a:ext cx="128016" cy="640080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841248"/>
            <a:ext cx="9692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這不是你不認真。是這條鏈，本來就在漏。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103120"/>
            <a:ext cx="9994392" cy="109728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53312" y="2267712"/>
            <a:ext cx="9537192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2C984"/>
                </a:solidFill>
                <a:latin typeface="Consolas"/>
              </a:rPr>
              <a:t>  PRD → 口頭傳遞 → Gherkin → DBML → API → UI / 權限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2C984"/>
                </a:solidFill>
                <a:latin typeface="Consolas"/>
              </a:rPr>
              <a:t>   └─ 每一層都是人手抄一次，每抄一次失真一點，且彼此斷開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9994392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AEB8C6"/>
                </a:solidFill>
                <a:latin typeface="Microsoft JhengHei"/>
              </a:rPr>
              <a:t>同一個『訂單金額』，PO 想的是折扣前，RD 寫的是折扣後。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AEB8C6"/>
                </a:solidFill>
                <a:latin typeface="Microsoft JhengHei"/>
              </a:rPr>
              <a:t>需求改了 PRD，Gherkin 還是舊的，QA 在守一個早就不存在的行為。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F2C984"/>
                </a:solidFill>
                <a:latin typeface="Microsoft JhengHei"/>
              </a:rPr>
              <a:t>沒有單一事實來源——每份文件，都號稱自己才是對的。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1965960"/>
            <a:ext cx="128016" cy="10972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1828800"/>
            <a:ext cx="969264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然後，AI 來了，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帶著一個非常誘人的承諾：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023360"/>
            <a:ext cx="9692640" cy="775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dirty="0">
                <a:solidFill>
                  <a:srgbClr val="F2C984"/>
                </a:solidFill>
                <a:latin typeface="Microsoft JhengHei"/>
              </a:rPr>
              <a:t>「讓 AI </a:t>
            </a:r>
            <a:r>
              <a:rPr sz="2200" b="1" dirty="0" err="1">
                <a:solidFill>
                  <a:srgbClr val="F2C984"/>
                </a:solidFill>
                <a:latin typeface="Microsoft JhengHei"/>
              </a:rPr>
              <a:t>幫你，把程式碼</a:t>
            </a:r>
            <a:r>
              <a:rPr lang="zh-TW" altLang="en-US" sz="2200" b="1" dirty="0">
                <a:solidFill>
                  <a:srgbClr val="F2C98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很快</a:t>
            </a:r>
            <a:r>
              <a:rPr sz="2200" b="1" dirty="0" err="1">
                <a:solidFill>
                  <a:srgbClr val="F2C984"/>
                </a:solidFill>
                <a:latin typeface="Microsoft JhengHei"/>
              </a:rPr>
              <a:t>寫完</a:t>
            </a:r>
            <a:r>
              <a:rPr sz="2200" b="1" dirty="0">
                <a:solidFill>
                  <a:srgbClr val="F2C984"/>
                </a:solidFill>
                <a:latin typeface="Microsoft JhengHei"/>
              </a:rPr>
              <a:t>。」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dirty="0" err="1">
                <a:solidFill>
                  <a:srgbClr val="C9D3E0"/>
                </a:solidFill>
                <a:latin typeface="Microsoft JhengHei"/>
              </a:rPr>
              <a:t>我們當然試了。一開始真的很快</a:t>
            </a:r>
            <a:r>
              <a:rPr sz="1500" b="0" dirty="0">
                <a:solidFill>
                  <a:srgbClr val="C9D3E0"/>
                </a:solidFill>
                <a:latin typeface="Microsoft JhengHei"/>
              </a:rPr>
              <a:t>——</a:t>
            </a:r>
            <a:r>
              <a:rPr sz="1500" b="0" dirty="0" err="1">
                <a:solidFill>
                  <a:srgbClr val="C9D3E0"/>
                </a:solidFill>
                <a:latin typeface="Microsoft JhengHei"/>
              </a:rPr>
              <a:t>快到讓人上癮</a:t>
            </a:r>
            <a:r>
              <a:rPr sz="1500" b="0" dirty="0">
                <a:solidFill>
                  <a:srgbClr val="C9D3E0"/>
                </a:solidFill>
                <a:latin typeface="Microsoft JhengHei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AEB8C6"/>
                </a:solidFill>
                <a:latin typeface="Microsoft JhengHe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822960"/>
            <a:ext cx="128016" cy="640080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95528"/>
            <a:ext cx="9692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但很快，我們就被背叛了。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920240"/>
            <a:ext cx="10607040" cy="155448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6384" y="1920240"/>
            <a:ext cx="82296" cy="1554480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920240"/>
            <a:ext cx="1014984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2C984"/>
                </a:solidFill>
                <a:latin typeface="Microsoft JhengHei"/>
              </a:rPr>
              <a:t>AI 不會停下來問你：『券到底要不要退？』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AEB8C6"/>
                </a:solidFill>
                <a:latin typeface="Microsoft JhengHei"/>
              </a:rPr>
              <a:t>它會用一個看起來很合理的答案，直接幫你猜——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然後用前所未有的速度，把這個猜錯，鋪滿你整個系統。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999439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C984"/>
                </a:solidFill>
                <a:latin typeface="Microsoft JhengHei"/>
              </a:rPr>
              <a:t>還記得開場那個退款問題嗎？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EB8C6"/>
                </a:solidFill>
                <a:latin typeface="Microsoft JhengHei"/>
              </a:rPr>
              <a:t>AI 最危險的地方不是寫得慢，是它『不知道自己不該猜』——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它把該由你決定的事，悄悄變成了一行程式碼。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914400"/>
            <a:ext cx="12801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886968"/>
            <a:ext cx="9692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是不是，我們一開始就問錯了？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286000"/>
            <a:ext cx="94183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strike="sngStrike">
                <a:solidFill>
                  <a:srgbClr val="8A93A0"/>
                </a:solidFill>
                <a:latin typeface="Microsoft JhengHei"/>
              </a:rPr>
              <a:t>怎麼讓 AI 把程式碼寫得更好？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246120"/>
            <a:ext cx="548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8A33D"/>
                </a:solidFill>
                <a:latin typeface="Microsoft JhengHei"/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886200"/>
            <a:ext cx="9692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Microsoft JhengHei"/>
              </a:rPr>
              <a:t>AI 該站在哪、</a:t>
            </a:r>
            <a:r>
              <a:rPr sz="2800" b="1">
                <a:solidFill>
                  <a:srgbClr val="F2C984"/>
                </a:solidFill>
                <a:latin typeface="Microsoft JhengHei"/>
              </a:rPr>
              <a:t>做哪一半</a:t>
            </a:r>
            <a:r>
              <a:rPr sz="2800" b="1">
                <a:solidFill>
                  <a:srgbClr val="FFFFFF"/>
                </a:solidFill>
                <a:latin typeface="Microsoft JhengHei"/>
              </a:rPr>
              <a:t>？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C9D3E0"/>
                </a:solidFill>
                <a:latin typeface="Microsoft JhengHei"/>
              </a:rPr>
              <a:t>答案是分工：判斷留給人，苦工交給 AI。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今天，我只想證明一件事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點火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A33D"/>
                </a:solidFill>
                <a:latin typeface="Microsoft JhengHei"/>
              </a:rPr>
              <a:t>▸ 這份東西，你今晚就能在自己的專案跑一次　</a:t>
            </a:r>
            <a:r>
              <a:rPr sz="1050" b="0">
                <a:solidFill>
                  <a:srgbClr val="8A93A0"/>
                </a:solidFill>
                <a:latin typeface="Microsoft JhengHei"/>
              </a:rPr>
              <a:t>github.com/chrisokchen/rapt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7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1508760"/>
            <a:ext cx="10607040" cy="137160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1508760"/>
            <a:ext cx="82296" cy="13716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1508760"/>
            <a:ext cx="101498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B2A41"/>
                </a:solidFill>
                <a:latin typeface="Microsoft JhengHei"/>
              </a:rPr>
              <a:t>把苦工交給 AI、把判斷留給你，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C05A4E"/>
                </a:solidFill>
                <a:latin typeface="Microsoft JhengHei"/>
              </a:rPr>
              <a:t>需求工程，可以不一樣。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20040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62E3A"/>
                </a:solidFill>
                <a:latin typeface="Microsoft JhengHei"/>
              </a:rPr>
              <a:t>而且，這不是投影片上的方塊圖——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3749039"/>
            <a:ext cx="10607040" cy="12801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6384" y="3749039"/>
            <a:ext cx="82296" cy="1280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749039"/>
            <a:ext cx="1014984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8A33D"/>
                </a:solidFill>
                <a:latin typeface="Microsoft JhengHei"/>
              </a:rPr>
              <a:t>⭐ 先記著一件事：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我接下來示範的這整套東西，已經放上 GitHub 了。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C05A4E"/>
                </a:solidFill>
                <a:latin typeface="Microsoft JhengHei"/>
              </a:rPr>
              <a:t>你今天下午，就能在自己的專案上跑一次。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這就是今天的全部 —— 一條分工線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論點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8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32588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05A4E"/>
                </a:solidFill>
                <a:latin typeface="Microsoft JhengHei"/>
              </a:rPr>
              <a:t>AI 撿走的苦工</a:t>
            </a:r>
            <a:r>
              <a:rPr sz="1200" b="0">
                <a:solidFill>
                  <a:srgbClr val="8A93A0"/>
                </a:solidFill>
                <a:latin typeface="Microsoft JhengHei"/>
              </a:rPr>
              <a:t>（重複·耗時·枯燥）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E8E5A"/>
                </a:solidFill>
                <a:latin typeface="Microsoft JhengHei"/>
              </a:rPr>
              <a:t>只有人能做</a:t>
            </a:r>
            <a:r>
              <a:rPr sz="1200" b="0">
                <a:solidFill>
                  <a:srgbClr val="8A93A0"/>
                </a:solidFill>
                <a:latin typeface="Microsoft JhengHei"/>
              </a:rPr>
              <a:t>（領域·判斷·取捨）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1828800"/>
            <a:ext cx="52120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" y="1828800"/>
            <a:ext cx="73152" cy="71323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6" y="1828800"/>
            <a:ext cx="4846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把需求消化成五份規格草稿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2651760"/>
            <a:ext cx="52120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6384" y="2651760"/>
            <a:ext cx="73152" cy="71323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42416" y="2651760"/>
            <a:ext cx="4846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跨五層查欄位 / 權限 / 引用一致性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3474720"/>
            <a:ext cx="52120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6384" y="3474720"/>
            <a:ext cx="73152" cy="71323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2416" y="3474720"/>
            <a:ext cx="4846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改一處時算出會牽動哪些地方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" y="4297680"/>
            <a:ext cx="52120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86384" y="4297680"/>
            <a:ext cx="73152" cy="71323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42416" y="4297680"/>
            <a:ext cx="4846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把反例補成回歸測試骨架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5120640"/>
            <a:ext cx="521208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6384" y="5120640"/>
            <a:ext cx="73152" cy="71323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6" y="5120640"/>
            <a:ext cx="4846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補缺的 id、機械性修正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828800"/>
            <a:ext cx="50292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80" y="1828800"/>
            <a:ext cx="73152" cy="71323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11112" y="1828800"/>
            <a:ext cx="46634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決定業務政策（券要不要退）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651760"/>
            <a:ext cx="50292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55080" y="2651760"/>
            <a:ext cx="73152" cy="71323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11112" y="2651760"/>
            <a:ext cx="46634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釐清模糊名詞的真正定義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474720"/>
            <a:ext cx="50292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55080" y="3474720"/>
            <a:ext cx="73152" cy="71323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11112" y="3474720"/>
            <a:ext cx="46634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在衝突的利益間做優先序裁決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4297680"/>
            <a:ext cx="50292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55080" y="4297680"/>
            <a:ext cx="73152" cy="71323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11112" y="4297680"/>
            <a:ext cx="46634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確認 AI 的假設對不對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5120640"/>
            <a:ext cx="502920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55080" y="5120640"/>
            <a:ext cx="73152" cy="71323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11112" y="5120640"/>
            <a:ext cx="46634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為決策負責、留下決策紀錄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" y="5532120"/>
            <a:ext cx="10607040" cy="7772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86384" y="5532120"/>
            <a:ext cx="82296" cy="7772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78992" y="553212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2A41"/>
                </a:solidFill>
                <a:latin typeface="Microsoft JhengHei"/>
              </a:rPr>
              <a:t>AI 不會比你更懂你的業務。它只是永不喊累地把左邊做完，</a:t>
            </a:r>
            <a:r>
              <a:rPr sz="1400" b="1">
                <a:solidFill>
                  <a:srgbClr val="C05A4E"/>
                </a:solidFill>
                <a:latin typeface="Microsoft JhengHei"/>
              </a:rPr>
              <a:t>然後在右邊，停下來問你。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2286000"/>
            <a:ext cx="146304" cy="1463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103120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2C984"/>
                </a:solidFill>
                <a:latin typeface="Microsoft JhengHei"/>
              </a:rPr>
              <a:t>Act 2 ｜ 邊演邊證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57860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Microsoft JhengHei"/>
              </a:rPr>
              <a:t>人機協作，上場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639312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9D3E0"/>
                </a:solidFill>
                <a:latin typeface="Microsoft JhengHei"/>
              </a:rPr>
              <a:t>接下來每一步，都是現場跑出來的。看 AI 撿走苦工，看它在該問你的地方停下來。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AEB8C6"/>
                </a:solidFill>
                <a:latin typeface="Microsoft JhengHe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① AI 接手搬運：把一坨需求，變成草稿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現場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A33D"/>
                </a:solidFill>
                <a:latin typeface="Microsoft JhengHei"/>
              </a:rPr>
              <a:t>▸ 這份東西，你今晚就能在自己的專案跑一次　</a:t>
            </a:r>
            <a:r>
              <a:rPr sz="1050" b="0">
                <a:solidFill>
                  <a:srgbClr val="8A93A0"/>
                </a:solidFill>
                <a:latin typeface="Microsoft JhengHei"/>
              </a:rPr>
              <a:t>github.com/chrisokchen/rapt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10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3258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62E3A"/>
                </a:solidFill>
                <a:latin typeface="Microsoft JhengHei"/>
              </a:rPr>
              <a:t>把一份亂 RFP 丟進去 </a:t>
            </a:r>
            <a:r>
              <a:rPr sz="1400" b="1">
                <a:solidFill>
                  <a:srgbClr val="C05A4E"/>
                </a:solidFill>
                <a:latin typeface="Microsoft JhengHei"/>
              </a:rPr>
              <a:t>/rapt-kickoff → /rapt-discovery</a:t>
            </a:r>
            <a:r>
              <a:rPr sz="1400" b="0">
                <a:solidFill>
                  <a:srgbClr val="262E3A"/>
                </a:solidFill>
                <a:latin typeface="Microsoft JhengHei"/>
              </a:rPr>
              <a:t>，幾十秒後：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1828800"/>
            <a:ext cx="10607040" cy="146304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6" y="1993392"/>
            <a:ext cx="10149840" cy="855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DDE4EE"/>
                </a:solidFill>
                <a:latin typeface="Consolas"/>
              </a:rPr>
              <a:t> discovery/  00-source-inventory.md   01-stakeholders.md</a:t>
            </a:r>
          </a:p>
          <a:p>
            <a:pPr>
              <a:lnSpc>
                <a:spcPct val="118000"/>
              </a:lnSpc>
            </a:pPr>
            <a:r>
              <a:rPr sz="1200" b="0" dirty="0">
                <a:solidFill>
                  <a:srgbClr val="DDE4EE"/>
                </a:solidFill>
                <a:latin typeface="Consolas"/>
              </a:rPr>
              <a:t> </a:t>
            </a:r>
            <a:r>
              <a:rPr lang="en-US" sz="1200" b="0" dirty="0">
                <a:solidFill>
                  <a:srgbClr val="DDE4EE"/>
                </a:solidFill>
                <a:latin typeface="Consolas"/>
              </a:rPr>
              <a:t>		  </a:t>
            </a:r>
            <a:r>
              <a:rPr lang="en-US" sz="1200" dirty="0">
                <a:solidFill>
                  <a:srgbClr val="DDE4EE"/>
                </a:solidFill>
                <a:latin typeface="Consolas"/>
              </a:rPr>
              <a:t>02-user-journeys.md</a:t>
            </a:r>
            <a:r>
              <a:rPr sz="1200" b="0" dirty="0">
                <a:solidFill>
                  <a:srgbClr val="DDE4EE"/>
                </a:solidFill>
                <a:latin typeface="Consolas"/>
              </a:rPr>
              <a:t> </a:t>
            </a:r>
            <a:r>
              <a:rPr lang="en-US" sz="1200" b="0" dirty="0">
                <a:solidFill>
                  <a:srgbClr val="DDE4EE"/>
                </a:solidFill>
                <a:latin typeface="Consolas"/>
              </a:rPr>
              <a:t>     </a:t>
            </a:r>
            <a:r>
              <a:rPr lang="en-US" sz="1200" dirty="0">
                <a:solidFill>
                  <a:srgbClr val="DDE4EE"/>
                </a:solidFill>
                <a:latin typeface="Consolas"/>
              </a:rPr>
              <a:t>03-event-timeline.md</a:t>
            </a:r>
            <a:endParaRPr sz="1200" b="0" dirty="0">
              <a:solidFill>
                <a:srgbClr val="DDE4EE"/>
              </a:solidFill>
              <a:latin typeface="Consolas"/>
            </a:endParaRPr>
          </a:p>
          <a:p>
            <a:pPr>
              <a:lnSpc>
                <a:spcPct val="118000"/>
              </a:lnSpc>
            </a:pPr>
            <a:r>
              <a:rPr sz="1200" b="0" dirty="0">
                <a:solidFill>
                  <a:srgbClr val="DDE4EE"/>
                </a:solidFill>
                <a:latin typeface="Consolas"/>
              </a:rPr>
              <a:t> </a:t>
            </a:r>
            <a:r>
              <a:rPr lang="en-US" sz="1200" b="0" dirty="0">
                <a:solidFill>
                  <a:srgbClr val="DDE4EE"/>
                </a:solidFill>
                <a:latin typeface="Consolas"/>
              </a:rPr>
              <a:t>		  </a:t>
            </a:r>
            <a:r>
              <a:rPr lang="en-US" sz="1200" dirty="0">
                <a:solidFill>
                  <a:srgbClr val="DDE4EE"/>
                </a:solidFill>
                <a:latin typeface="Consolas"/>
              </a:rPr>
              <a:t>04-vision-kpi-scope.md</a:t>
            </a:r>
            <a:endParaRPr sz="1200" b="0" dirty="0">
              <a:solidFill>
                <a:srgbClr val="DDE4EE"/>
              </a:solidFill>
              <a:latin typeface="Consolas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DDE4EE"/>
                </a:solidFill>
                <a:latin typeface="Consolas"/>
              </a:rPr>
              <a:t>  ← </a:t>
            </a:r>
            <a:r>
              <a:rPr sz="1200" b="0" dirty="0" err="1">
                <a:solidFill>
                  <a:srgbClr val="DDE4EE"/>
                </a:solidFill>
                <a:latin typeface="Consolas"/>
              </a:rPr>
              <a:t>來源盤點、利害關係人、使用者旅程、事件時間軸、願景 KPI 範圍，自動抽好</a:t>
            </a:r>
            <a:endParaRPr sz="1200" b="0" dirty="0">
              <a:solidFill>
                <a:srgbClr val="DDE4EE"/>
              </a:solidFill>
              <a:latin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6384" y="347472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05A4E"/>
                </a:solidFill>
                <a:latin typeface="Microsoft JhengHei"/>
              </a:rPr>
              <a:t>AI 撿走的苦工</a:t>
            </a:r>
            <a:r>
              <a:rPr sz="1200" b="0">
                <a:solidFill>
                  <a:srgbClr val="8A93A0"/>
                </a:solidFill>
                <a:latin typeface="Microsoft JhengHei"/>
              </a:rPr>
              <a:t>（重複·耗時·枯燥）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47472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E8E5A"/>
                </a:solidFill>
                <a:latin typeface="Microsoft JhengHei"/>
              </a:rPr>
              <a:t>只有人能做</a:t>
            </a:r>
            <a:r>
              <a:rPr sz="1200" b="0">
                <a:solidFill>
                  <a:srgbClr val="8A93A0"/>
                </a:solidFill>
                <a:latin typeface="Microsoft JhengHei"/>
              </a:rPr>
              <a:t>（領域·判斷·取捨）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3977639"/>
            <a:ext cx="5212080" cy="42062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3977639"/>
            <a:ext cx="73152" cy="42062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2416" y="3977639"/>
            <a:ext cx="4846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把需求消化成五份規格草稿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4471416"/>
            <a:ext cx="52120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6384" y="4471416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2416" y="4471416"/>
            <a:ext cx="4846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跨五層查欄位 / 權限 / 引用一致性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4965192"/>
            <a:ext cx="52120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6384" y="4965192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2416" y="4965192"/>
            <a:ext cx="4846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改一處時算出會牽動哪些地方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5458968"/>
            <a:ext cx="52120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6384" y="5458968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6" y="5458968"/>
            <a:ext cx="4846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把反例補成回歸測試骨架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5952744"/>
            <a:ext cx="52120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6384" y="5952744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2416" y="5952744"/>
            <a:ext cx="4846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補缺的 id、機械性修正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3977639"/>
            <a:ext cx="50292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55080" y="3977639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11112" y="3977639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決定業務政策（券要不要退）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4471416"/>
            <a:ext cx="50292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4471416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11112" y="4471416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釐清模糊名詞的真正定義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965192"/>
            <a:ext cx="50292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55080" y="4965192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11112" y="4965192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在衝突的利益間做優先序裁決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5458968"/>
            <a:ext cx="50292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55080" y="5458968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11112" y="5458968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確認 AI 的假設對不對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5952744"/>
            <a:ext cx="50292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55080" y="5952744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11112" y="5952744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為決策負責、留下決策紀錄</a:t>
            </a:r>
          </a:p>
        </p:txBody>
      </p:sp>
    </p:spTree>
    <p:extLst>
      <p:ext uri="{BB962C8B-B14F-4D97-AF65-F5344CB8AC3E}">
        <p14:creationId xmlns:p14="http://schemas.microsoft.com/office/powerpoint/2010/main" val="498626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② 你來定義語言：AI 起草，你拍板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現場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A33D"/>
                </a:solidFill>
                <a:latin typeface="Microsoft JhengHei"/>
              </a:rPr>
              <a:t>▸ 這份東西，你今晚就能在自己的專案跑一次　</a:t>
            </a:r>
            <a:r>
              <a:rPr sz="1050" b="0">
                <a:solidFill>
                  <a:srgbClr val="8A93A0"/>
                </a:solidFill>
                <a:latin typeface="Microsoft JhengHei"/>
              </a:rPr>
              <a:t>github.com/chrisokchen/rapt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11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3258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C05A4E"/>
                </a:solidFill>
                <a:latin typeface="Microsoft JhengHei"/>
              </a:rPr>
              <a:t>/rapt-behavior</a:t>
            </a:r>
            <a:r>
              <a:rPr sz="1400" b="0">
                <a:solidFill>
                  <a:srgbClr val="262E3A"/>
                </a:solidFill>
                <a:latin typeface="Microsoft JhengHei"/>
              </a:rPr>
              <a:t> 把需求寫成高階 Gherkin——只准業務語言，禁技術語彙。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1828800"/>
            <a:ext cx="10607040" cy="137160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6" y="1993392"/>
            <a:ext cx="10149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DE4EE"/>
                </a:solidFill>
                <a:latin typeface="Consolas"/>
              </a:rPr>
              <a:t> Scenario: 用優惠券的訂單申請退款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DE4EE"/>
                </a:solidFill>
                <a:latin typeface="Consolas"/>
              </a:rPr>
              <a:t>   Given 一筆使用了優惠券的已完成訂單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DE4EE"/>
                </a:solidFill>
                <a:latin typeface="Consolas"/>
              </a:rPr>
              <a:t>   When  客戶申請退款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DE4EE"/>
                </a:solidFill>
                <a:latin typeface="Consolas"/>
              </a:rPr>
              <a:t>   Then  ❓ 券的處理方式 —— 這裡 AI 不敢替你寫死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42900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05A4E"/>
                </a:solidFill>
                <a:latin typeface="Microsoft JhengHei"/>
              </a:rPr>
              <a:t>AI 撿走的苦工</a:t>
            </a:r>
            <a:r>
              <a:rPr sz="1200" b="0">
                <a:solidFill>
                  <a:srgbClr val="8A93A0"/>
                </a:solidFill>
                <a:latin typeface="Microsoft JhengHei"/>
              </a:rPr>
              <a:t>（重複·耗時·枯燥）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42900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E8E5A"/>
                </a:solidFill>
                <a:latin typeface="Microsoft JhengHei"/>
              </a:rPr>
              <a:t>只有人能做</a:t>
            </a:r>
            <a:r>
              <a:rPr sz="1200" b="0">
                <a:solidFill>
                  <a:srgbClr val="8A93A0"/>
                </a:solidFill>
                <a:latin typeface="Microsoft JhengHei"/>
              </a:rPr>
              <a:t>（領域·判斷·取捨）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3931920"/>
            <a:ext cx="5212080" cy="42062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" y="3931920"/>
            <a:ext cx="73152" cy="42062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2416" y="3931920"/>
            <a:ext cx="4846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把需求消化成五份規格草稿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4425696"/>
            <a:ext cx="52120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6384" y="4425696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2416" y="4425696"/>
            <a:ext cx="4846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跨五層查欄位 / 權限 / 引用一致性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4919472"/>
            <a:ext cx="52120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6384" y="4919472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2416" y="4919472"/>
            <a:ext cx="4846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改一處時算出會牽動哪些地方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5413248"/>
            <a:ext cx="52120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6384" y="5413248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6" y="5413248"/>
            <a:ext cx="4846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把反例補成回歸測試骨架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5907024"/>
            <a:ext cx="52120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6384" y="5907024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2416" y="5907024"/>
            <a:ext cx="4846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補缺的 id、機械性修正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3931920"/>
            <a:ext cx="50292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55080" y="3931920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11112" y="3931920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決定業務政策（券要不要退）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4425696"/>
            <a:ext cx="5029200" cy="420624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4425696"/>
            <a:ext cx="73152" cy="420624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11112" y="4425696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釐清模糊名詞的真正定義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919472"/>
            <a:ext cx="50292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55080" y="4919472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11112" y="4919472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在衝突的利益間做優先序裁決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5413248"/>
            <a:ext cx="50292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55080" y="5413248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11112" y="5413248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確認 AI 的假設對不對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5907024"/>
            <a:ext cx="50292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55080" y="5907024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11112" y="5907024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為決策負責、留下決策紀錄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③ 苦工的高峰：跨五層一致性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現場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A33D"/>
                </a:solidFill>
                <a:latin typeface="Microsoft JhengHei"/>
              </a:rPr>
              <a:t>▸ 這份東西，你今晚就能在自己的專案跑一次　</a:t>
            </a:r>
            <a:r>
              <a:rPr sz="1050" b="0">
                <a:solidFill>
                  <a:srgbClr val="8A93A0"/>
                </a:solidFill>
                <a:latin typeface="Microsoft JhengHei"/>
              </a:rPr>
              <a:t>github.com/chrisokchen/rapt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12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3258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C05A4E"/>
                </a:solidFill>
                <a:latin typeface="Microsoft JhengHei"/>
              </a:rPr>
              <a:t>/rapt-modeling</a:t>
            </a:r>
            <a:r>
              <a:rPr sz="1350" b="0">
                <a:solidFill>
                  <a:srgbClr val="262E3A"/>
                </a:solidFill>
                <a:latin typeface="Microsoft JhengHei"/>
              </a:rPr>
              <a:t> 一次長出 DBML + haARM + glossary，並把五層的欄位、權限、引用對齊。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1828800"/>
            <a:ext cx="1060704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" y="1828800"/>
            <a:ext cx="82296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1828800"/>
            <a:ext cx="10149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這是人最痛恨的苦工：把同一件事，在五份規格裡查到一致。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2E3A"/>
                </a:solidFill>
                <a:latin typeface="Microsoft JhengHei"/>
              </a:rPr>
              <a:t>AI 不喊累，幾秒鐘做完——而且每個欄位都標好了來源。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42900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05A4E"/>
                </a:solidFill>
                <a:latin typeface="Microsoft JhengHei"/>
              </a:rPr>
              <a:t>AI 撿走的苦工</a:t>
            </a:r>
            <a:r>
              <a:rPr sz="1200" b="0">
                <a:solidFill>
                  <a:srgbClr val="8A93A0"/>
                </a:solidFill>
                <a:latin typeface="Microsoft JhengHei"/>
              </a:rPr>
              <a:t>（重複·耗時·枯燥）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42900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E8E5A"/>
                </a:solidFill>
                <a:latin typeface="Microsoft JhengHei"/>
              </a:rPr>
              <a:t>只有人能做</a:t>
            </a:r>
            <a:r>
              <a:rPr sz="1200" b="0">
                <a:solidFill>
                  <a:srgbClr val="8A93A0"/>
                </a:solidFill>
                <a:latin typeface="Microsoft JhengHei"/>
              </a:rPr>
              <a:t>（領域·判斷·取捨）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3931920"/>
            <a:ext cx="5212080" cy="42062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6384" y="3931920"/>
            <a:ext cx="73152" cy="42062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2416" y="3931920"/>
            <a:ext cx="4846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把需求消化成五份規格草稿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4425696"/>
            <a:ext cx="5212080" cy="42062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6384" y="4425696"/>
            <a:ext cx="73152" cy="42062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2416" y="4425696"/>
            <a:ext cx="4846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跨五層查欄位 / 權限 / 引用一致性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" y="4919472"/>
            <a:ext cx="52120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6384" y="4919472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2416" y="4919472"/>
            <a:ext cx="4846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改一處時算出會牽動哪些地方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5413248"/>
            <a:ext cx="52120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6384" y="5413248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42416" y="5413248"/>
            <a:ext cx="4846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把反例補成回歸測試骨架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5907024"/>
            <a:ext cx="52120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86384" y="5907024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2416" y="5907024"/>
            <a:ext cx="4846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補缺的 id、機械性修正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3931920"/>
            <a:ext cx="50292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55080" y="3931920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11112" y="3931920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決定業務政策（券要不要退）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4425696"/>
            <a:ext cx="5029200" cy="420624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55080" y="4425696"/>
            <a:ext cx="73152" cy="420624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11112" y="4425696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釐清模糊名詞的真正定義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919472"/>
            <a:ext cx="50292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55080" y="4919472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11112" y="4919472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在衝突的利益間做優先序裁決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5413248"/>
            <a:ext cx="50292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55080" y="5413248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11112" y="5413248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確認 AI 的假設對不對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5907024"/>
            <a:ext cx="50292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55080" y="5907024"/>
            <a:ext cx="73152" cy="420624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11112" y="5907024"/>
            <a:ext cx="4663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為決策負責、留下決策紀錄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2286000"/>
            <a:ext cx="146304" cy="1463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103120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2C984"/>
                </a:solidFill>
                <a:latin typeface="Microsoft JhengHei"/>
              </a:rPr>
              <a:t>中場休息 ｜ 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57860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Microsoft JhengHei"/>
              </a:rPr>
              <a:t>先別走 —— 高潮在後面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639312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9D3E0"/>
                </a:solidFill>
                <a:latin typeface="Microsoft JhengHei"/>
              </a:rPr>
              <a:t>回來你會看到：AI 跑到一半，突然停下來，問了你一個只有你能答的問題。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AEB8C6"/>
                </a:solidFill>
                <a:latin typeface="Microsoft JhengHe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④ 高潮：AI 停下來，問你那個問題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★ 關鍵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A33D"/>
                </a:solidFill>
                <a:latin typeface="Microsoft JhengHei"/>
              </a:rPr>
              <a:t>▸ 這份東西，你今晚就能在自己的專案跑一次　</a:t>
            </a:r>
            <a:r>
              <a:rPr sz="1050" b="0">
                <a:solidFill>
                  <a:srgbClr val="8A93A0"/>
                </a:solidFill>
                <a:latin typeface="Microsoft JhengHei"/>
              </a:rPr>
              <a:t>github.com/chrisokchen/rapt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14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1371600"/>
            <a:ext cx="10607040" cy="30632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1371600"/>
            <a:ext cx="109728" cy="30632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157276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05A4E"/>
                </a:solidFill>
                <a:latin typeface="Microsoft JhengHei"/>
              </a:rPr>
              <a:t>CiC · CON（來源衝突，需裁決）· 優先級 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9933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B2A41"/>
                </a:solidFill>
                <a:latin typeface="Microsoft JhengHei"/>
              </a:rPr>
              <a:t>「用優惠券的訂單要退款——券要退嗎？退券前還是券後？」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7004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62E3A"/>
                </a:solidFill>
                <a:latin typeface="Microsoft JhengHei"/>
              </a:rPr>
              <a:t>A. 券作廢　　B. 退還可再用　　C. 退券後實付金額　　D. 退券前原價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273552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8A93A0"/>
                </a:solidFill>
                <a:latin typeface="Microsoft JhengHei"/>
              </a:rPr>
              <a:t>影響範圍：退款 Feature、訂單金額定義、財務對帳、優惠券狀態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6732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→ AI 不准猜。它留一張便條，等真正懂業務的人，用一個字母回答。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4709160"/>
            <a:ext cx="10607040" cy="118872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6384" y="4709160"/>
            <a:ext cx="82296" cy="1188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4709160"/>
            <a:ext cx="101498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B2A41"/>
                </a:solidFill>
                <a:latin typeface="Microsoft JhengHei"/>
              </a:rPr>
              <a:t>我故意不回答。看——流程停住了，停在這裡等你。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C05A4E"/>
                </a:solidFill>
                <a:latin typeface="Microsoft JhengHei"/>
              </a:rPr>
              <a:t>它沒有自己猜一個答案往下衝。這一刻，同時證明了：人不可或缺，而 AI 不越界。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⑤ 改一個字，AI 立刻告訴你會炸到哪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現場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A33D"/>
                </a:solidFill>
                <a:latin typeface="Microsoft JhengHei"/>
              </a:rPr>
              <a:t>▸ 這份東西，你今晚就能在自己的專案跑一次　</a:t>
            </a:r>
            <a:r>
              <a:rPr sz="1050" b="0">
                <a:solidFill>
                  <a:srgbClr val="8A93A0"/>
                </a:solidFill>
                <a:latin typeface="Microsoft JhengHei"/>
              </a:rPr>
              <a:t>github.com/chrisokchen/rapt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15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3258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62E3A"/>
                </a:solidFill>
                <a:latin typeface="Microsoft JhengHei"/>
              </a:rPr>
              <a:t>現場改壞一個引用：把 haPDL 的 </a:t>
            </a:r>
            <a:r>
              <a:rPr sz="1350" b="1">
                <a:solidFill>
                  <a:srgbClr val="C05A4E"/>
                </a:solidFill>
                <a:latin typeface="Microsoft JhengHei"/>
              </a:rPr>
              <a:t>api:</a:t>
            </a:r>
            <a:r>
              <a:rPr sz="1350" b="0">
                <a:solidFill>
                  <a:srgbClr val="262E3A"/>
                </a:solidFill>
                <a:latin typeface="Microsoft JhengHei"/>
              </a:rPr>
              <a:t> 指到一個不存在的 id，然後 </a:t>
            </a:r>
            <a:r>
              <a:rPr sz="1350" b="1">
                <a:solidFill>
                  <a:srgbClr val="C05A4E"/>
                </a:solidFill>
                <a:latin typeface="Microsoft JhengHei"/>
              </a:rPr>
              <a:t>/rapt-verify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1828800"/>
            <a:ext cx="10607040" cy="109728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6" y="1993392"/>
            <a:ext cx="10149840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2C984"/>
                </a:solidFill>
                <a:latin typeface="Consolas"/>
              </a:rPr>
              <a:t> ✗ XREF-001  haPDL order-form.api → 'order-x' 不存在於 haAPI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2C984"/>
                </a:solidFill>
                <a:latin typeface="Consolas"/>
              </a:rPr>
              <a:t> ✗ 跨 DSL 一致性檢查 FAIL —— 動手前就被攔下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3154680"/>
            <a:ext cx="10607040" cy="91440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6384" y="3154680"/>
            <a:ext cx="82296" cy="9144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3154680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B2A41"/>
                </a:solidFill>
                <a:latin typeface="Microsoft JhengHei"/>
              </a:rPr>
              <a:t>還記得開場那個『改一個欄位要手動巡五個地方』嗎？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C05A4E"/>
                </a:solidFill>
                <a:latin typeface="Microsoft JhengHei"/>
              </a:rPr>
              <a:t>現在，AI 在你寫下第一行之前，就把會牽連的地方全指出來了。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02336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05A4E"/>
                </a:solidFill>
                <a:latin typeface="Microsoft JhengHei"/>
              </a:rPr>
              <a:t>AI 撿走的苦工</a:t>
            </a:r>
            <a:r>
              <a:rPr sz="1200" b="0">
                <a:solidFill>
                  <a:srgbClr val="8A93A0"/>
                </a:solidFill>
                <a:latin typeface="Microsoft JhengHei"/>
              </a:rPr>
              <a:t>（重複·耗時·枯燥）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0233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E8E5A"/>
                </a:solidFill>
                <a:latin typeface="Microsoft JhengHei"/>
              </a:rPr>
              <a:t>只有人能做</a:t>
            </a:r>
            <a:r>
              <a:rPr sz="1200" b="0">
                <a:solidFill>
                  <a:srgbClr val="8A93A0"/>
                </a:solidFill>
                <a:latin typeface="Microsoft JhengHei"/>
              </a:rPr>
              <a:t>（領域·判斷·取捨）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4526280"/>
            <a:ext cx="5212080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6384" y="4526280"/>
            <a:ext cx="7315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2416" y="4526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把需求消化成五份規格草稿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4974336"/>
            <a:ext cx="5212080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6384" y="4974336"/>
            <a:ext cx="7315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2416" y="4974336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跨五層查欄位 / 權限 / 引用一致性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5422392"/>
            <a:ext cx="5212080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6384" y="5422392"/>
            <a:ext cx="7315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6" y="5422392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改一處時算出會牽動哪些地方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5870448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6384" y="5870448"/>
            <a:ext cx="73152" cy="38404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2416" y="5870448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把反例補成回歸測試骨架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" y="6318504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6384" y="6318504"/>
            <a:ext cx="73152" cy="38404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2416" y="6318504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補缺的 id、機械性修正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4526280"/>
            <a:ext cx="5029200" cy="384048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4526280"/>
            <a:ext cx="73152" cy="384048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11112" y="452628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決定業務政策（券要不要退）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974336"/>
            <a:ext cx="5029200" cy="384048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55080" y="4974336"/>
            <a:ext cx="73152" cy="384048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11112" y="4974336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釐清模糊名詞的真正定義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5422392"/>
            <a:ext cx="5029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55080" y="5422392"/>
            <a:ext cx="73152" cy="38404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11112" y="5422392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在衝突的利益間做優先序裁決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5870448"/>
            <a:ext cx="5029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55080" y="5870448"/>
            <a:ext cx="73152" cy="38404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11112" y="5870448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確認 AI 的假設對不對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6318504"/>
            <a:ext cx="5029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55080" y="6318504"/>
            <a:ext cx="73152" cy="38404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11112" y="6318504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為決策負責、留下決策紀錄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⑥ 全綠 → 生成，並替你打分把關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現場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A33D"/>
                </a:solidFill>
                <a:latin typeface="Microsoft JhengHei"/>
              </a:rPr>
              <a:t>▸ 這份東西，你今晚就能在自己的專案跑一次　</a:t>
            </a:r>
            <a:r>
              <a:rPr sz="1050" b="0">
                <a:solidFill>
                  <a:srgbClr val="8A93A0"/>
                </a:solidFill>
                <a:latin typeface="Microsoft JhengHei"/>
              </a:rPr>
              <a:t>github.com/chrisokchen/rapt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16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2801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62E3A"/>
                </a:solidFill>
                <a:latin typeface="Microsoft JhengHei"/>
              </a:rPr>
              <a:t>一致性全綠後，</a:t>
            </a:r>
            <a:r>
              <a:rPr sz="1350" b="1">
                <a:solidFill>
                  <a:srgbClr val="C05A4E"/>
                </a:solidFill>
                <a:latin typeface="Microsoft JhengHei"/>
              </a:rPr>
              <a:t>/rapt-intent</a:t>
            </a:r>
            <a:r>
              <a:rPr sz="1350" b="0">
                <a:solidFill>
                  <a:srgbClr val="262E3A"/>
                </a:solidFill>
                <a:latin typeface="Microsoft JhengHei"/>
              </a:rPr>
              <a:t> 生成 haAPI/haPDL；</a:t>
            </a:r>
            <a:r>
              <a:rPr sz="1350" b="1">
                <a:solidFill>
                  <a:srgbClr val="C05A4E"/>
                </a:solidFill>
                <a:latin typeface="Microsoft JhengHei"/>
              </a:rPr>
              <a:t>RAscore</a:t>
            </a:r>
            <a:r>
              <a:rPr sz="1350" b="0">
                <a:solidFill>
                  <a:srgbClr val="262E3A"/>
                </a:solidFill>
                <a:latin typeface="Microsoft JhengHei"/>
              </a:rPr>
              <a:t> 給規格成熟度打分：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1828800"/>
            <a:ext cx="3291839" cy="2103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" y="1828800"/>
            <a:ext cx="3291839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" y="219456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B2A41"/>
                </a:solidFill>
                <a:latin typeface="Microsoft JhengHei"/>
              </a:rPr>
              <a:t>95.13 /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24612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62E3A"/>
                </a:solidFill>
                <a:latin typeface="Microsoft JhengHei"/>
              </a:rPr>
              <a:t>RAscore 品質分數
veto 未觸發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3983" y="1828800"/>
            <a:ext cx="3291839" cy="2103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43983" y="1828800"/>
            <a:ext cx="3291839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1144" y="219456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B2A41"/>
                </a:solidFill>
                <a:latin typeface="Microsoft JhengHei"/>
              </a:rPr>
              <a:t>0 錯誤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24612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62E3A"/>
                </a:solidFill>
                <a:latin typeface="Microsoft JhengHei"/>
              </a:rPr>
              <a:t>跨 DSL 一致性
dsl-lint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3" y="1828800"/>
            <a:ext cx="3291839" cy="21031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01583" y="1828800"/>
            <a:ext cx="3291839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38744" y="219456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B2A41"/>
                </a:solidFill>
                <a:latin typeface="Microsoft JhengHei"/>
              </a:rPr>
              <a:t>17 / 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324612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62E3A"/>
                </a:solidFill>
                <a:latin typeface="Microsoft JhengHei"/>
              </a:rPr>
              <a:t>must-have 需求
覆蓋 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384048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05A4E"/>
                </a:solidFill>
                <a:latin typeface="Microsoft JhengHei"/>
              </a:rPr>
              <a:t>AI 撿走的苦工</a:t>
            </a:r>
            <a:r>
              <a:rPr sz="1200" b="0">
                <a:solidFill>
                  <a:srgbClr val="8A93A0"/>
                </a:solidFill>
                <a:latin typeface="Microsoft JhengHei"/>
              </a:rPr>
              <a:t>（重複·耗時·枯燥）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84048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E8E5A"/>
                </a:solidFill>
                <a:latin typeface="Microsoft JhengHei"/>
              </a:rPr>
              <a:t>只有人能做</a:t>
            </a:r>
            <a:r>
              <a:rPr sz="1200" b="0">
                <a:solidFill>
                  <a:srgbClr val="8A93A0"/>
                </a:solidFill>
                <a:latin typeface="Microsoft JhengHei"/>
              </a:rPr>
              <a:t>（領域·判斷·取捨）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4343400"/>
            <a:ext cx="5212080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6384" y="4343400"/>
            <a:ext cx="7315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42416" y="434340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把需求消化成五份規格草稿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4791456"/>
            <a:ext cx="5212080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86384" y="4791456"/>
            <a:ext cx="7315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2416" y="4791456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跨五層查欄位 / 權限 / 引用一致性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5239512"/>
            <a:ext cx="5212080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86384" y="5239512"/>
            <a:ext cx="7315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2416" y="5239512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改一處時算出會牽動哪些地方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" y="5687568"/>
            <a:ext cx="5212080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86384" y="5687568"/>
            <a:ext cx="7315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42416" y="5687568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把反例補成回歸測試骨架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" y="6135624"/>
            <a:ext cx="5212080" cy="3840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86384" y="6135624"/>
            <a:ext cx="7315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42416" y="6135624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補缺的 id、機械性修正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4343400"/>
            <a:ext cx="5029200" cy="384048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55080" y="4343400"/>
            <a:ext cx="73152" cy="384048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11112" y="4343400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決定業務政策（券要不要退）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4791456"/>
            <a:ext cx="5029200" cy="384048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55080" y="4791456"/>
            <a:ext cx="73152" cy="384048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11112" y="4791456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釐清模糊名詞的真正定義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5239512"/>
            <a:ext cx="5029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55080" y="5239512"/>
            <a:ext cx="73152" cy="38404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11112" y="5239512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在衝突的利益間做優先序裁決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5687568"/>
            <a:ext cx="5029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355080" y="5687568"/>
            <a:ext cx="73152" cy="38404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11112" y="5687568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確認 AI 的假設對不對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5080" y="6135624"/>
            <a:ext cx="5029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355080" y="6135624"/>
            <a:ext cx="73152" cy="384048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11112" y="6135624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7BEC8"/>
                </a:solidFill>
                <a:latin typeface="Microsoft JhengHei"/>
              </a:rPr>
              <a:t>為決策負責、留下決策紀錄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不是投影片上的承諾，是跑出來的結果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證據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A33D"/>
                </a:solidFill>
                <a:latin typeface="Microsoft JhengHei"/>
              </a:rPr>
              <a:t>▸ 這份東西，你今晚就能在自己的專案跑一次　</a:t>
            </a:r>
            <a:r>
              <a:rPr sz="1050" b="0">
                <a:solidFill>
                  <a:srgbClr val="8A93A0"/>
                </a:solidFill>
                <a:latin typeface="Microsoft JhengHei"/>
              </a:rPr>
              <a:t>github.com/chrisokchen/rapt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17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1554480"/>
            <a:ext cx="5212080" cy="3200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1554480"/>
            <a:ext cx="5212080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7830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smallBiz 電商（RFP → 完整規格）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3172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05A4E"/>
                </a:solidFill>
                <a:latin typeface="Microsoft JhengHei"/>
              </a:rPr>
              <a:t>95.13 /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77439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62E3A"/>
                </a:solidFill>
                <a:latin typeface="Microsoft JhengHei"/>
              </a:rPr>
              <a:t>RAscore（veto 未觸發）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81527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05A4E"/>
                </a:solidFill>
                <a:latin typeface="Microsoft JhengHei"/>
              </a:rPr>
              <a:t>0 錯誤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127247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62E3A"/>
                </a:solidFill>
                <a:latin typeface="Microsoft JhengHei"/>
              </a:rPr>
              <a:t>跨 DSL 一致性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831335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05A4E"/>
                </a:solidFill>
                <a:latin typeface="Microsoft JhengHei"/>
              </a:rPr>
              <a:t>17 / 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877055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62E3A"/>
                </a:solidFill>
                <a:latin typeface="Microsoft JhengHei"/>
              </a:rPr>
              <a:t>must-have 覆蓋 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554480"/>
            <a:ext cx="5029200" cy="3200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554480"/>
            <a:ext cx="5029200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0256" y="17830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aisystem 企業後台（與手寫碼共存）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33172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05A4E"/>
                </a:solidFill>
                <a:latin typeface="Microsoft JhengHei"/>
              </a:rPr>
              <a:t>369 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377439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62E3A"/>
                </a:solidFill>
                <a:latin typeface="Microsoft JhengHei"/>
              </a:rPr>
              <a:t>生成 Java，無縫整合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081527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05A4E"/>
                </a:solidFill>
                <a:latin typeface="Microsoft JhengHei"/>
              </a:rPr>
              <a:t>185 / 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127247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62E3A"/>
                </a:solidFill>
                <a:latin typeface="Microsoft JhengHei"/>
              </a:rPr>
              <a:t>後端/前端測試全過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3831335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05A4E"/>
                </a:solidFill>
                <a:latin typeface="Microsoft JhengHei"/>
              </a:rPr>
              <a:t>7.4 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877055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62E3A"/>
                </a:solidFill>
                <a:latin typeface="Microsoft JhengHei"/>
              </a:rPr>
              <a:t>Spring Boot 啟動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5029200"/>
            <a:ext cx="10607040" cy="68580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86384" y="5029200"/>
            <a:ext cx="82296" cy="685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8992" y="5029200"/>
            <a:ext cx="10149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62E3A"/>
                </a:solidFill>
                <a:latin typeface="Microsoft JhengHei"/>
              </a:rPr>
              <a:t>誠實說一句：這是工程可行性驗證；更大規模的對照實驗，是我們接下來要做的。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2286000"/>
            <a:ext cx="146304" cy="1463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103120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2C984"/>
                </a:solidFill>
                <a:latin typeface="Microsoft JhengHei"/>
              </a:rPr>
              <a:t>Act 3 ｜ 換你了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57860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Microsoft JhengHei"/>
              </a:rPr>
              <a:t>那個問題，是誰回答的？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639312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9D3E0"/>
                </a:solidFill>
                <a:latin typeface="Microsoft JhengHei"/>
              </a:rPr>
              <a:t>AI 撿走了每一項苦工。但有一件事，它從頭到尾沒碰。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AEB8C6"/>
                </a:solidFill>
                <a:latin typeface="Microsoft JhengHe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0" y="1965960"/>
            <a:ext cx="1216152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994392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「用優惠券買的訂單要退款——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券，要退嗎？退券前還是券後的錢？」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97680"/>
            <a:ext cx="999439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2C984"/>
                </a:solidFill>
                <a:latin typeface="Microsoft JhengHei"/>
              </a:rPr>
              <a:t>這題，AI 沒有替你回答——是你回答的。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EB8C6"/>
                </a:solidFill>
                <a:latin typeface="Microsoft JhengHei"/>
              </a:rPr>
              <a:t>它只是確保：它永遠不會被一個看似合理的幻覺，悄悄蓋過去。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領域知識是你的，苦工是 AI 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全亮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20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32588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05A4E"/>
                </a:solidFill>
                <a:latin typeface="Microsoft JhengHei"/>
              </a:rPr>
              <a:t>AI 撿走的苦工</a:t>
            </a:r>
            <a:r>
              <a:rPr sz="1200" b="0">
                <a:solidFill>
                  <a:srgbClr val="8A93A0"/>
                </a:solidFill>
                <a:latin typeface="Microsoft JhengHei"/>
              </a:rPr>
              <a:t>（重複·耗時·枯燥）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E8E5A"/>
                </a:solidFill>
                <a:latin typeface="Microsoft JhengHei"/>
              </a:rPr>
              <a:t>只有人能做</a:t>
            </a:r>
            <a:r>
              <a:rPr sz="1200" b="0">
                <a:solidFill>
                  <a:srgbClr val="8A93A0"/>
                </a:solidFill>
                <a:latin typeface="Microsoft JhengHei"/>
              </a:rPr>
              <a:t>（領域·判斷·取捨）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1828800"/>
            <a:ext cx="5212080" cy="71323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" y="1828800"/>
            <a:ext cx="73152" cy="71323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6" y="1828800"/>
            <a:ext cx="4846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把需求消化成五份規格草稿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2651760"/>
            <a:ext cx="5212080" cy="71323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6384" y="2651760"/>
            <a:ext cx="73152" cy="71323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42416" y="2651760"/>
            <a:ext cx="4846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跨五層查欄位 / 權限 / 引用一致性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3474720"/>
            <a:ext cx="5212080" cy="71323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6384" y="3474720"/>
            <a:ext cx="73152" cy="71323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2416" y="3474720"/>
            <a:ext cx="4846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改一處時算出會牽動哪些地方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" y="4297680"/>
            <a:ext cx="5212080" cy="71323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86384" y="4297680"/>
            <a:ext cx="73152" cy="71323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42416" y="4297680"/>
            <a:ext cx="4846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把反例補成回歸測試骨架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5120640"/>
            <a:ext cx="5212080" cy="71323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6384" y="5120640"/>
            <a:ext cx="73152" cy="71323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2416" y="5120640"/>
            <a:ext cx="4846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補缺的 id、機械性修正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828800"/>
            <a:ext cx="5029200" cy="713232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80" y="1828800"/>
            <a:ext cx="73152" cy="713232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11112" y="1828800"/>
            <a:ext cx="46634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決定業務政策（券要不要退）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651760"/>
            <a:ext cx="5029200" cy="713232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55080" y="2651760"/>
            <a:ext cx="73152" cy="713232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11112" y="2651760"/>
            <a:ext cx="46634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釐清模糊名詞的真正定義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3474720"/>
            <a:ext cx="5029200" cy="713232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55080" y="3474720"/>
            <a:ext cx="73152" cy="713232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11112" y="3474720"/>
            <a:ext cx="46634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在衝突的利益間做優先序裁決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4297680"/>
            <a:ext cx="5029200" cy="713232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55080" y="4297680"/>
            <a:ext cx="73152" cy="713232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11112" y="4297680"/>
            <a:ext cx="46634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確認 AI 的假設對不對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5120640"/>
            <a:ext cx="5029200" cy="713232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55080" y="5120640"/>
            <a:ext cx="73152" cy="713232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11112" y="5120640"/>
            <a:ext cx="46634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B2A41"/>
                </a:solidFill>
                <a:latin typeface="Microsoft JhengHei"/>
              </a:rPr>
              <a:t>為決策負責、留下決策紀錄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" y="5532120"/>
            <a:ext cx="10607040" cy="77724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86384" y="5532120"/>
            <a:ext cx="82296" cy="7772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78992" y="5532120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B2A41"/>
                </a:solidFill>
                <a:latin typeface="Microsoft JhengHei"/>
              </a:rPr>
              <a:t>今天你親眼看到：左邊每一項，AI 撿走了；右邊每一項，還是你說了算。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你下週能做的第一件事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換你了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A33D"/>
                </a:solidFill>
                <a:latin typeface="Microsoft JhengHei"/>
              </a:rPr>
              <a:t>▸ 這份東西，你今晚就能在自己的專案跑一次　</a:t>
            </a:r>
            <a:r>
              <a:rPr sz="1050" b="0">
                <a:solidFill>
                  <a:srgbClr val="8A93A0"/>
                </a:solidFill>
                <a:latin typeface="Microsoft JhengHei"/>
              </a:rPr>
              <a:t>github.com/chrisokchen/rapt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21 / 23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86384" y="1554480"/>
          <a:ext cx="10607039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2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4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角色</a:t>
                      </a:r>
                    </a:p>
                  </a:txBody>
                  <a:tcPr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下週第一件事</a:t>
                      </a:r>
                    </a:p>
                  </a:txBody>
                  <a:tcPr marR="73152" marT="36576" marB="36576" anchor="ctr"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1B2A41"/>
                          </a:solidFill>
                          <a:latin typeface="Microsoft JhengHei"/>
                        </a:rPr>
                        <a:t>PO</a:t>
                      </a:r>
                    </a:p>
                  </a:txBody>
                  <a:tcPr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262E3A"/>
                          </a:solidFill>
                          <a:latin typeface="Microsoft JhengHei"/>
                        </a:rPr>
                        <a:t>挑一個爭議需求，讓 AI 跑到 clarify，由你做政策裁決並留紀錄</a:t>
                      </a:r>
                    </a:p>
                  </a:txBody>
                  <a:tcPr marR="73152" marT="36576" marB="36576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1B2A41"/>
                          </a:solidFill>
                          <a:latin typeface="Microsoft JhengHei"/>
                        </a:rPr>
                        <a:t>BA</a:t>
                      </a:r>
                    </a:p>
                  </a:txBody>
                  <a:tcPr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262E3A"/>
                          </a:solidFill>
                          <a:latin typeface="Microsoft JhengHei"/>
                        </a:rPr>
                        <a:t>拿一份舊 PRD 跑 discovery+behavior，看統一語言與 Gherkin 草稿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1B2A41"/>
                          </a:solidFill>
                          <a:latin typeface="Microsoft JhengHei"/>
                        </a:rPr>
                        <a:t>SA</a:t>
                      </a:r>
                    </a:p>
                  </a:txBody>
                  <a:tcPr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262E3A"/>
                          </a:solidFill>
                          <a:latin typeface="Microsoft JhengHei"/>
                        </a:rPr>
                        <a:t>對現有專案跑 modeling+verify，看跨 DSL 一致性報告抓到什麼</a:t>
                      </a:r>
                    </a:p>
                  </a:txBody>
                  <a:tcPr marR="73152" marT="36576" marB="36576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1B2A41"/>
                          </a:solidFill>
                          <a:latin typeface="Microsoft JhengHei"/>
                        </a:rPr>
                        <a:t>RD</a:t>
                      </a:r>
                    </a:p>
                  </a:txBody>
                  <a:tcPr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262E3A"/>
                          </a:solidFill>
                          <a:latin typeface="Microsoft JhengHei"/>
                        </a:rPr>
                        <a:t>把一份規格跑 intent 生成 haAPI/haPDL，檢查 source_evidence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1B2A41"/>
                          </a:solidFill>
                          <a:latin typeface="Microsoft JhengHei"/>
                        </a:rPr>
                        <a:t>QA</a:t>
                      </a:r>
                    </a:p>
                  </a:txBody>
                  <a:tcPr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262E3A"/>
                          </a:solidFill>
                          <a:latin typeface="Microsoft JhengHei"/>
                        </a:rPr>
                        <a:t>把一個歷史 bug 寫成反例，看它如何變成 Gherkin 回歸場景</a:t>
                      </a:r>
                    </a:p>
                  </a:txBody>
                  <a:tcPr marR="73152" marT="36576" marB="36576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86384" y="5257800"/>
            <a:ext cx="1060704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" y="5257800"/>
            <a:ext cx="82296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5257800"/>
            <a:ext cx="10149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2A41"/>
                </a:solidFill>
                <a:latin typeface="Microsoft JhengHei"/>
              </a:rPr>
              <a:t>門檻很低——AI 做苦工，你只要在關鍵處做判斷。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一個挑戰，不只是一個邀請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換你了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22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508760"/>
            <a:ext cx="10607040" cy="132588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6384" y="1508760"/>
            <a:ext cx="82296" cy="13258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508760"/>
            <a:ext cx="1014984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B2A41"/>
                </a:solidFill>
                <a:latin typeface="Microsoft JhengHei"/>
              </a:rPr>
              <a:t>拿你手上最亂、最棘手的那份 RFP，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C05A4E"/>
                </a:solidFill>
                <a:latin typeface="Microsoft JhengHei"/>
              </a:rPr>
              <a:t>今晚跑一次 /rapt-kickoff，然後告訴我們——它在哪裡崩了。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06324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2A41"/>
                </a:solidFill>
                <a:latin typeface="Microsoft JhengHei"/>
              </a:rPr>
              <a:t>別擔心門檻——AI 做所有苦工，你只需要做三件事：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3611880"/>
            <a:ext cx="6583680" cy="69494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6384" y="3611880"/>
            <a:ext cx="82296" cy="69494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611880"/>
            <a:ext cx="18288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① 備材料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11880"/>
            <a:ext cx="45720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62E3A"/>
                </a:solidFill>
                <a:latin typeface="Microsoft JhengHei"/>
              </a:rPr>
              <a:t>把 RFP、會議記錄丟進去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4434840"/>
            <a:ext cx="6583680" cy="69494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6384" y="4434840"/>
            <a:ext cx="82296" cy="69494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434840"/>
            <a:ext cx="18288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② 審 Gherkin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434840"/>
            <a:ext cx="45720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62E3A"/>
                </a:solidFill>
                <a:latin typeface="Microsoft JhengHei"/>
              </a:rPr>
              <a:t>看一份行為規格對不對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5257800"/>
            <a:ext cx="6583680" cy="69494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6384" y="5257800"/>
            <a:ext cx="82296" cy="69494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5257800"/>
            <a:ext cx="18288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1"/>
                </a:solidFill>
                <a:latin typeface="Microsoft JhengHei"/>
              </a:rPr>
              <a:t>③ 一場澄清會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257800"/>
            <a:ext cx="45720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62E3A"/>
                </a:solidFill>
                <a:latin typeface="Microsoft JhengHei"/>
              </a:rPr>
              <a:t>回答排好優先級的選擇題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6126480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C05A4E"/>
                </a:solidFill>
                <a:latin typeface="Microsoft JhengHei"/>
              </a:rPr>
              <a:t>一個下午，就能跑完第一輪。</a:t>
            </a:r>
          </a:p>
        </p:txBody>
      </p:sp>
      <p:pic>
        <p:nvPicPr>
          <p:cNvPr id="25" name="Picture 24" descr="rapt_story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3200400"/>
            <a:ext cx="2651760" cy="2651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818120" y="58978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B2A41"/>
                </a:solidFill>
                <a:latin typeface="Microsoft JhengHei"/>
              </a:rPr>
              <a:t>github.com/chrisokchen/rapt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0" y="1737360"/>
            <a:ext cx="1216152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9994392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領域知識是你的，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2C984"/>
                </a:solidFill>
                <a:latin typeface="Microsoft JhengHei"/>
              </a:rPr>
              <a:t>苦工是 AI 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943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AEB8C6"/>
                </a:solidFill>
                <a:latin typeface="Microsoft JhengHei"/>
              </a:rPr>
              <a:t>讓那些沒被問的問題，第一次有了一個家；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AEB8C6"/>
                </a:solidFill>
                <a:latin typeface="Microsoft JhengHei"/>
              </a:rPr>
              <a:t>讓你最值錢的判斷，從搬運裡被解放出來。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49240"/>
            <a:ext cx="99943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dirty="0" err="1">
                <a:solidFill>
                  <a:srgbClr val="FFFFFF"/>
                </a:solidFill>
                <a:latin typeface="Microsoft JhengHei"/>
              </a:rPr>
              <a:t>換你了</a:t>
            </a:r>
            <a:r>
              <a:rPr sz="1800" b="1" dirty="0">
                <a:solidFill>
                  <a:srgbClr val="FFFFFF"/>
                </a:solidFill>
                <a:latin typeface="Microsoft JhengHei"/>
              </a:rPr>
              <a:t>。　</a:t>
            </a:r>
            <a:r>
              <a:rPr sz="1800" b="1" dirty="0">
                <a:solidFill>
                  <a:srgbClr val="F2C984"/>
                </a:solidFill>
                <a:latin typeface="Microsoft JhengHei"/>
              </a:rPr>
              <a:t>github.com/</a:t>
            </a:r>
            <a:r>
              <a:rPr sz="1800" b="1" dirty="0" err="1">
                <a:solidFill>
                  <a:srgbClr val="F2C984"/>
                </a:solidFill>
                <a:latin typeface="Microsoft JhengHei"/>
              </a:rPr>
              <a:t>chrisokchen</a:t>
            </a:r>
            <a:r>
              <a:rPr sz="1800" b="1">
                <a:solidFill>
                  <a:srgbClr val="F2C984"/>
                </a:solidFill>
                <a:latin typeface="Microsoft JhengHei"/>
              </a:rPr>
              <a:t>/rapt</a:t>
            </a:r>
          </a:p>
        </p:txBody>
      </p:sp>
      <p:pic>
        <p:nvPicPr>
          <p:cNvPr id="7" name="Picture 6" descr="rapt_story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074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2286000"/>
            <a:ext cx="146304" cy="1463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103120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2C984"/>
                </a:solidFill>
                <a:latin typeface="Microsoft JhengHei"/>
              </a:rPr>
              <a:t>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57860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FFFFFF"/>
                </a:solidFill>
                <a:latin typeface="Microsoft JhengHei"/>
              </a:rPr>
              <a:t>Q&amp;A 備用投影片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639312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9D3E0"/>
                </a:solidFill>
                <a:latin typeface="Microsoft JhengHei"/>
              </a:rPr>
              <a:t>被問到時再展開 —— 七階段管線、三大治理、跨 DSL 引用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AEB8C6"/>
                </a:solidFill>
                <a:latin typeface="Microsoft JhengHei"/>
              </a:rPr>
              <a:t>24 / 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七階段管線全貌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25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554480"/>
            <a:ext cx="10607040" cy="137160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" y="1719072"/>
            <a:ext cx="10149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kickoff → discovery → behavior → modeling → clarify → intent → verify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DE4EE"/>
                </a:solidFill>
                <a:latin typeface="Consolas"/>
              </a:rPr>
              <a:t>          橫貫：reconcile（機械修正） / RAscore（品質評分）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86384" y="3108960"/>
          <a:ext cx="1060703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3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9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4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階段</a:t>
                      </a:r>
                    </a:p>
                  </a:txBody>
                  <a:tcPr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輸入 → 產出</a:t>
                      </a:r>
                    </a:p>
                  </a:txBody>
                  <a:tcPr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卡點 / 閘門</a:t>
                      </a:r>
                    </a:p>
                  </a:txBody>
                  <a:tcPr marR="73152" marT="36576" marB="36576" anchor="ctr"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B2A41"/>
                          </a:solidFill>
                          <a:latin typeface="Microsoft JhengHei"/>
                        </a:rPr>
                        <a:t>discovery / behavior</a:t>
                      </a:r>
                    </a:p>
                  </a:txBody>
                  <a:tcPr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需求 → 統一語言 + 高階 Gherkin</a:t>
                      </a:r>
                    </a:p>
                  </a:txBody>
                  <a:tcPr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無來源就 ASK；禁技術語彙</a:t>
                      </a:r>
                    </a:p>
                  </a:txBody>
                  <a:tcPr marR="73152" marT="36576" marB="36576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B2A41"/>
                          </a:solidFill>
                          <a:latin typeface="Microsoft JhengHei"/>
                        </a:rPr>
                        <a:t>modeling / clarify</a:t>
                      </a:r>
                    </a:p>
                  </a:txBody>
                  <a:tcPr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→ DBML+haARM+glossary；CiC 裁決回寫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GAP 不自填、CON 需人裁決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B2A41"/>
                          </a:solidFill>
                          <a:latin typeface="Microsoft JhengHei"/>
                        </a:rPr>
                        <a:t>intent / verify</a:t>
                      </a:r>
                    </a:p>
                  </a:txBody>
                  <a:tcPr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→ haAPI/haPDL；跨 DSL 一致性</a:t>
                      </a:r>
                    </a:p>
                  </a:txBody>
                  <a:tcPr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Worker 不推斷；verify 唯讀</a:t>
                      </a:r>
                    </a:p>
                  </a:txBody>
                  <a:tcPr marR="73152" marT="36576" marB="36576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三大治理：為什麼 AI 不會亂搞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26 / 23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1554480"/>
          <a:ext cx="10607039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7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2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機制</a:t>
                      </a:r>
                    </a:p>
                  </a:txBody>
                  <a:tcPr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作用</a:t>
                      </a:r>
                    </a:p>
                  </a:txBody>
                  <a:tcPr marR="73152" marT="36576" marB="36576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鐵律</a:t>
                      </a:r>
                    </a:p>
                  </a:txBody>
                  <a:tcPr marR="73152" marT="36576" marB="36576" anchor="ctr"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B2A41"/>
                          </a:solidFill>
                          <a:latin typeface="Microsoft JhengHei"/>
                        </a:rPr>
                        <a:t>Planner / Worker 合約</a:t>
                      </a:r>
                    </a:p>
                  </a:txBody>
                  <a:tcPr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決策者 vs 純渲染者</a:t>
                      </a:r>
                    </a:p>
                  </a:txBody>
                  <a:tcPr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Worker 不推斷；輸出必附 source_evidence</a:t>
                      </a:r>
                    </a:p>
                  </a:txBody>
                  <a:tcPr marR="73152" marT="36576" marB="36576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B2A41"/>
                          </a:solidFill>
                          <a:latin typeface="Microsoft JhengHei"/>
                        </a:rPr>
                        <a:t>CiC 便條（GAP/ASM/BDY/CON）</a:t>
                      </a:r>
                    </a:p>
                  </a:txBody>
                  <a:tcPr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把搞不定的事路由給人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GAP 不自填、CON 需裁決</a:t>
                      </a:r>
                    </a:p>
                  </a:txBody>
                  <a:tcPr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B2A41"/>
                          </a:solidFill>
                          <a:latin typeface="Microsoft JhengHei"/>
                        </a:rPr>
                        <a:t>RAscore（0–3 × 七維）</a:t>
                      </a:r>
                    </a:p>
                  </a:txBody>
                  <a:tcPr marR="73152" marT="36576" marB="36576" anchor="ctr">
                    <a:solidFill>
                      <a:srgbClr val="E9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規格成熟度品質閘門</a:t>
                      </a:r>
                    </a:p>
                  </a:txBody>
                  <a:tcPr marR="73152" marT="36576" marB="36576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62E3A"/>
                          </a:solidFill>
                          <a:latin typeface="Microsoft JhengHei"/>
                        </a:rPr>
                        <a:t>&lt; 50 分不該拿去生成下游</a:t>
                      </a:r>
                    </a:p>
                  </a:txBody>
                  <a:tcPr marR="73152" marT="36576" marB="36576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6384" y="5029200"/>
            <a:ext cx="1060704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5029200"/>
            <a:ext cx="8229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5029200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B2A41"/>
                </a:solidFill>
                <a:latin typeface="Microsoft JhengHei"/>
              </a:rPr>
              <a:t>一句話：規格驅動不是讓 AI 替你決定，而是逼出該由人決定的事。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B2A41"/>
                </a:solidFill>
                <a:latin typeface="Microsoft JhengHei"/>
              </a:rPr>
              <a:t>跨 DSL 引用與一致性檢查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04120" y="292608"/>
            <a:ext cx="1536192" cy="32918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B2A41"/>
                </a:solidFill>
                <a:latin typeface="Microsoft JhengHei"/>
              </a:rPr>
              <a:t>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3A0"/>
                </a:solidFill>
                <a:latin typeface="Microsoft JhengHei"/>
              </a:rPr>
              <a:t>27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554480"/>
            <a:ext cx="10607040" cy="2011680"/>
          </a:xfrm>
          <a:prstGeom prst="rect">
            <a:avLst/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" y="1719072"/>
            <a:ext cx="10149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DE4EE"/>
                </a:solidFill>
                <a:latin typeface="Consolas"/>
              </a:rPr>
              <a:t> DBML (資料SSoT) → haARM (權限SSoT) → haAPI (後端) → haPDL (前端)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DE4EE"/>
                </a:solidFill>
                <a:latin typeface="Consolas"/>
              </a:rPr>
              <a:t> 高階 Gherkin (行為) → 引用 haAPI 操作 / haPDL 動作（僅業務語意）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endParaRPr sz="1200" b="0">
              <a:solidFill>
                <a:srgbClr val="DDE4EE"/>
              </a:solidFill>
              <a:latin typeface="Consolas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DE4EE"/>
                </a:solidFill>
                <a:latin typeface="Consolas"/>
              </a:rPr>
              <a:t> 檢查例：haAPI entity: → DBML 表名（大小寫敏感）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DE4EE"/>
                </a:solidFill>
                <a:latin typeface="Consolas"/>
              </a:rPr>
              <a:t>        haPDL api: → haAPI id ／ auth.roles[] → haARM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3840480"/>
            <a:ext cx="10607040" cy="91440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" y="3840480"/>
            <a:ext cx="82296" cy="9144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3840480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B2A41"/>
                </a:solidFill>
                <a:latin typeface="Microsoft JhengHei"/>
              </a:rPr>
              <a:t>這些不是建議，是 rapt-verify 會抓 FAIL 的硬規則。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262E3A"/>
                </a:solidFill>
                <a:latin typeface="Microsoft JhengHei"/>
              </a:rPr>
              <a:t>改一處牽動哪裡，由方向決定——也由它自動算出來。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A24DDA2-0B99-4660-9ACB-EF23810FE5D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7445f31f-ff84-405a-bc8b-fc4950e6c7f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1792</Words>
  <Application>Microsoft Office PowerPoint</Application>
  <PresentationFormat>寬螢幕</PresentationFormat>
  <Paragraphs>331</Paragraphs>
  <Slides>27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3" baseType="lpstr">
      <vt:lpstr>Microsoft JhengHei</vt:lpstr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A08陳建維</cp:lastModifiedBy>
  <cp:revision>3</cp:revision>
  <dcterms:created xsi:type="dcterms:W3CDTF">2013-01-27T09:14:16Z</dcterms:created>
  <dcterms:modified xsi:type="dcterms:W3CDTF">2026-06-24T06:23:17Z</dcterms:modified>
  <cp:category/>
</cp:coreProperties>
</file>