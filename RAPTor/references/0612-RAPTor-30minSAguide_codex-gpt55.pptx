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0c38a72c8449b8" /><Relationship Type="http://schemas.openxmlformats.org/officeDocument/2006/relationships/extended-properties" Target="/docProps/app.xml" Id="R24ef17ba92e14f44" /><Relationship Type="http://schemas.openxmlformats.org/officeDocument/2006/relationships/officeDocument" Target="/ppt/presentation.xml" Id="R51b189ed89df45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23d59bc42d4cc1"/>
  </p:sldMasterIdLst>
  <p:notesMasterIdLst>
    <p:notesMasterId xmlns:r="http://schemas.openxmlformats.org/officeDocument/2006/relationships" r:id="Rd17b174ed85d4f80"/>
  </p:notesMasterIdLst>
  <p:sldIdLst>
    <p:sldId xmlns:r="http://schemas.openxmlformats.org/officeDocument/2006/relationships" id="256" r:id="Rf276a9c54aec4fb8"/>
    <p:sldId xmlns:r="http://schemas.openxmlformats.org/officeDocument/2006/relationships" id="257" r:id="Re4937d8d5a5a4882"/>
    <p:sldId xmlns:r="http://schemas.openxmlformats.org/officeDocument/2006/relationships" id="258" r:id="R1ab638be176f40ed"/>
    <p:sldId xmlns:r="http://schemas.openxmlformats.org/officeDocument/2006/relationships" id="259" r:id="Rce1e9cdd80164855"/>
    <p:sldId xmlns:r="http://schemas.openxmlformats.org/officeDocument/2006/relationships" id="260" r:id="R67720fd807944e06"/>
    <p:sldId xmlns:r="http://schemas.openxmlformats.org/officeDocument/2006/relationships" id="261" r:id="Rf89c52961f914d8b"/>
    <p:sldId xmlns:r="http://schemas.openxmlformats.org/officeDocument/2006/relationships" id="262" r:id="Rf79eae7e2b314c93"/>
    <p:sldId xmlns:r="http://schemas.openxmlformats.org/officeDocument/2006/relationships" id="263" r:id="Rd9d8f1dad8bc4db9"/>
    <p:sldId xmlns:r="http://schemas.openxmlformats.org/officeDocument/2006/relationships" id="264" r:id="Rd04e97102fcd4c0f"/>
    <p:sldId xmlns:r="http://schemas.openxmlformats.org/officeDocument/2006/relationships" id="265" r:id="R077cdfbf0776459b"/>
    <p:sldId xmlns:r="http://schemas.openxmlformats.org/officeDocument/2006/relationships" id="266" r:id="Rf98f0d3601fd42e8"/>
    <p:sldId xmlns:r="http://schemas.openxmlformats.org/officeDocument/2006/relationships" id="267" r:id="R05ae63c773f14e95"/>
    <p:sldId xmlns:r="http://schemas.openxmlformats.org/officeDocument/2006/relationships" id="268" r:id="Rad38f1cc7190451e"/>
    <p:sldId xmlns:r="http://schemas.openxmlformats.org/officeDocument/2006/relationships" id="269" r:id="R6fba54e0e0094e1c"/>
    <p:sldId xmlns:r="http://schemas.openxmlformats.org/officeDocument/2006/relationships" id="270" r:id="R8cf5ab3fe3604f84"/>
    <p:sldId xmlns:r="http://schemas.openxmlformats.org/officeDocument/2006/relationships" id="271" r:id="Rc7650a25816f41e3"/>
    <p:sldId xmlns:r="http://schemas.openxmlformats.org/officeDocument/2006/relationships" id="272" r:id="R5f78c5978bc34c78"/>
    <p:sldId xmlns:r="http://schemas.openxmlformats.org/officeDocument/2006/relationships" id="273" r:id="Rad6de6fdf2384c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03b2c18f044b55" /><Relationship Type="http://schemas.openxmlformats.org/officeDocument/2006/relationships/slideMaster" Target="/ppt/slideMasters/slideMaster1.xml" Id="R7123d59bc42d4cc1" /><Relationship Type="http://schemas.openxmlformats.org/officeDocument/2006/relationships/notesMaster" Target="/ppt/notesMasters/notesMaster1.xml" Id="Rd17b174ed85d4f80" /><Relationship Type="http://schemas.openxmlformats.org/officeDocument/2006/relationships/presProps" Target="/ppt/presProps.xml" Id="R3685efb760324e6f" /><Relationship Type="http://schemas.openxmlformats.org/officeDocument/2006/relationships/viewProps" Target="/ppt/viewProps.xml" Id="Rdc4144b389d44b66" /><Relationship Type="http://schemas.openxmlformats.org/officeDocument/2006/relationships/tableStyles" Target="/ppt/tableStyles.xml" Id="R0c8acf4aa14549a5" /><Relationship Type="http://schemas.openxmlformats.org/officeDocument/2006/relationships/slide" Target="/ppt/slides/slide1.xml" Id="Rf276a9c54aec4fb8" /><Relationship Type="http://schemas.openxmlformats.org/officeDocument/2006/relationships/slide" Target="/ppt/slides/slide2.xml" Id="Re4937d8d5a5a4882" /><Relationship Type="http://schemas.openxmlformats.org/officeDocument/2006/relationships/slide" Target="/ppt/slides/slide3.xml" Id="R1ab638be176f40ed" /><Relationship Type="http://schemas.openxmlformats.org/officeDocument/2006/relationships/slide" Target="/ppt/slides/slide4.xml" Id="Rce1e9cdd80164855" /><Relationship Type="http://schemas.openxmlformats.org/officeDocument/2006/relationships/slide" Target="/ppt/slides/slide5.xml" Id="R67720fd807944e06" /><Relationship Type="http://schemas.openxmlformats.org/officeDocument/2006/relationships/slide" Target="/ppt/slides/slide6.xml" Id="Rf89c52961f914d8b" /><Relationship Type="http://schemas.openxmlformats.org/officeDocument/2006/relationships/slide" Target="/ppt/slides/slide7.xml" Id="Rf79eae7e2b314c93" /><Relationship Type="http://schemas.openxmlformats.org/officeDocument/2006/relationships/slide" Target="/ppt/slides/slide8.xml" Id="Rd9d8f1dad8bc4db9" /><Relationship Type="http://schemas.openxmlformats.org/officeDocument/2006/relationships/slide" Target="/ppt/slides/slide9.xml" Id="Rd04e97102fcd4c0f" /><Relationship Type="http://schemas.openxmlformats.org/officeDocument/2006/relationships/slide" Target="/ppt/slides/slide10.xml" Id="R077cdfbf0776459b" /><Relationship Type="http://schemas.openxmlformats.org/officeDocument/2006/relationships/slide" Target="/ppt/slides/slide11.xml" Id="Rf98f0d3601fd42e8" /><Relationship Type="http://schemas.openxmlformats.org/officeDocument/2006/relationships/slide" Target="/ppt/slides/slide12.xml" Id="R05ae63c773f14e95" /><Relationship Type="http://schemas.openxmlformats.org/officeDocument/2006/relationships/slide" Target="/ppt/slides/slide13.xml" Id="Rad38f1cc7190451e" /><Relationship Type="http://schemas.openxmlformats.org/officeDocument/2006/relationships/slide" Target="/ppt/slides/slide14.xml" Id="R6fba54e0e0094e1c" /><Relationship Type="http://schemas.openxmlformats.org/officeDocument/2006/relationships/slide" Target="/ppt/slides/slide15.xml" Id="R8cf5ab3fe3604f84" /><Relationship Type="http://schemas.openxmlformats.org/officeDocument/2006/relationships/slide" Target="/ppt/slides/slide16.xml" Id="Rc7650a25816f41e3" /><Relationship Type="http://schemas.openxmlformats.org/officeDocument/2006/relationships/slide" Target="/ppt/slides/slide17.xml" Id="R5f78c5978bc34c78" /><Relationship Type="http://schemas.openxmlformats.org/officeDocument/2006/relationships/slide" Target="/ppt/slides/slide18.xml" Id="Rad6de6fdf2384c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75ad298cbc43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842434af094de4" /><Relationship Type="http://schemas.openxmlformats.org/officeDocument/2006/relationships/notesMaster" Target="/ppt/notesMasters/notesMaster1.xml" Id="R71dce3541833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e25fa14e87413b" /><Relationship Type="http://schemas.openxmlformats.org/officeDocument/2006/relationships/notesMaster" Target="/ppt/notesMasters/notesMaster1.xml" Id="Rbc4214407c8845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286b3d66304718" /><Relationship Type="http://schemas.openxmlformats.org/officeDocument/2006/relationships/notesMaster" Target="/ppt/notesMasters/notesMaster1.xml" Id="R83a20a90a7b44b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14b2bbfc0e4658" /><Relationship Type="http://schemas.openxmlformats.org/officeDocument/2006/relationships/notesMaster" Target="/ppt/notesMasters/notesMaster1.xml" Id="Re9926d3f9ce1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9f939f482f49a2" /><Relationship Type="http://schemas.openxmlformats.org/officeDocument/2006/relationships/notesMaster" Target="/ppt/notesMasters/notesMaster1.xml" Id="Rdcc06571ed1342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0624b0bd7b42d2" /><Relationship Type="http://schemas.openxmlformats.org/officeDocument/2006/relationships/notesMaster" Target="/ppt/notesMasters/notesMaster1.xml" Id="R9d6b48c62ee443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e58fb5df0347d7" /><Relationship Type="http://schemas.openxmlformats.org/officeDocument/2006/relationships/notesMaster" Target="/ppt/notesMasters/notesMaster1.xml" Id="Ra56226f0f7d248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271aaca91d42ed" /><Relationship Type="http://schemas.openxmlformats.org/officeDocument/2006/relationships/notesMaster" Target="/ppt/notesMasters/notesMaster1.xml" Id="Rd3d9376989c54a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e2edb08c194ef0" /><Relationship Type="http://schemas.openxmlformats.org/officeDocument/2006/relationships/notesMaster" Target="/ppt/notesMasters/notesMaster1.xml" Id="R97099e71aca84d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18050dd8b14652" /><Relationship Type="http://schemas.openxmlformats.org/officeDocument/2006/relationships/notesMaster" Target="/ppt/notesMasters/notesMaster1.xml" Id="R55c60799a7b344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596cc849e34b9c" /><Relationship Type="http://schemas.openxmlformats.org/officeDocument/2006/relationships/notesMaster" Target="/ppt/notesMasters/notesMaster1.xml" Id="R2823c7c55d524b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ff0bfac4864fa3" /><Relationship Type="http://schemas.openxmlformats.org/officeDocument/2006/relationships/notesMaster" Target="/ppt/notesMasters/notesMaster1.xml" Id="R339374e9bb8845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56878f5ad747fd" /><Relationship Type="http://schemas.openxmlformats.org/officeDocument/2006/relationships/notesMaster" Target="/ppt/notesMasters/notesMaster1.xml" Id="Ra4dc30e96b8043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06aeac547846fc" /><Relationship Type="http://schemas.openxmlformats.org/officeDocument/2006/relationships/notesMaster" Target="/ppt/notesMasters/notesMaster1.xml" Id="R63b78fd5086843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478a78bf8d4cb2" /><Relationship Type="http://schemas.openxmlformats.org/officeDocument/2006/relationships/notesMaster" Target="/ppt/notesMasters/notesMaster1.xml" Id="R8e55b26a6feb45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68c4ee530d94b78" /><Relationship Type="http://schemas.openxmlformats.org/officeDocument/2006/relationships/notesMaster" Target="/ppt/notesMasters/notesMaster1.xml" Id="R46a7dd2a865d40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acb9ef9c044ef4" /><Relationship Type="http://schemas.openxmlformats.org/officeDocument/2006/relationships/notesMaster" Target="/ppt/notesMasters/notesMaster1.xml" Id="Rc9e3d07228c34d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58f19f1891486c" /><Relationship Type="http://schemas.openxmlformats.org/officeDocument/2006/relationships/notesMaster" Target="/ppt/notesMasters/notesMaster1.xml" Id="R951f1eef4b4447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1b0d8759f41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35b48db4534565" /><Relationship Type="http://schemas.openxmlformats.org/officeDocument/2006/relationships/slideLayout" Target="/ppt/slideLayouts/slideLayout1.xml" Id="R6bb83f8e0a7b42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83f8e0a7b42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9069fccc14dbc" /><Relationship Type="http://schemas.openxmlformats.org/officeDocument/2006/relationships/notesSlide" Target="/ppt/notesSlides/notesSlide1.xml" Id="Re6acfd91119948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2ecf815d24f5a" /><Relationship Type="http://schemas.openxmlformats.org/officeDocument/2006/relationships/notesSlide" Target="/ppt/notesSlides/notesSlide2.xml" Id="Raaee56f29b3544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b0f15d69344a9" /><Relationship Type="http://schemas.openxmlformats.org/officeDocument/2006/relationships/notesSlide" Target="/ppt/notesSlides/notesSlide3.xml" Id="R03af092a375347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2a50c34244621" /><Relationship Type="http://schemas.openxmlformats.org/officeDocument/2006/relationships/notesSlide" Target="/ppt/notesSlides/notesSlide4.xml" Id="R008a45bb1b154a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0c2208ee04663" /><Relationship Type="http://schemas.openxmlformats.org/officeDocument/2006/relationships/notesSlide" Target="/ppt/notesSlides/notesSlide5.xml" Id="R1119c4919aa146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7dffa84894121" /><Relationship Type="http://schemas.openxmlformats.org/officeDocument/2006/relationships/notesSlide" Target="/ppt/notesSlides/notesSlide6.xml" Id="R6a517a0d06784d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f5fa9e5c346a6" /><Relationship Type="http://schemas.openxmlformats.org/officeDocument/2006/relationships/notesSlide" Target="/ppt/notesSlides/notesSlide7.xml" Id="R76a6d4bb90dd4a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4cbb9c1b94369" /><Relationship Type="http://schemas.openxmlformats.org/officeDocument/2006/relationships/notesSlide" Target="/ppt/notesSlides/notesSlide8.xml" Id="Rce6b5e8c3a6e48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bc571f1864be3" /><Relationship Type="http://schemas.openxmlformats.org/officeDocument/2006/relationships/notesSlide" Target="/ppt/notesSlides/notesSlide9.xml" Id="R7eba87a5f1724b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36185f1b2495b" /><Relationship Type="http://schemas.openxmlformats.org/officeDocument/2006/relationships/notesSlide" Target="/ppt/notesSlides/notesSlide10.xml" Id="Rbfc8e12092274d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8f15730ce48e3" /><Relationship Type="http://schemas.openxmlformats.org/officeDocument/2006/relationships/notesSlide" Target="/ppt/notesSlides/notesSlide11.xml" Id="Re4408f96aaae4a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0f1d6e6e642af" /><Relationship Type="http://schemas.openxmlformats.org/officeDocument/2006/relationships/notesSlide" Target="/ppt/notesSlides/notesSlide12.xml" Id="Ra5fb6b0c573f4d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69515bc7d405c" /><Relationship Type="http://schemas.openxmlformats.org/officeDocument/2006/relationships/notesSlide" Target="/ppt/notesSlides/notesSlide13.xml" Id="R7ff2868b56b64d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a3f08d07249ef" /><Relationship Type="http://schemas.openxmlformats.org/officeDocument/2006/relationships/notesSlide" Target="/ppt/notesSlides/notesSlide14.xml" Id="Rf880b4ee2e0143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7609f56fb4f21" /><Relationship Type="http://schemas.openxmlformats.org/officeDocument/2006/relationships/notesSlide" Target="/ppt/notesSlides/notesSlide15.xml" Id="Rad766b982d3946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e21c5af3f4dbf" /><Relationship Type="http://schemas.openxmlformats.org/officeDocument/2006/relationships/notesSlide" Target="/ppt/notesSlides/notesSlide16.xml" Id="R54174a47caba46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1eeec91744a73" /><Relationship Type="http://schemas.openxmlformats.org/officeDocument/2006/relationships/notesSlide" Target="/ppt/notesSlides/notesSlide17.xml" Id="Ra8ca4b9d894844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8b1b437224d33" /><Relationship Type="http://schemas.openxmlformats.org/officeDocument/2006/relationships/notesSlide" Target="/ppt/notesSlides/notesSlide18.xml" Id="Raba2acae88094e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A949A4-F224-484A-A5A7-3D454893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64345-82D5-4192-A475-FBA63F34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RAPTor 30 分鐘導覽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88E1F-0533-4081-9D9E-B5A13E13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從一份 RFP，到一整套可驗證的規格包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6002B-BEE6-45DD-B1C7-ED2A78DC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DEE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D9DEE6"/>
                </a:solidFill>
                <a:latin typeface="Microsoft JhengHei"/>
                <a:ea typeface="Microsoft JhengHei"/>
                <a:cs typeface="Microsoft JhengHei"/>
              </a:rPr>
              <a:t>人負責判斷與簽核，AI 負責結構化、追蹤、一致性檢查與重複性工作。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A4F13-ABD6-4F66-8D28-8928BE9C4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71550"/>
            <a:ext cx="25717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0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RFP</a:t>
            </a:r>
          </a:p>
          <a:p xmlns:a="http://schemas.openxmlformats.org/drawingml/2006/main">
            <a:pPr algn="ctr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  <a:p xmlns:a="http://schemas.openxmlformats.org/drawingml/2006/main">
            <a:pPr algn="ctr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Discovery</a:t>
            </a:r>
          </a:p>
          <a:p xmlns:a="http://schemas.openxmlformats.org/drawingml/2006/main">
            <a:pPr algn="ctr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  <a:p xmlns:a="http://schemas.openxmlformats.org/drawingml/2006/main">
            <a:pPr algn="ctr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SSoT</a:t>
            </a:r>
          </a:p>
          <a:p xmlns:a="http://schemas.openxmlformats.org/drawingml/2006/main">
            <a:pPr algn="ctr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  <a:p xmlns:a="http://schemas.openxmlformats.org/drawingml/2006/main">
            <a:pPr algn="ctr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Verify</a:t>
            </a:r>
          </a:p>
          <a:p xmlns:a="http://schemas.openxmlformats.org/drawingml/2006/main">
            <a:pPr algn="ctr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  <a:p xmlns:a="http://schemas.openxmlformats.org/drawingml/2006/main">
            <a:pPr algn="ctr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Preview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0F19E-7A14-42C4-A60C-0B15419A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rPr>
              <a:t>RAPTor 30 min導覽 · 01</a:t>
            </a:r>
          </a:p>
        </p:txBody>
      </p:sp>
    </p:spTree>
    <p:extLst>
      <p:ext uri="{BB962C8B-B14F-4D97-AF65-F5344CB8AC3E}">
        <p14:creationId xmlns:p14="http://schemas.microsoft.com/office/powerpoint/2010/main" val="11924926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16A87-F87D-4D0C-B3C1-815EF8C3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05BD4-7E0D-4D2A-A205-548F020E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MENTAL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C351F-E299-495F-AB70-E30571A0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RAPTor 是有品質閘門的需求生產線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F2822-0B54-4EDB-88FB-23EDBA1F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B9A8D-49B4-4EE6-B09F-D3F692CA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整理：把 RFP、訪談、會議記錄整理成可追蹤的業務理解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BAF52-E5B1-4D65-80F0-35A75DCA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5C35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4771F-74D2-430F-BFA8-D582A9B5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轉換：把業務理解轉成五份 SSoT 規格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14C25-9380-4BC1-8BF3-5B13908D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5D8C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999EF-F00B-49D2-88B0-83E7B9F0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閉環：用 verify / reconcile / clarify 讓規格可驗證、修復、追溯與預覽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10A76-ADFE-431E-9F55-98DEC441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620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流程先於工具</a:t>
            </a:r>
          </a:p>
          <a:p xmlns:a="http://schemas.openxmlformats.org/drawingml/2006/main">
            <a:pPr algn="ctr">
              <a:defRPr sz="14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skill 是流程中的執行角色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158A9-D49B-419F-841F-5A5A3473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02</a:t>
            </a:r>
          </a:p>
        </p:txBody>
      </p:sp>
    </p:spTree>
    <p:extLst>
      <p:ext uri="{BB962C8B-B14F-4D97-AF65-F5344CB8AC3E}">
        <p14:creationId xmlns:p14="http://schemas.microsoft.com/office/powerpoint/2010/main" val="14822208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47792A-4F3C-4C4F-863F-CE3A6479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334AA-15C5-4FB0-88A2-E4C5A45B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PAIN →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C2D39-B0A3-40FF-98CE-0015CF74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三個老問題，對應三個 RAPTor 機制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D4EAC-3354-4F2F-A7A5-A37A3566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85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常見問題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29433-CE39-4C11-AB4B-06998366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95450"/>
            <a:ext cx="523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RAPTor 的回答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82467-3799-43AC-885F-47BB56E9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規格散在 Word、Excel、會議記錄，彼此不一致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9F221-4DC0-4480-8D2B-8FD70DE4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523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SSoT：五份核心規格互相引用，統一來源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D3FDF-26A0-49A3-ADF1-402AE70F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或人員在不確定時自行腦補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DE399-B18D-42AE-BE19-59F13F09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00400"/>
            <a:ext cx="523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CiC + Clarify：模糊處留便條，請人決策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16B9A-F634-474A-B379-1E5C4149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4857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改一條需求，不知道影響哪些 API、畫面、規則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2B517-9F37-4F0B-B770-6CC4C4CF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67200"/>
            <a:ext cx="5238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Traceability + Impact matrix：追蹤來源與影響範圍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4256F-CBD1-461B-9DB8-70593DD4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03</a:t>
            </a:r>
          </a:p>
        </p:txBody>
      </p:sp>
    </p:spTree>
    <p:extLst>
      <p:ext uri="{BB962C8B-B14F-4D97-AF65-F5344CB8AC3E}">
        <p14:creationId xmlns:p14="http://schemas.microsoft.com/office/powerpoint/2010/main" val="10954935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0A3C7-50F0-4666-89B9-1B71774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2C32F-A783-4D4C-B248-138858F6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ARTIFACT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03B8C-9A99-43F3-AF4D-1093B936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跑完一輪會得到一套可追蹤的規格包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46561-B940-4E2C-9B4C-F304E094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190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docs/discovery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RFP 與訪談整理後的業務理解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stakeholder</a:t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journey</a:t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event timeline</a:t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vision/KPI/scope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506E8-969B-494C-8111-82428FFD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3429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docs/ssot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五份唯一事實來源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habdd：行為規則</a:t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dbml：資料模型</a:t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haarm：權限模型</a:t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haapi：API 意圖</a:t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hapdl：UI 意圖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252ED2-5C58-42E0-AA8A-D11840B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2286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docs/generate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可重生的預覽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OpenAPI</a:t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Lo-Fi HTML</a:t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Design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317C4-E087-49F7-847C-2045A874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19250"/>
            <a:ext cx="1619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.raptor</a:t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.clarify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session</a:t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traceability</a:t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impact matrix</a:t>
            </a:r>
          </a:p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決策記錄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3554F-9A0F-44FF-886D-1C389DCF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7687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規格來源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B5721-AECE-4071-B9E6-BB953425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476875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C35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隨時重生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9D5FD-68A7-43E3-9FBA-0FBDB1D5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04</a:t>
            </a:r>
          </a:p>
        </p:txBody>
      </p:sp>
    </p:spTree>
    <p:extLst>
      <p:ext uri="{BB962C8B-B14F-4D97-AF65-F5344CB8AC3E}">
        <p14:creationId xmlns:p14="http://schemas.microsoft.com/office/powerpoint/2010/main" val="20265013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AC5EA4-AE1D-4E46-99BD-5E8C5C29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2A7C4-CE03-40EA-A081-ACF483C5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SSoT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6FD87-D8E3-4FF2-B742-10E3303E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五份 SSoT，各回答一個可驗證的問題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ACBE5-4317-425E-8E8D-B3076C8F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SSoT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F5056-D080-414F-B734-1FD417A0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562100"/>
            <a:ext cx="542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對新手的說法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9B7B0-989B-4BAD-969E-D785CCDF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62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主要驗證者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B1418-F9E2-45EB-AF07-009023FC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haBDD / Gherkin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14E1C-79F9-4EF4-8237-BE5B6168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621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系統在什麼條件下，應該發生什麼業務行為？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386FD-4E38-422E-9922-9BBCB51E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BA、PO、專家、QA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27AB3-FC8B-4849-A77D-EE314DD5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DBML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C04B4-E96B-4B21-BF3A-6159FED5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核心資料、狀態、欄位、值域與約束是什麼？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CDFC34-E8A6-454A-8372-25F86D09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BA、專家、開發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42C49-50F1-4646-BE11-CA8D21C0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haARM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335F8-1468-4ABE-9B13-3BE67072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哪些角色能對哪些資源做哪些動作？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09A937-07C9-4BB3-A502-9E0A970D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3375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BA、資安、專家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075FB-EBCD-4AE2-85E1-BB6FB1D5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195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3BF56-25B5-4F1D-BABB-FA8B54A2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195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後端需要提供哪些業務能力？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9ED8D-2EAB-42B8-BEC5-A345389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1955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SA、開發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54155-A266-4070-94CE-268E7170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haPDL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223477-E1C9-4AB2-AC0F-6C2302ED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05350"/>
            <a:ext cx="542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使用者需要哪些畫面、流程與互動？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89A3E1-EC25-4954-9CC0-AE7BC46D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05350"/>
            <a:ext cx="304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BA、UX、開發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818276-F9BD-402D-8FC9-06593BC2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05</a:t>
            </a:r>
          </a:p>
        </p:txBody>
      </p:sp>
    </p:spTree>
    <p:extLst>
      <p:ext uri="{BB962C8B-B14F-4D97-AF65-F5344CB8AC3E}">
        <p14:creationId xmlns:p14="http://schemas.microsoft.com/office/powerpoint/2010/main" val="18614888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EA313-76FD-4AA8-A619-8A1C9EE5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F5445-242D-4BD1-9CD9-C5BE7D56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REAL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F7F9C-BE68-4FBB-B120-D91F2A19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334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實際 skill 流程是閉環，不是瀑布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BFC4B-B29D-4DE8-B391-AE609EF8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/rapt-kickoff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E0AF9-8AF4-4CEF-8D4D-E6CA738A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43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2D4C6-BC06-4C88-BEEF-EB2A7F43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418EF-D1D8-4DA9-89E7-C25F193A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D54EF-CC13-4D3D-979C-A2996B10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/rapt-behavior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07EB3-928A-4FC8-B9A3-B58BE576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35E07-8DA6-4944-AF61-53371BCB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/rapt-modeling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BB81E-5B0F-4FE3-A23A-783FD112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/rapt-clarify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617B4-B709-4E6E-91C0-8D7E04EA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62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1A2A1-A5E5-4240-A472-9153A408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29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EB8A5-1DCC-4548-BD76-B87242D7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62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79A98-1602-4924-895B-0121B769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6B861A-334C-4F45-9EF6-4F123723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8CA0D-4E75-43C7-871C-21C84B32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290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/rapt-reconcile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9B9AA-72B4-433C-8843-C8E710CA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57750"/>
            <a:ext cx="4381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/rapt-openapi  /rapt-lofi  /rapt-design-brief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E637A-B09D-4493-8AA1-AE4E11E5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A22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E7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4E7C9"/>
                </a:solidFill>
                <a:latin typeface="Microsoft JhengHei"/>
                <a:ea typeface="Microsoft JhengHei"/>
                <a:cs typeface="Microsoft JhengHei"/>
              </a:rPr>
              <a:t>verify / reconcile / clarify</a:t>
            </a:r>
          </a:p>
          <a:p xmlns:a="http://schemas.openxmlformats.org/drawingml/2006/main">
            <a:pPr algn="ctr">
              <a:defRPr sz="1500" b="1">
                <a:solidFill>
                  <a:srgbClr val="F4E7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4E7C9"/>
                </a:solidFill>
                <a:latin typeface="Microsoft JhengHei"/>
                <a:ea typeface="Microsoft JhengHei"/>
                <a:cs typeface="Microsoft JhengHei"/>
              </a:rPr>
              <a:t>會形成品質迴圈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7429E3-468A-4C61-9A1F-65C82B48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rPr>
              <a:t>RAPTor 30 min導覽 · 06</a:t>
            </a:r>
          </a:p>
        </p:txBody>
      </p:sp>
    </p:spTree>
    <p:extLst>
      <p:ext uri="{BB962C8B-B14F-4D97-AF65-F5344CB8AC3E}">
        <p14:creationId xmlns:p14="http://schemas.microsoft.com/office/powerpoint/2010/main" val="15507339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34EE84-0161-4B59-86A5-2468304D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09A92-E376-417A-9CF7-6DA621D5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CASE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EAADC-1F23-49F6-BD6A-23E46DD6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一條 RFP 句子，其實藏著很多決策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BA181-D644-42A7-B792-91F9D715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09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客戶可以將商品加入購物車並建立訂單；系統需檢查庫存，庫存不足時不得完成訂單。管理者可以查看訂單與調整庫存。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08743-85C4-4EB7-A149-E0824DD0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7A7DB-D6D3-4450-A7DB-6F4D5B83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95625"/>
            <a:ext cx="906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誰是客戶？誰是管理者？還有沒有客服、倉管、稽核？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EA747-1CCA-49C2-9E73-E5278BFC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95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33906-3F96-4438-89D8-2CAF7E73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906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「不得完成訂單」是完全拒絕、保留草稿，還是建立待補貨訂單？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291A4-7CAC-420D-A097-DEA9D6CE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C838F-CAD1-4DB7-944D-FE59E7A1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05325"/>
            <a:ext cx="906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庫存不足如何定義？剛好等於庫存算不算可以？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A9C73-75D3-43F4-86E7-F8D7C6AF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29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31D61-F170-4FB6-B9DE-8B12DC17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10175"/>
            <a:ext cx="906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哪些角色可以調整庫存？是否需要審核？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A1920-6874-463F-A76E-33BC2397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07</a:t>
            </a:r>
          </a:p>
        </p:txBody>
      </p:sp>
    </p:spTree>
    <p:extLst>
      <p:ext uri="{BB962C8B-B14F-4D97-AF65-F5344CB8AC3E}">
        <p14:creationId xmlns:p14="http://schemas.microsoft.com/office/powerpoint/2010/main" val="15633233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851523-88BE-416A-A96A-97CC21F1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51936-4749-45B2-8BDC-AD75226A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STEP 1 ·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7D45C-CEE6-4D32-B0DF-45A8A2D7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把 RFP 變成業務地圖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5B7AD-03B1-4528-AFA3-5CD9D5F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285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D8C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項目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480D6-3606-4118-8EC6-A1873969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24000"/>
            <a:ext cx="4619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D8C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內容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762D3-9C10-4CE9-A161-A8B38625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28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時機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7FA1D-A150-4278-97C2-99DE2E14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24050"/>
            <a:ext cx="4619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收到 RFP、訪談記錄、既有文件後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E8E1E-9615-4652-8B4F-F828B53B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28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目標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44D53-84D0-4BD5-AD5D-734FA5C8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09850"/>
            <a:ext cx="4619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整理出誰、為什麼、做什麼、成功標準是什麼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9A585-279A-446B-9078-AB35E358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128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產出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895EB-9F33-473F-B8EC-9B200886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95650"/>
            <a:ext cx="4619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stakeholder、journey、event timeline、vision/KPI、scope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0284E-8933-4AB1-8205-FADC7B3E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285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閘門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21FD4-E1A5-4C57-9958-AB73388F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81450"/>
            <a:ext cx="4619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有明確範圍、KPI、主要角色與核心旅程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974EA-510D-45F0-9375-1200F9D0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14500"/>
            <a:ext cx="3524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案例輸出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角色：客戶、管理者、倉管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旅程：瀏覽商品 → 加入購物車 → 建立訂單 → 庫存扣減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KPI：庫存超賣事件歸零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EA2FA-47A7-463F-8287-583F9869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08</a:t>
            </a:r>
          </a:p>
        </p:txBody>
      </p:sp>
    </p:spTree>
    <p:extLst>
      <p:ext uri="{BB962C8B-B14F-4D97-AF65-F5344CB8AC3E}">
        <p14:creationId xmlns:p14="http://schemas.microsoft.com/office/powerpoint/2010/main" val="18815239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A213D4-B250-4FFA-B370-15658D7D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5A4B0-79C5-432C-AB67-ACC0EB69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STEP 2 ·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360DFB-6EF0-41D1-B7AA-4C464804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把需求變成客戶看得懂的業務行為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3E322A-E1B3-4B14-A2B9-E809BE49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76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2F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AF2F0"/>
                </a:solidFill>
                <a:latin typeface="Consolas"/>
                <a:ea typeface="Consolas"/>
                <a:cs typeface="Consolas"/>
              </a:rPr>
              <a:t>Rule: 訂單商品數量不可超過庫存</a:t>
            </a:r>
          </a:p>
          <a:p xmlns:a="http://schemas.openxmlformats.org/drawingml/2006/main">
            <a:pPr algn="l">
              <a:defRPr sz="1800" b="0">
                <a:solidFill>
                  <a:srgbClr val="EAF2F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AF2F0"/>
                </a:solidFill>
                <a:latin typeface="Consolas"/>
                <a:ea typeface="Consolas"/>
                <a:cs typeface="Consolas"/>
              </a:rPr>
              <a:t>  Example: 剛好等於庫存數量應成功</a:t>
            </a:r>
          </a:p>
          <a:p xmlns:a="http://schemas.openxmlformats.org/drawingml/2006/main">
            <a:pPr algn="l">
              <a:defRPr sz="1800" b="0">
                <a:solidFill>
                  <a:srgbClr val="EAF2F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AF2F0"/>
                </a:solidFill>
                <a:latin typeface="Consolas"/>
                <a:ea typeface="Consolas"/>
                <a:cs typeface="Consolas"/>
              </a:rPr>
              <a:t>    Given 商品 "iPhone 15" 庫存為 10</a:t>
            </a:r>
          </a:p>
          <a:p xmlns:a="http://schemas.openxmlformats.org/drawingml/2006/main">
            <a:pPr algn="l">
              <a:defRPr sz="1800" b="0">
                <a:solidFill>
                  <a:srgbClr val="EAF2F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AF2F0"/>
                </a:solidFill>
                <a:latin typeface="Consolas"/>
                <a:ea typeface="Consolas"/>
                <a:cs typeface="Consolas"/>
              </a:rPr>
              <a:t>    When 客戶訂購 10 件</a:t>
            </a:r>
          </a:p>
          <a:p xmlns:a="http://schemas.openxmlformats.org/drawingml/2006/main">
            <a:pPr algn="l">
              <a:defRPr sz="1800" b="0">
                <a:solidFill>
                  <a:srgbClr val="EAF2F0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EAF2F0"/>
                </a:solidFill>
                <a:latin typeface="Consolas"/>
                <a:ea typeface="Consolas"/>
                <a:cs typeface="Consolas"/>
              </a:rPr>
              <a:t>    Then 應成功建立訂單，庫存變為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4C5C4-D7CB-4540-B017-762CDB8D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閘門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不出現 URL、HTTP、按鈕、CSS selector。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Then 不准寫未決定的替代策略。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D9891-E37B-4EB5-B3B6-930BC0E3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rPr>
              <a:t>RAPTor 30 min導覽 · 09</a:t>
            </a:r>
          </a:p>
        </p:txBody>
      </p:sp>
    </p:spTree>
    <p:extLst>
      <p:ext uri="{BB962C8B-B14F-4D97-AF65-F5344CB8AC3E}">
        <p14:creationId xmlns:p14="http://schemas.microsoft.com/office/powerpoint/2010/main" val="133118509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EB25BE-9F7D-4E19-89CC-8A05B57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5959A-9C98-4AF5-926D-ECA5034B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STEP 3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8790C-2E90-4525-84EC-854CD5F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把行為背後的資料與權限定義清楚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A0074-A936-4E05-83A0-384AA3F8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Gherkin</a:t>
            </a:r>
          </a:p>
          <a:p xmlns:a="http://schemas.openxmlformats.org/drawingml/2006/main">
            <a:pPr algn="ctr">
              <a:defRPr sz="1350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行為規則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D3F22-99A2-4094-9533-8ADD120B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EBA9B-3C3C-47F5-B017-21F0A98C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DBML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Order / Product / Stock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6B2AF-D1C8-47BB-9258-25FF1B0A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haARM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客戶 / 管理者 / 倉管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36A27-A327-4E3E-821C-A81034F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336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16AE1-001D-4E28-A9CD-1F8A749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3714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案例輸出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Order.status：pending / confirmed / cancelled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權限：管理者可查看所有訂單；客戶只能查看自己的訂單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模糊處：留下 CiC 便條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693B7-9BA1-468A-923A-4BF5931C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10</a:t>
            </a:r>
          </a:p>
        </p:txBody>
      </p:sp>
    </p:spTree>
    <p:extLst>
      <p:ext uri="{BB962C8B-B14F-4D97-AF65-F5344CB8AC3E}">
        <p14:creationId xmlns:p14="http://schemas.microsoft.com/office/powerpoint/2010/main" val="20011232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AEC4B-BBA0-4E8C-955C-3E2A760F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1D02A-F819-4C52-82CA-836CEE6E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STEP 4 · CLARIFY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D456B-9CAC-4722-98CE-ACA437D2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AI 不猜，請人決策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A6976-7EE3-4D20-A28A-956BF9BB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2"/>
          </a:solidFill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GAP 缺口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F6CC7-2E58-48D2-AE5B-D4C55D8F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240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4"/>
          </a:solidFill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D5D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2D5D8C"/>
                </a:solidFill>
                <a:latin typeface="Microsoft JhengHei"/>
                <a:ea typeface="Microsoft JhengHei"/>
                <a:cs typeface="Microsoft JhengHei"/>
              </a:rPr>
              <a:t>ASM 假設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77194-A61D-4A1F-9639-9BA32A1A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240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BDY 邊界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82509B-D24D-4BA9-AA7B-835828E8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1762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2"/>
          </a:solidFill>
        </p:spPr>
        <p:txBody>
          <a:bodyPr xmlns:a="http://schemas.openxmlformats.org/drawingml/2006/main" lIns="95250" tIns="38100" rIns="9525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CON 衝突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788C0-C8DF-42E4-B589-44489EF8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8667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Q：庫存不足時，訂單應如何處理？（High）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A. 完全拒絕建立訂單</a:t>
            </a:r>
          </a:p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B. 允許建立待補貨訂單</a:t>
            </a:r>
          </a:p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C. 允許部分成立</a:t>
            </a:r>
          </a:p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D. 允許超賣，後續通知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影響：訂單行為規則、Order.status、庫存扣減流程、API/UI 意圖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F6437-FD25-4D32-B6B4-D68CE8F9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76875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人的角色：做關鍵決策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010A0-420C-4C0C-B60A-0C1F81EA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11</a:t>
            </a:r>
          </a:p>
        </p:txBody>
      </p:sp>
    </p:spTree>
    <p:extLst>
      <p:ext uri="{BB962C8B-B14F-4D97-AF65-F5344CB8AC3E}">
        <p14:creationId xmlns:p14="http://schemas.microsoft.com/office/powerpoint/2010/main" val="2883574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D422D-D4E4-4A5A-98E0-01EE0784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036F2-11DD-4A92-9974-DD9A3D23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STEP 5 · INTENT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B2663-B6D2-4A9A-AE14-5CE10409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把穩定規格轉成 API / UI 意圖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F5B38-F579-4E56-9B35-BC14AC90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已澄清的 SSoT</a:t>
            </a:r>
          </a:p>
          <a:p xmlns:a="http://schemas.openxmlformats.org/drawingml/2006/main">
            <a:pPr algn="ctr">
              <a:defRPr sz="1500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Gherkin + DBML + haARM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34AA7-BB8F-4051-AFBD-6A973428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54BF4-9052-4E10-AFB3-BF89330D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建立訂單</a:t>
            </a:r>
          </a:p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查詢訂單</a:t>
            </a:r>
          </a:p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取消訂單</a:t>
            </a:r>
          </a:p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調整庫存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4FD6A-C816-4146-B18B-704BEFAB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2857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haPDL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購物車頁</a:t>
            </a:r>
          </a:p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建立訂單頁</a:t>
            </a:r>
          </a:p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訂單清單頁</a:t>
            </a:r>
          </a:p>
          <a:p xmlns:a="http://schemas.openxmlformats.org/drawingml/2006/main">
            <a:pPr algn="ctr">
              <a:def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庫存管理頁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E045D-E7D8-493E-90A0-A9F0861D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53000"/>
            <a:ext cx="614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閘門：API / UI 都能追溯回 behavior、data、permission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BAF11-EA10-4119-A873-2AE066DC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12</a:t>
            </a:r>
          </a:p>
        </p:txBody>
      </p:sp>
    </p:spTree>
    <p:extLst>
      <p:ext uri="{BB962C8B-B14F-4D97-AF65-F5344CB8AC3E}">
        <p14:creationId xmlns:p14="http://schemas.microsoft.com/office/powerpoint/2010/main" val="301227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39512C-2C29-4D53-AB20-700E2810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EEB84-D6FD-4DDD-AE22-8AD0842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STEP 6 · VERIFY / RECONCILE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48EA5-2128-4F0A-BDC3-BC5914FE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990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讓規格自己接受檢查與修復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09633-5D25-40A5-989E-39F2D893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/rapt-verify</a:t>
            </a:r>
          </a:p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只讀，出報告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2DDAE-8B8B-455C-AC58-AD67B7DD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288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1C390-18FA-474A-8653-A878ADD8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2476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Finding</a:t>
            </a:r>
          </a:p>
          <a:p xmlns:a="http://schemas.openxmlformats.org/drawingml/2006/main">
            <a:pPr algn="ctr">
              <a:defRPr sz="14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缺漏 / 衝突 / 不可追溯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71926-8795-4C4F-8C27-32254BB9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288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C0877-4704-4DAC-9B98-655B0A7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/rapt-reconcile</a:t>
            </a:r>
          </a:p>
          <a:p xmlns:a="http://schemas.openxmlformats.org/drawingml/2006/main">
            <a:pPr algn="ctr">
              <a:def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分流修復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37435-B79C-4635-8C6C-E1949DBA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00500"/>
            <a:ext cx="361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40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機械性問題：命名不一致、引用斷鏈</a:t>
            </a:r>
          </a:p>
          <a:p xmlns:a="http://schemas.openxmlformats.org/drawingml/2006/main">
            <a:pPr algn="l">
              <a:defRPr sz="150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→ 可自動修，先建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2D4D6-12F6-4181-BFFF-7A51EBD7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371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A22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E7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4E7C9"/>
                </a:solidFill>
                <a:latin typeface="Microsoft JhengHei"/>
                <a:ea typeface="Microsoft JhengHei"/>
                <a:cs typeface="Microsoft JhengHei"/>
              </a:rPr>
              <a:t>語意性問題：要補 API 還是砍 Scenario？</a:t>
            </a:r>
          </a:p>
          <a:p xmlns:a="http://schemas.openxmlformats.org/drawingml/2006/main">
            <a:pPr algn="l">
              <a:defRPr sz="1500" b="0">
                <a:solidFill>
                  <a:srgbClr val="F4E7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F4E7C9"/>
                </a:solidFill>
                <a:latin typeface="Microsoft JhengHei"/>
                <a:ea typeface="Microsoft JhengHei"/>
                <a:cs typeface="Microsoft JhengHei"/>
              </a:rPr>
              <a:t>→ 回到 clarify，請人決策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B9D3C-34FF-408A-8FA3-80FAE592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rPr>
              <a:t>RAPTor 30 min導覽 · 13</a:t>
            </a:r>
          </a:p>
        </p:txBody>
      </p:sp>
    </p:spTree>
    <p:extLst>
      <p:ext uri="{BB962C8B-B14F-4D97-AF65-F5344CB8AC3E}">
        <p14:creationId xmlns:p14="http://schemas.microsoft.com/office/powerpoint/2010/main" val="8173202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82D914-D98B-4653-878F-359EA655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0C702-F93E-465A-8A32-64A4194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STEP 7 · PREVIEW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B5194-3D84-4FEC-8F47-3C1F6DD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規格期就能讓客戶看得到、摸得到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7A925-1905-4B07-BB71-E470750A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/rapt-openapi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OpenAPI YAML</a:t>
            </a:r>
          </a:p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Swagger UI</a:t>
            </a:r>
          </a:p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API 對接討論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73818-95EC-43A9-BC11-75AD95EB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/rapt-lofi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自包含 HTML</a:t>
            </a:r>
          </a:p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客戶可用瀏覽器走流程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E164D-328F-4E78-A11F-44C048EB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857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/rapt-design-brief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Design Brief</a:t>
            </a:r>
          </a:p>
          <a:p xmlns:a="http://schemas.openxmlformats.org/drawingml/2006/main">
            <a:pPr algn="ctr">
              <a:def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給設計師或 AI 設計工具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4ECA8-348A-4C75-B0D0-DFEF1732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Preview 是 docs/generate/** 的生成物，不是規格來源；回饋要回 SSoT 修改後重生。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ABCD7-2323-46D6-91FE-FA48F3B0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14</a:t>
            </a:r>
          </a:p>
        </p:txBody>
      </p:sp>
    </p:spTree>
    <p:extLst>
      <p:ext uri="{BB962C8B-B14F-4D97-AF65-F5344CB8AC3E}">
        <p14:creationId xmlns:p14="http://schemas.microsoft.com/office/powerpoint/2010/main" val="11729930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6020E-1301-4037-8FF9-8ED5BA0A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396CB-00F7-4753-BCFA-B9BFF092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CHANGE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68B9F-3004-43FA-9666-88A6164E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需求變更不是重做，而是回到同一條閉環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425A5-1A4A-4C7A-8877-420AC8E5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DD2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客戶提出變更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1386E-4A8E-43E6-B581-D153BEF0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621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8ECC4-E099-471A-8798-D3EB42FF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查 impact matrix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F37E9-6098-40E2-8AC1-63732C1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6217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33274-F2E5-47AD-A2B0-5D7D4AEC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修改 SSoT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必要時 clarify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4A3FE-DF38-4083-B3D4-1FD7EC2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/rapt-verify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0C28E-7FD7-4ED3-82E1-5D2F7BD5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719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F5372-EAD0-4727-BA13-C74967D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623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4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/rapt-reconcile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D23D1-4F27-41B7-910B-AB826327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71925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B35C35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DA5CA-2866-430D-B837-7C5DB074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EA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重新生成 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20A58-D176-4366-8A60-59AC7B20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828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完整性 = 每次變更都能找到源頭、影響範圍、驗證結果與重新生成路徑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7099D-33F2-4CF4-85A5-0AB968E7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15</a:t>
            </a:r>
          </a:p>
        </p:txBody>
      </p:sp>
    </p:spTree>
    <p:extLst>
      <p:ext uri="{BB962C8B-B14F-4D97-AF65-F5344CB8AC3E}">
        <p14:creationId xmlns:p14="http://schemas.microsoft.com/office/powerpoint/2010/main" val="8537570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4148B-B477-4976-9FA1-8DDD3B69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4DB10-D9F3-4994-AE9C-C9DBFD2C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HUMAN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41DDE-E3B3-4BF8-83D4-75F4BE9C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人的投入集中在三個高槓桿時刻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A4F24-E6A2-4E34-865B-4D21C60C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C35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時機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5C028-96E2-4278-8F7C-E0D0B70C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419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C35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BA / PO / PM 要做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6F78D-173E-4BDB-BEDA-DEDFE55A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14500"/>
            <a:ext cx="3714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5C35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領域專家要做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14D33-9FC6-4D97-A4DE-D1B83D70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Discovery 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63BD5-A468-4F52-B3E0-52690939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52650"/>
            <a:ext cx="4191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提供 RFP、訪談、商業背景、優先級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4E1AC-05CA-4CC6-A8A0-E5646691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52650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補足真實作業情境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ED36A-633C-4CF4-B777-5E16CBD9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Behavior / Modeling 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2CCCD-21D4-4868-BBE0-0F49812D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4191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確認規格是否對齊目標與範圍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5E92A-7550-42FD-B88F-EFE41FDA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驗證規則、狀態、值域、權限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0D800-4ADA-439C-85A8-B40AC797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Clarify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E74AE-E659-46F3-8FF2-4FB0585F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67150"/>
            <a:ext cx="4191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主持決策、記錄取捨、決定風險接受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C53CF-D14B-4A25-98E2-F2D41CB2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3714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回答 High 優先問題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C853F-2BF3-4707-BF7D-E6B59C01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76875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人不用手刻所有文件，但人必須負責決策與驗證。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A8A70-F60E-42CA-83F1-1F49950A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16</a:t>
            </a:r>
          </a:p>
        </p:txBody>
      </p:sp>
    </p:spTree>
    <p:extLst>
      <p:ext uri="{BB962C8B-B14F-4D97-AF65-F5344CB8AC3E}">
        <p14:creationId xmlns:p14="http://schemas.microsoft.com/office/powerpoint/2010/main" val="179241610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044D99-1819-4C63-9FAF-8D2B2BFB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DC3B7-C32B-47D6-B668-0B2FA2B0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57A6E"/>
                </a:solidFill>
                <a:latin typeface="Microsoft JhengHei"/>
                <a:ea typeface="Microsoft JhengHei"/>
                <a:cs typeface="Microsoft JhengHei"/>
              </a:rPr>
              <a:t>QUALITY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63DFF-A442-4181-9769-7C27D39E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RAscore 讓規格品質變成可討論的分數與缺口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26002-83B4-4C42-BB92-49E3BC28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238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F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/rapt-RAscore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advisory-only</a:t>
            </a:r>
          </a:p>
          <a:p xmlns:a="http://schemas.openxmlformats.org/drawingml/2006/main">
            <a:pPr algn="ctr">
              <a:defRPr sz="18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不擋主流程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輸出 scorecard、report、findings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82089-4423-4875-A898-567A5275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68EE9-74BF-47CB-B939-5371EC73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619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PM 視角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規格「夠不夠格當 SSoT」不再只是主觀感覺。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BA8A6-AA62-4C94-8539-DC5A8F17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523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Findings 可導向 reconcile 或 clarify，成為下一輪修復清單。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1DC73-80C7-4297-9D1A-5823B6EF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8173"/>
                </a:solidFill>
                <a:latin typeface="Microsoft JhengHei"/>
                <a:ea typeface="Microsoft JhengHei"/>
                <a:cs typeface="Microsoft JhengHei"/>
              </a:rPr>
              <a:t>RAPTor 30 min導覽 · 17</a:t>
            </a:r>
          </a:p>
        </p:txBody>
      </p:sp>
    </p:spTree>
    <p:extLst>
      <p:ext uri="{BB962C8B-B14F-4D97-AF65-F5344CB8AC3E}">
        <p14:creationId xmlns:p14="http://schemas.microsoft.com/office/powerpoint/2010/main" val="24740484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6B672D-08CB-41D4-AE83-CAD2A436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E4FC3-EA19-47EF-A590-84DE5A0C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99A2B"/>
                </a:solidFill>
                <a:latin typeface="Microsoft JhengHei"/>
                <a:ea typeface="Microsoft JhengHei"/>
                <a:cs typeface="Microsoft JhengHei"/>
              </a:rPr>
              <a:t>FIRST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BC3A7-002A-4BFB-BCC8-5C359860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第一個專案從一份 RFP 開始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DAE97-3CD8-424D-A8DB-48056EB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AC18D-D2C6-4F38-92EC-32ED2602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240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放入 RFP、訪談記錄、既有文件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CFAB1-E9CA-422D-B669-11D7C899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C9AA8-1805-483D-B546-E990682D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/rapt-kickoff → /rapt-discovery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5BFEB-28A0-439A-835B-3E3B9D70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15966-4162-4B47-A1C2-A93D8BFD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找 BA / PO / 專家確認 discovery 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84811-A4F1-402B-886C-C787B521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3AD20-9896-44B0-A7DB-EC0FDAAE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/rapt-behavior → /rapt-modeling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EA251-DEAE-49BB-98C1-274C0BB9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33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2B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3F679A-5500-4E1E-9571-B21DCD10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安排 clarify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CB407-94EF-4D7E-A2D9-E7433CB0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E7C1D-B5B1-474D-B996-738C460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/rapt-intent → /rapt-verify ⇄ /rapt-reconcile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E50A6-95D9-458F-8E73-45696D55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A6E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EB9F8-8990-4A5D-9EDC-CA4306CE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544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F7F4EC"/>
                </a:solidFill>
                <a:latin typeface="Microsoft JhengHei"/>
                <a:ea typeface="Microsoft JhengHei"/>
                <a:cs typeface="Microsoft JhengHei"/>
              </a:rPr>
              <a:t>/rapt-lofi 或 /rapt-openapi 對齊客戶與團隊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A6C55-3163-4134-9C41-217A322A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435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2B"/>
          </a:solidFill>
        </p:spPr>
        <p:txBody>
          <a:bodyPr xmlns:a="http://schemas.openxmlformats.org/drawingml/2006/main" lIns="152400" tIns="133350" rIns="152400" bIns="1143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8202A"/>
                </a:solidFill>
                <a:latin typeface="Microsoft JhengHei"/>
                <a:ea typeface="Microsoft JhengHei"/>
                <a:cs typeface="Microsoft JhengHei"/>
              </a:rPr>
              <a:t>RAPTor 讓需求成為可追蹤、可驗證、可修復、可重生的工程化資產。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7DE25-FA60-4A43-9D86-6A035F34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A7B0BC"/>
                </a:solidFill>
                <a:latin typeface="Microsoft JhengHei"/>
                <a:ea typeface="Microsoft JhengHei"/>
                <a:cs typeface="Microsoft JhengHei"/>
              </a:rPr>
              <a:t>RAPTor 30 min導覽 · 18</a:t>
            </a:r>
          </a:p>
        </p:txBody>
      </p:sp>
    </p:spTree>
    <p:extLst>
      <p:ext uri="{BB962C8B-B14F-4D97-AF65-F5344CB8AC3E}">
        <p14:creationId xmlns:p14="http://schemas.microsoft.com/office/powerpoint/2010/main" val="2994841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2026-06-12T02:18:57.4790000Z</dcterms:created>
  <dcterms:modified xsi:type="dcterms:W3CDTF">2026-06-12T02:18:57.4800000Z</dcterms:modified>
</coreProperties>
</file>