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封面。先給結論：RAPT 解決的是需求在傳遞中失真。今天教流程與角色，不教 DSL 語法細節。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五個目標各對應一堂課。讓五種角色都看到自己。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把六堂課講成一條線，建立心智地圖。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鋪痛點。強調是結構問題不是人的問題，降低防衛、提高認同。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三災難＝後面解法的伏筆。請學員對號入座。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SSOT 從口號推到後果：所以要治理規格本身。承接 L4。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區分『AI 生成』與『規格驅動的確定性生成』。這是信任的根。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讓每個座位上的人都認領一行。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今天主要待在意圖層。haARM 是橫切、是權限唯一真相。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本堂最重要一張。讓學員用手指畫箭頭方向。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小考帶出 verify。對答案時強調『不用人工記，工具會抓』。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建立管線心智圖。細節 demo 再看，別在這超時。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一張表收完六階段。重點欄是『閘門/卡點』，呼應治理。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閘門邏輯 + 用真實產出樹預告 L5。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第一層防呆：純渲染者不持有業務語意，所以不准猜。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第二層機制：只有 ASK 會 yield，是『不偷猜』的硬保證。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 是把商業決策路由給對的人、不讓工具偷渡決策。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強調每步留痕＝可追溯。例子呼應 L1 的『訂單金額』災難。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第三層：品質閘門。一句收 L4：規格驅動是逼出該由人決定的事。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預告三個模糊點會變 CiC，製造期待。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以預跑好的標準產物為主，現場跑關鍵幾步。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兩橋段 = 不亂猜、不漏抓的現場證明。全課信任的高潮。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每個座位認領一行。這是唯一不可省的帶走物。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三句話是全課濃縮。放慢念。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痛點→解法閉環收尾，記憶點最強。開放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057400"/>
            <a:ext cx="146304" cy="1554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規格驅動需求工程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C984"/>
                </a:solidFill>
                <a:latin typeface="Microsoft JhengHei"/>
              </a:rPr>
              <a:t>RAPT Skill Set 實戰入門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9D3E0"/>
                </a:solidFill>
                <a:latin typeface="Microsoft JhengHei"/>
              </a:rPr>
              <a:t>把需求變成可驗證、可追溯、能自動生成下游的規格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EB8C6"/>
                </a:solidFill>
                <a:latin typeface="Microsoft JhengHei"/>
              </a:rPr>
              <a:t>兩小時內訓　·　PO / BA / SA / RD /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3A0"/>
                </a:solidFill>
                <a:latin typeface="Microsoft JhengHei"/>
              </a:rPr>
              <a:t>cc-Opus4.8 ｜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學習目標 — 上完這堂課，你能夠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54480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說出 SSOT 核心理念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規格即單一事實來源，它解決了什麼痛點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41448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95728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看懂規格地圖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七規格體系與多層 DSL 的引用方向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82696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236976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走過一次七階段管線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discovery → behavior → modeling → clarify → intent → verify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23944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078224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理解三大治理機制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Planner/Worker 合約、CiC 便條、RAscore —— 為什麼 AI 不會亂猜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65192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19472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對應自己的角色落地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知道該扮演什麼、交付什麼、審查什麼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課程地圖 — 120 分鐘六堂課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3 / 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" y="1463040"/>
          <a:ext cx="10607039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7126"/>
                <a:gridCol w="3182112"/>
                <a:gridCol w="1060704"/>
                <a:gridCol w="4667097"/>
              </a:tblGrid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時段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課堂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分鐘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主軸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0:00–0:08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L0 開場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課程地圖、會前環境檢查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0:08–0:25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L1 為什麼要 RAPT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17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痛點 → 理念（SSOT）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0:25–0:45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L2 七規格 × 多層 DSL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意圖/實作層、引用方向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0:45–1:15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L3 七階段管線走查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30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端到端 pipeline、I/O 與閘門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1:15–1:20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中場休息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1:20–1:45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L4 治理三支柱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25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Planner/Worker、CiC、RAscore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1:45–2:05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L5 實作工作坊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ecommerce-minimal 跑一遍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2:05–2:20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L6 角色落地 + Q&amp;A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五角色 cheat sheet、答疑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384" y="5852160"/>
            <a:ext cx="106070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5852160"/>
            <a:ext cx="82296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85216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一條線：理念 → 地圖 → 管線 →（休息）→ 治理 → 實作 → 落地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1 ｜ 17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為什麼要 RAPT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需求在傳遞中失真——這是流程結構問題，不是誰不認真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傳統需求流程的斷層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5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0607040" cy="11430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673351"/>
            <a:ext cx="10149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E4EE"/>
                </a:solidFill>
                <a:latin typeface="Consolas"/>
              </a:rPr>
              <a:t> PRD → 口頭傳遞 → Gherkin → DBML → API → UI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E4EE"/>
                </a:solidFill>
                <a:latin typeface="Consolas"/>
              </a:rPr>
              <a:t>  └─ 每一層都是人手抄一次，每抄一次失真一點，且彼此斷開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971800"/>
            <a:ext cx="1060704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971800"/>
            <a:ext cx="82296" cy="137160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971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Microsoft JhengHei"/>
              </a:rPr>
              <a:t>問題的根：沒有單一事實來源。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改了最上游，下游不會自己知道；每份產物都號稱自己是對的。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66344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這不是誰不認真——是『規格沒有被當成唯一真相來治理』的結構性問題。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三個經典災難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6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691640"/>
            <a:ext cx="338328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691640"/>
            <a:ext cx="3383280" cy="8229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9202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① 同名異義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6974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「訂單金額」是折扣前還折扣後？PO 想一個、RD 寫另一個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338328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691640"/>
            <a:ext cx="3383280" cy="8229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9202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② 改了沒同步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974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需求只改 PRD，Gherkin/測試還是舊的，QA 在守舊行為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338328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691640"/>
            <a:ext cx="3383280" cy="8229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202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③ 權限對不上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6974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誰能看訂單、誰能審退款，散落三處湊不齊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754880"/>
            <a:ext cx="10607040" cy="8686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754880"/>
            <a:ext cx="82296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75488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你剛剛舉手想到的那個例子，大概就落在其中一格——記住它，後面每個機制都回扣。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核心理念：規格即單一事實來源（SSOT）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7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10058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554480"/>
            <a:ext cx="82296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554480"/>
            <a:ext cx="10149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所有下游產物（API / UI / 測試 / 原型）都從規格生成，且不手改生成物。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926080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要改，就改規格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下游重新生成，不直接動生成物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13048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767328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一個關鍵後果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規格自己對不對、彼此一不一致，變成最該守住的事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54296"/>
            <a:ext cx="73152" cy="67665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608576"/>
            <a:ext cx="10241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這正是下半場主題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三大治理機制，全在守『規格的自洽與一致』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規格驅動的生成管線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8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0607040" cy="192024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673351"/>
            <a:ext cx="10149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Gherkin BDD ─┐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haARM 權限 ──┼─→  語意模型 (IML)  ─→  多目標生成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DBML 領域 ───┘                         ├ 資料庫 Schema   ├ UI 元件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                               ├ API 規格        ├ 狀態機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                               ├ 驗證規則 (Zod)  └ 測試套件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749039"/>
            <a:ext cx="1060704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3749039"/>
            <a:ext cx="8229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749039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重點不是『AI 幫你寫程式』。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重點是：規格定稿後，下游是確定性地生成——不是再賭一次 AI 寫得對不對。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對五個角色的價值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9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54480"/>
          <a:ext cx="10607039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985"/>
                <a:gridCol w="9122054"/>
              </a:tblGrid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RAPT 解決你的什麼痛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B2A41"/>
                          </a:solidFill>
                          <a:latin typeface="Microsoft JhengHei"/>
                        </a:rPr>
                        <a:t>PO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262E3A"/>
                          </a:solidFill>
                          <a:latin typeface="Microsoft JhengHei"/>
                        </a:rPr>
                        <a:t>需求不在傳遞中流失；歧見在上線前就被逼出來裁決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B2A41"/>
                          </a:solidFill>
                          <a:latin typeface="Microsoft JhengHei"/>
                        </a:rPr>
                        <a:t>BA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262E3A"/>
                          </a:solidFill>
                          <a:latin typeface="Microsoft JhengHei"/>
                        </a:rPr>
                        <a:t>最頭痛的『各自解讀』被早早暴露，而不是事後爆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B2A41"/>
                          </a:solidFill>
                          <a:latin typeface="Microsoft JhengHei"/>
                        </a:rPr>
                        <a:t>SA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262E3A"/>
                          </a:solidFill>
                          <a:latin typeface="Microsoft JhengHei"/>
                        </a:rPr>
                        <a:t>終於有跨層一致性的機械保證，不靠人盯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B2A41"/>
                          </a:solidFill>
                          <a:latin typeface="Microsoft JhengHei"/>
                        </a:rPr>
                        <a:t>RD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262E3A"/>
                          </a:solidFill>
                          <a:latin typeface="Microsoft JhengHei"/>
                        </a:rPr>
                        <a:t>規格直接就是輸入，不必再考古需求原意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B2A41"/>
                          </a:solidFill>
                          <a:latin typeface="Microsoft JhengHei"/>
                        </a:rPr>
                        <a:t>QA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262E3A"/>
                          </a:solidFill>
                          <a:latin typeface="Microsoft JhengHei"/>
                        </a:rPr>
                        <a:t>找出來的矛盾反例，直接升級成回歸測試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5212080"/>
            <a:ext cx="106070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5212080"/>
            <a:ext cx="82296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212080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這不是某個角色的工具，是整條鏈的共同語言。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2 ｜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七規格體系 × 多層 DSL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規格地圖：誰引用誰、改一處要連動哪裡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七規格：意圖層 vs 實作層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11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54480"/>
          <a:ext cx="106070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/>
                <a:gridCol w="5303520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意圖層（想要什麼）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實作層（實際怎麼長）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2A41"/>
                          </a:solidFill>
                          <a:latin typeface="Microsoft JhengHei"/>
                        </a:rPr>
                        <a:t>DBML — 領域模型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62E3A"/>
                          </a:solidFill>
                          <a:latin typeface="Microsoft JhengHei"/>
                        </a:rPr>
                        <a:t>TypeSpec / OpenAPI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2A41"/>
                          </a:solidFill>
                          <a:latin typeface="Microsoft JhengHei"/>
                        </a:rPr>
                        <a:t>高階 Gherkin — 行為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62E3A"/>
                          </a:solidFill>
                          <a:latin typeface="Microsoft JhengHei"/>
                        </a:rPr>
                        <a:t>PDL — 頁面實作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2A41"/>
                          </a:solidFill>
                          <a:latin typeface="Microsoft JhengHei"/>
                        </a:rPr>
                        <a:t>haAPI — 後端意圖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62E3A"/>
                          </a:solidFill>
                          <a:latin typeface="Microsoft JhengHei"/>
                        </a:rPr>
                        <a:t>低階 Gherkin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B2A41"/>
                          </a:solidFill>
                          <a:latin typeface="Microsoft JhengHei"/>
                        </a:rPr>
                        <a:t>haPDL — 前端意圖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262E3A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4892040"/>
            <a:ext cx="10607040" cy="8229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4892040"/>
            <a:ext cx="82296" cy="822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橫切面：</a:t>
            </a:r>
            <a:r>
              <a:rPr sz="1400" b="1">
                <a:solidFill>
                  <a:srgbClr val="1B2A41"/>
                </a:solidFill>
                <a:latin typeface="Microsoft JhengHei"/>
              </a:rPr>
              <a:t>haARM（角色 / 權限 / 存取控制）—— 被 Gherkin、haAPI、haPDL 共同引用，是權限的 SSoT。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引用方向圖 ⭐ 用手指畫一次箭頭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12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265176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DBML (資料 SSoT)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│ entity name (大小寫敏感)        haARM (權限 SSoT)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↓                                    │ role.id / permission.id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haAPI (後端意圖)  ←──────────────────┘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│ api: id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↓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haPDL (前端意圖)  ←── haARM (role.id / permission.id)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高階 Gherkin (行為) → 引用 haAPI 操作 / haPDL 動作（僅業務語意）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434840"/>
            <a:ext cx="10607040" cy="11887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4434840"/>
            <a:ext cx="82296" cy="1188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3484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B2A41"/>
                </a:solidFill>
                <a:latin typeface="Microsoft JhengHei"/>
              </a:rPr>
              <a:t>方向：資料 → 權限 → 後端 → 前端。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方向決定了『改一處會牽動誰』——這就是一致性檢查的基礎。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跨 DSL 引用點實例 與 版本治理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13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08760"/>
          <a:ext cx="106070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2816"/>
                <a:gridCol w="4242816"/>
                <a:gridCol w="2121408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引用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規則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違反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haAPI entity: → DBML 表名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大小寫敏感（Order ≠ order）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verify FAIL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haPDL api: → haAPI id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必須指向存在的 id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verify FAIL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haPDL auth.roles[] → haARM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角色必須真的存在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verify FAIL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4023360"/>
            <a:ext cx="1060704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4023360"/>
            <a:ext cx="82296" cy="8686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02336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05A4E"/>
                </a:solidFill>
                <a:latin typeface="Microsoft JhengHei"/>
              </a:rPr>
              <a:t>棄用欄位：</a:t>
            </a:r>
            <a:r>
              <a:rPr sz="1350" b="1">
                <a:solidFill>
                  <a:srgbClr val="1B2A41"/>
                </a:solidFill>
                <a:latin typeface="Microsoft JhengHei"/>
              </a:rPr>
              <a:t>access.permissions: / security.permissions: 已棄用，下版移除 → 用了就 ERROR。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5074920"/>
            <a:ext cx="10607040" cy="8229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5074920"/>
            <a:ext cx="82296" cy="822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8A33D"/>
                </a:solidFill>
                <a:latin typeface="Microsoft JhengHei"/>
              </a:rPr>
              <a:t>🧩 三分鐘小考：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把 DBML 的 Order 改名成 SalesOrder，會牽動哪些 DSL、哪些欄位？（答案：rapt-verify 會全抓）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3 ｜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七階段管線走查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每階段三句話：吃什麼、吐什麼、卡在哪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管線總覽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15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22860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kickoff → discovery → behavior → modeling → clarify → intent → verify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(初始化)   (探索)      (高階Gherkin)  (DBML+haARM)  (人裁決)  (haAPI/   (跨DSL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                                │留CiC便條           haPDL)    一致性)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                                ↓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橫貫：rapt-reconcile（機械修正） ／ rapt-RAscore（品質評分）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069080"/>
            <a:ext cx="10607040" cy="12801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4069080"/>
            <a:ext cx="82296" cy="1280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69080"/>
            <a:ext cx="10149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節奏：每階段只講三句話 —— 輸入 / 產出 / 閘門。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Planner（決策協調，可 ASK、可記 CiC）vs Worker（rapt-form-*，純渲染）。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各階段：吃什麼 / 吐什麼 / 卡在哪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16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417320"/>
          <a:ext cx="10607039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7126"/>
                <a:gridCol w="2969971"/>
                <a:gridCol w="3818534"/>
                <a:gridCol w="2121408"/>
              </a:tblGrid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輸入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產出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閘門 / 卡點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discovery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需求文件 / RFP / 會議記錄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source、stakeholders、story、統一語言、KPI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無來源就 ASK，不腦補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behavior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discovery 產物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高階 Gherkin (*.feature)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禁技術語彙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modeling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需求 + 行為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DBML、glossary、seeds、constraints、haARM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模糊詞變 CiC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clarify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所有 CiC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決策回寫 SSoT + decision log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GAP 不自填、CON 需裁決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intent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規格 + 決策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haAPI、haPDL（Worker 渲染）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Worker 不推斷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verify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全部 DSL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跨 DSL 一致性報告 (dsl-lint)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唯讀，修正交 reconcile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守門點 與 預期產出樹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17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63040"/>
            <a:ext cx="512064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463040"/>
            <a:ext cx="82296" cy="1280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463040"/>
            <a:ext cx="4663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出口閘門範例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discovery 若仍有未解的高嚴重度衝突，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5A4E"/>
                </a:solidFill>
                <a:latin typeface="Microsoft JhengHei"/>
              </a:rPr>
              <a:t>不准進入 behavior。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→ 問題越早被逼出來越好。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257800" cy="448056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27632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.raptor/  arguments.yml session.md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discovery/  01-stakeholders.md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            02-story-index.md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            03-ubiquitous-language.md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high-gherkin/  order.feature ...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schema/  ecommerce.dbml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access-control/  *.haarm.yaml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backend-intent/  *.haapi.yaml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frontend-intent/ *.hapdl.yaml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4EE"/>
                </a:solidFill>
                <a:latin typeface="Consolas"/>
              </a:rPr>
              <a:t> reports/  verify-report.md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5120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右邊這棵樹，是下午電商案例會實際長出來的完整產物——你會親眼看到它被生成。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中場休息 ｜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休息一下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回來回答：這套讓 AI 參與的流程，憑什麼值得信任？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4 ｜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治理三支柱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AI 會不會亂填亂改？答案：合約、便條、評分三層防呆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支柱一：Planner / Worker 合約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20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463040"/>
          <a:ext cx="1060703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3548"/>
                <a:gridCol w="5303520"/>
                <a:gridCol w="2969971"/>
              </a:tblGrid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職責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能不能猜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Planner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決策、協調、可 ASK、可記 CiC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由它把問題路由給人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Worker (rapt-form-*)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純渲染，套格式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不推斷、不填補、不擴展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3794760"/>
            <a:ext cx="10607040" cy="17373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3794760"/>
            <a:ext cx="82296" cy="17373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794760"/>
            <a:ext cx="101498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Payload 合約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Worker 只能寫指定的 target_path；每個輸出必須附 source_evidence（這值從哪來）。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追不到來源的值 → 不准硬填，先記 CiC。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五大執行原則 與 Verb 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21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63040"/>
            <a:ext cx="73152" cy="4389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417320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CWD 錨點</a:t>
            </a:r>
            <a:r>
              <a:rPr sz="1250" b="0">
                <a:solidFill>
                  <a:srgbClr val="262E3A"/>
                </a:solidFill>
                <a:latin typeface="Microsoft JhengHei"/>
              </a:rPr>
              <a:t>　產物只落在當次工作目錄，不亂寫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66543"/>
            <a:ext cx="73152" cy="4389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20824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Artifact Output Contract</a:t>
            </a:r>
            <a:r>
              <a:rPr sz="1250" b="0">
                <a:solidFill>
                  <a:srgbClr val="262E3A"/>
                </a:solidFill>
                <a:latin typeface="Microsoft JhengHei"/>
              </a:rPr>
              <a:t>　只能寫合約授權的檔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70048"/>
            <a:ext cx="73152" cy="4389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24328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Strict SOP</a:t>
            </a:r>
            <a:r>
              <a:rPr sz="1250" b="0">
                <a:solidFill>
                  <a:srgbClr val="262E3A"/>
                </a:solidFill>
                <a:latin typeface="Microsoft JhengHei"/>
              </a:rPr>
              <a:t>　嚴格照步驟，不自行增步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73552"/>
            <a:ext cx="73152" cy="4389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27832"/>
            <a:ext cx="10241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Deny-by-default 寫入</a:t>
            </a:r>
            <a:r>
              <a:rPr sz="1250" b="0">
                <a:solidFill>
                  <a:srgbClr val="262E3A"/>
                </a:solidFill>
                <a:latin typeface="Microsoft JhengHei"/>
              </a:rPr>
              <a:t>　預設禁止寫入，授權才能寫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114800"/>
            <a:ext cx="10607040" cy="1645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4114800"/>
            <a:ext cx="82296" cy="1645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14800"/>
            <a:ext cx="101498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Verb 系統：D 類（READ/DERIVE…不停）、S 類（CREATE/WRITE…不停）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C05A4E"/>
                </a:solidFill>
                <a:latin typeface="Microsoft JhengHei"/>
              </a:rPr>
              <a:t>只有一個動詞會讓流程停下來等你 ── ASK。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除非明文要問你，否則它不會偷偷等、也不會自己猜了往下衝。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支柱二：CiC 便條 — 四種類型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22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08760"/>
          <a:ext cx="1060703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985"/>
                <a:gridCol w="4879238"/>
                <a:gridCol w="4242816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類型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觸發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處理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GAP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資訊缺失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必須由人回答，不自填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ASM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做了假設，來源不確定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請人確認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BDY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超出本 skill 授權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轉 reconcile / clarify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B2A41"/>
                          </a:solidFill>
                          <a:latin typeface="Microsoft JhengHei"/>
                        </a:rPr>
                        <a:t>CON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兩個來源衝突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62E3A"/>
                          </a:solidFill>
                          <a:latin typeface="Microsoft JhengHei"/>
                        </a:rPr>
                        <a:t>必須由人裁決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4069080"/>
            <a:ext cx="10607040" cy="15544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4069080"/>
            <a:ext cx="82296" cy="1554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06908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C05A4E"/>
                </a:solidFill>
                <a:latin typeface="Microsoft JhengHei"/>
              </a:rPr>
              <a:t>鐵律：GAP 不准自己填、CON 一定要人裁決。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這就是『AI 會不會亂猜』最直接的答案 —— 遇到沒決定的事，它留便條，不猜。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CiC 生命週期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23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10972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DE4EE"/>
                </a:solidFill>
                <a:latin typeface="Consolas"/>
              </a:rPr>
              <a:t> EMIT → COLLECT → PACKAGE → SESSION(ASK) → APPLY(回寫SSoT) → CLOSE(決策紀錄)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017520"/>
            <a:ext cx="10607040" cy="1463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3017520"/>
            <a:ext cx="82296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017520"/>
            <a:ext cx="101498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真實例子（折扣層級不明）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modeling 發現 discountRate 是訂單層還商品層不清 → 記 CiC GAP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→ clarify session 問 PO → 答案回寫 glossary → CLOSE 留決策紀錄。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75488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整條鏈，每一步都留痕——這就是可追溯性。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支柱三：RAscore — 規格成熟度評分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371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0–3 分 × 七維度，作為進入下游生成前的品質閘門：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" y="1874519"/>
          <a:ext cx="10607034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7126"/>
                <a:gridCol w="1272844"/>
                <a:gridCol w="1272844"/>
                <a:gridCol w="1272844"/>
                <a:gridCol w="1272844"/>
                <a:gridCol w="1272844"/>
                <a:gridCol w="1272844"/>
                <a:gridCol w="1272844"/>
              </a:tblGrid>
              <a:tr h="105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維度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A 覆蓋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B Gherkin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C DBML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D 跨規格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E 追溯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F 生成備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G 流程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權重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20%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18%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14%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24%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14%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7%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3%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6384" y="4206240"/>
            <a:ext cx="10607040" cy="14630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4206240"/>
            <a:ext cx="82296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206240"/>
            <a:ext cx="101498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否決條件：關鍵維度掛蛋直接降級；總分對應 A–D。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低於 50 分（D）→ 這份規格不該拿去生成下游。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用法：持續守門，不是事後打分交差。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5 ｜ 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實作工作坊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ecommerce-minimal：把模糊需求跑成可驗證規格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練習資料：最小電商案例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26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73152" cy="7040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46304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三個角色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客戶 Customer / 店員 Staff / 管理員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39"/>
            <a:ext cx="73152" cy="7040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六個業務事件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加購物車 → 結帳 → 付款 → 出貨 → 申請退款 → 審核退款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73152" cy="7040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0040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B2A41"/>
                </a:solidFill>
                <a:latin typeface="Microsoft JhengHei"/>
              </a:rPr>
              <a:t>三個刻意模糊的規則 ⚠️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　折扣算哪層 / 誰能審退款 / 庫存何時扣減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434840"/>
            <a:ext cx="10607040" cy="11887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4434840"/>
            <a:ext cx="82296" cy="1188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3484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看好那三個模糊點 ——</a:t>
            </a:r>
            <a:r>
              <a:rPr sz="1450" b="1">
                <a:solidFill>
                  <a:srgbClr val="1B2A41"/>
                </a:solidFill>
                <a:latin typeface="Microsoft JhengHei"/>
              </a:rPr>
              <a:t>等一下跑到 modeling，它們會自動變成 CiC 便條跳出來。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3A0"/>
                </a:solidFill>
                <a:latin typeface="Consolas"/>
              </a:rPr>
              <a:t>資料集：.tests/ecommerce-minimal/before/input.md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跑一遍（講師 demo + 學員跟做）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27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463040"/>
          <a:ext cx="106070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0704"/>
                <a:gridCol w="4242816"/>
                <a:gridCol w="5303520"/>
              </a:tblGrid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步驟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觀察重點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/rapt-kickoff 初始化、貼入需求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產生 .raptor/ 與 session.md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跑 discovery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stakeholders / story / 統一語言被抽出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跑 behavior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高階 Gherkin —— 檢查有無技術語彙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跑 modeling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DBML+glossary+haARM；三個模糊規則 → CiC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跑 clarify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親身體驗 ASK：當 PO 回答『折扣算訂單層』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B2A41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跑 intent + verify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62E3A"/>
                          </a:solidFill>
                          <a:latin typeface="Microsoft JhengHei"/>
                        </a:rPr>
                        <a:t>haAPI/haPDL 生成 → 跨 DSL lint 全綠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兩個關鍵演示橋段（今天的證據）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28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645920"/>
            <a:ext cx="1060704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645920"/>
            <a:ext cx="82296" cy="17373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498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B2A41"/>
                </a:solidFill>
                <a:latin typeface="Microsoft JhengHei"/>
              </a:rPr>
              <a:t>橋段一：故意不回答某個 GAP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→ 流程停住，停在 ASK 等你。它不會自己猜一個答案往下衝。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（呼應 L4：只有 ASK 會 yield）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3657600"/>
            <a:ext cx="1060704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657600"/>
            <a:ext cx="82296" cy="173736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57600"/>
            <a:ext cx="101498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B2A41"/>
                </a:solidFill>
                <a:latin typeface="Microsoft JhengHei"/>
              </a:rPr>
              <a:t>橋段二：故意改壞一個引用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把 haPDL 的 api: 指到不存在的 id → 跑 verify → 當場 FAIL。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（呼應 L2 小考：改表名會牽動什麼，的自動版）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31720"/>
            <a:ext cx="12801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48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Lesson 6 ｜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角色落地 +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611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你明天能做什麼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五角色 cheat sheet（你的帶走物）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30 / 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371600"/>
          <a:ext cx="1060703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0704"/>
                <a:gridCol w="2757830"/>
                <a:gridCol w="3606393"/>
                <a:gridCol w="3182112"/>
              </a:tblGrid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管線位置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該交付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該審查</a:t>
                      </a:r>
                    </a:p>
                  </a:txBody>
                  <a:tcPr marL="91440" marR="73152" marT="36576" marB="36576" anchor="ctr">
                    <a:solidFill>
                      <a:srgbClr val="1B2A4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PO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discovery / clarify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願景KPI、優先序、衝突裁決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RAscore A/E、CON 裁決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BA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discovery / behavior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source整理、統一語言、高階Gherkin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CiC GAP/ASM、需求覆蓋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SA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modeling / intent / verify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DBML、haARM、跨層一致性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引用方向、棄用欄位、verify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RD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intent / reconcile / codegen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haAPI/haPDL 落實、機械修正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Payload 合約、source_evidence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B2A41"/>
                          </a:solidFill>
                          <a:latin typeface="Microsoft JhengHei"/>
                        </a:rPr>
                        <a:t>QA</a:t>
                      </a:r>
                    </a:p>
                  </a:txBody>
                  <a:tcPr marL="91440"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behavior / verify / RAscore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反例 → Gherkin 回歸場景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62E3A"/>
                          </a:solidFill>
                          <a:latin typeface="Microsoft JhengHei"/>
                        </a:rPr>
                        <a:t>可驗證性、Then 可斷言</a:t>
                      </a:r>
                    </a:p>
                  </a:txBody>
                  <a:tcPr marL="91440" marR="73152" marT="36576" marB="36576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共同守則 與 三句話帶走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31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63040"/>
            <a:ext cx="1060704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463040"/>
            <a:ext cx="8229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46304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共同守則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不手改生成物　·　規格才是真相　·　自己決定的事都要留 CiC / 決策紀錄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7315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200400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規格是單一事實來源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下游從它生成，不反向手改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7315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023360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歧見越早變成反例越好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便宜、可討論、可裁決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92040"/>
            <a:ext cx="7315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846320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該由人決定的事，不讓工具偷渡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　這是整套流程值得信任的根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下一步 與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L6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32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3152" cy="58521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554480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入門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　course_script.md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50008"/>
            <a:ext cx="73152" cy="58521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各子專案快速入門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　haPDL/QUICKSTART、PageDL/README、DSL QUICK-REFERENCE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5"/>
            <a:ext cx="73152" cy="58521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054096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流程細節</a:t>
            </a:r>
            <a:r>
              <a:rPr sz="1300" b="0">
                <a:solidFill>
                  <a:srgbClr val="262E3A"/>
                </a:solidFill>
                <a:latin typeface="Microsoft JhengHei"/>
              </a:rPr>
              <a:t>　rapt-* 各 skill 的 SOP 與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114800"/>
            <a:ext cx="10607040" cy="15544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4114800"/>
            <a:ext cx="82296" cy="15544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14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回收開場痛點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C05A4E"/>
                </a:solidFill>
                <a:latin typeface="Microsoft JhengHei"/>
              </a:rPr>
              <a:t>還記得開場你記住的那個失真例子嗎？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2E3A"/>
                </a:solidFill>
                <a:latin typeface="Microsoft JhengHei"/>
              </a:rPr>
              <a:t>說出來，我們一起看 RAPT 哪個機制會接住它。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8978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謝謝大家。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