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0:00–0:30｜開場</a:t>
            </a:r>
          </a:p>
          <a:p>
            <a:r>
              <a:t>等一下大家會親手把需求導成規格，再交給 codegen。開始前，我想先講一個更基本的問題：當我們說『需求已確認』，到底是哪一件事被確認了？今天我用一個圖書館活動候補的故事，帶大家走完這條路。</a:t>
            </a:r>
          </a:p>
          <a:p>
            <a:r>
              <a:t>轉場：故事從手機跳出一則通知開始。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0:30–1:50｜故事張力</a:t>
            </a:r>
          </a:p>
          <a:p>
            <a:r>
              <a:t>想像你替孩子報名熱門活動，原本排候補。某天收到『您已由候補轉為正取』，你只在意一件事：我們現在能去了。但館員會問：是誰按的？第一順位怎麼算？如果兩位館員同時操作呢？通知失敗怎麼辦？分館館員能不能動總館名單？</a:t>
            </a:r>
          </a:p>
          <a:p>
            <a:r>
              <a:t>真正的風險不是沒有人努力，而是每個人腦中那部電影不一樣。說完後停兩秒。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1:50–3:20｜理解分叉</a:t>
            </a:r>
          </a:p>
          <a:p>
            <a:r>
              <a:t>傳統做法常把這六個問題塞進一份 Word，或散落在會議記錄、聊天訊息與工程師腦中。文件很多，但沒有一份能回答：如果其中一個答案改了，其他五個是否一起改對？hyrapt 的選擇，是讓每種問題都有自己的權威契約，再用可檢查的引用把它們串起來。</a:t>
            </a:r>
          </a:p>
          <a:p>
            <a:r>
              <a:t>生活化比喻：餐廳不會把所有事情寫在同一張便利貼，但它們必須指向同一張訂單。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3:20–4:50｜方法轉折</a:t>
            </a:r>
          </a:p>
          <a:p>
            <a:r>
              <a:t>這條線的重點不是 phase 多，而是每一步都留下可以 diff、lint、trace、review 的檔案。需求不再只是某次會議的回憶，而是像程式碼一樣有版本、有 owner、有 gate。AI 可以幫忙推導，但遇到 GAP、假設或衝突，就必須把問題交還給人，不能偷偷補答案。</a:t>
            </a:r>
          </a:p>
          <a:p>
            <a:r>
              <a:t>必講邊界：右邊生成出來的畫面與 OpenAPI 可以重建，所以它們是 generated artifact；真正的需求權威仍在左邊的 SSoT。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4:50–6:30｜核心契約</a:t>
            </a:r>
          </a:p>
          <a:p>
            <a:r>
              <a:t>Single Source of Truth 不是『全系統只有一個檔案』。它是每種語意只有一個 owner：資料欄位只由 DBML 定義，權限只由 haARM 定義，行為只由 haBDD 定義。haAPI 和 haPDL 只能引用，不能各自發明第二套真相。</a:t>
            </a:r>
          </a:p>
          <a:p>
            <a:r>
              <a:t>Supporting SSoT 還有 discovery、glossary、seeds、constraints、traceability 與 impact matrix；verify report、RAscore、preview audit、MAR events 則是治理證據，不是需求來源。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6:30–8:10｜實際專案片段</a:t>
            </a:r>
          </a:p>
          <a:p>
            <a:r>
              <a:t>注意，這不是把同一句話複製六次。每份契約補的是不同責任：DBML 說狀態放哪裡；haARM 說分館只能動 department scope；haAPI 說批次遞補採 partial success；haPDL 說成功與略過清單要在 modal 裡分開顯示。最重要的是，每段都有 source evidence 回到 SCN-WL-001。</a:t>
            </a:r>
          </a:p>
          <a:p>
            <a:r>
              <a:t>可補充真實細節：registration-list.hapdl.yaml 的 PARTIAL_BATCH_RESULT 會分別顯示 succeeded 與 skipped 清單。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8:10–9:30｜信任轉折</a:t>
            </a:r>
          </a:p>
          <a:p>
            <a:r>
              <a:t>我們很容易被『畫面生出來了』說服。但生成只證明 converter 跑完，不證明需求是對的。今天的真實專案就是好例子：核心 completeness、consistency、traceability、coverage 都 PASS，但目前 overall verify 仍是 PARTIAL，因為 preview audit、RAscore、risk quality gates 還有債務，而且部分報告已 stale。</a:t>
            </a:r>
          </a:p>
          <a:p>
            <a:r>
              <a:t>收束：Spec-as-Code 管我們承諾了什麼；MAR 管這份承諾如何形成、是否被確認、最後有沒有變好。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9:30–10:40｜MAR 核心原則</a:t>
            </a:r>
          </a:p>
          <a:p>
            <a:r>
              <a:t>MAR 不是拿來排誰比較快，也不是把所有人變成 KPI。它比較像健身紀錄：如果沒有同一把尺、沒有起始值、沒有日期與來源，就不能只憑今天體重少一公斤宣稱方法有效。它要求 evidence 大於故事、unknown 不等於 0、不同 dictionary version 不硬畫在同一條趨勢線，而且 goodhart_policy 明確禁止個人排名。</a:t>
            </a:r>
          </a:p>
          <a:p>
            <a:r>
              <a:t>本 repo 未正式定義 MAR 三個字母的英文全名，簡報不要自行展開縮寫。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10:40–12:00｜教學分組</a:t>
            </a:r>
          </a:p>
          <a:p>
            <a:r>
              <a:t>正式 contracts 明定的是三個 MAR gates。為了教學，我把 MAR 生命週期濃縮成三個動詞：先定義，再留痕，最後學習。它不是在專案尾聲補一張報表；kickoff 時就要先問：我們到底想知道什麼？執行中由 phase gate 自動留下事件；回讀時把簽核綁定到 exact source hash；結案才有資格比較 baseline，並把 finding 送到下一輪改善。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12:00–13:10｜Workflow 1</a:t>
            </a:r>
          </a:p>
          <a:p>
            <a:r>
              <a:t>這個片段很誠實：問題已經選了，但 baseline 還 not-ready、confidence 是 low、validation meeting 還 pending。所以 MAR 不允許我們拿後面的數字宣稱『RAPTor 已讓這個專案改善多少』。承認不知道，是治理成熟，不是丟臉。</a:t>
            </a:r>
          </a:p>
          <a:p>
            <a:r>
              <a:t>這一步具體做：凍結 metric dictionary 與版本；選最多三個 Measurement Questions；記錄 baseline comparability、confidence 與 validation evidence；版本化 threshold 與禁止個人排名的 Goodhart policy。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13:10–14:30｜Workflow 2</a:t>
            </a:r>
          </a:p>
          <a:p>
            <a:r>
              <a:t>events.jsonl 是 append-only：新事實往後加，不把歷史重寫成比較好看的版本。Playback 先把這次要確認的 60 個 element 與 source hash 凍結；signoff 只接受結構化 CSV／JSON。hash 不符、element 越界、result 非法，整批 fail-closed。這跟 code review 綁 commit SHA 是同一個觀念。</a:t>
            </a:r>
          </a:p>
          <a:p>
            <a:r>
              <a:t>這一步具體做：phase gate append 事件；Playback 產業務回讀稿；Signoff 綁定 session、element 與 source hash；報表只讀機器格式，不 parse Markdown 猜數字。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14:30–15:30｜Workflow 3</a:t>
            </a:r>
          </a:p>
          <a:p>
            <a:r>
              <a:t>Closeout 不是慶功報告，而是 read-only settlement。它不回填歷史、不碰 SSoT，只回答：資料完整嗎？能比較嗎？簽核齊嗎？哪些 finding 要現在修、延期且有 owner、接受風險，或變成可重用資產？如果 baseline 不完整或 events 為空，它就只能說 partial 或 blocked。</a:t>
            </a:r>
          </a:p>
          <a:p>
            <a:r>
              <a:t>收束句：MAR 的成熟，不是量得多；是知道什麼不能被數字假裝知道。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15:30–19:00｜Live demo 劇本</a:t>
            </a:r>
          </a:p>
          <a:p>
            <a:r>
              <a:t>0:00–0:35 開啟 waitlist-promotion.ha.feature 的 SCN-WL-001：這裡沒有 HTTP、沒有 selector，業務方可以直接說對或不對。</a:t>
            </a:r>
          </a:p>
          <a:p>
            <a:r>
              <a:t>0:35–1:25 在 Projects/hcplAct 執行投影片上的 preview 指令。重點看輸出的 registration-list.vue、mock JSON、service、route。</a:t>
            </a:r>
          </a:p>
          <a:p>
            <a:r>
              <a:t>1:25–2:10 打開 http://127.0.0.1:8089/#registration-list，指出報名名單頁與操作意圖。畫面不對，不手改 HTML；回到 haPDL 或上游行為再生成。</a:t>
            </a:r>
          </a:p>
          <a:p>
            <a:r>
              <a:t>2:10–2:55 跳到 docs/generate/openapi/openapi.yaml 約第 3029 行，展示 POST /registration/{id}/promote、roles 與 permissions。</a:t>
            </a:r>
          </a:p>
          <a:p>
            <a:r>
              <a:t>2:55–3:30 跳到 verify-report.yml summary：核心四項 PASS，但 overall 仍 PARTIAL。</a:t>
            </a:r>
          </a:p>
          <a:p>
            <a:r>
              <a:t>技術備註：目前 tool-hyVuePrototype 的 HAARM enrichment 固定尋找 smallBiz.haarm.yaml，因此本次加 --with-haarm false；權限在 OpenAPI 片段展示。若 loader 已修正，移除此參數。</a:t>
            </a:r>
          </a:p>
          <a:p>
            <a:r>
              <a:t>後端邊界：本場 intro 展示 haAPI → OpenAPI 契約預覽；正式 Java／TypeScript／Python 後端實作使用 T00 當天準備的 codegen 與目標專案模板。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19:00–20:00｜收尾並直接切實作</a:t>
            </a:r>
          </a:p>
          <a:p>
            <a:r>
              <a:t>等一下你們會把自己的案例放進這條線。先不用記住所有 skill 名稱，只要記住四件事：行為要讓業務能說對錯；資料與權限只能各有一個真相；生成物不是規格本身；沒有 evidence 的完成，不算完成。現在，我們來走第一次。</a:t>
            </a:r>
          </a:p>
          <a:p>
            <a:r>
              <a:t>不要加 Q&amp;A 頁；直接由這張切到 T00 實作環境，保持行動動能。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111F"/>
            </a:gs>
            <a:gs pos="100000">
              <a:srgbClr val="0B2135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-accent">
            <a:extLst>
              <a:ext uri="{FF2B5EF4-FFF2-40B4-BE49-F238E27FC236}">
                <a16:creationId xmlns:a16="http://schemas.microsoft.com/office/drawing/2014/main" id="{3FC365E1-A8AF-4529-AA08-A6207347CF3E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14300" cy="37147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title-kicker">
            <a:extLst>
              <a:ext uri="{FF2B5EF4-FFF2-40B4-BE49-F238E27FC236}">
                <a16:creationId xmlns:a16="http://schemas.microsoft.com/office/drawing/2014/main" id="{D74D7DD4-B424-46C0-B5FB-3908F31A8F44}"/>
              </a:ext>
            </a:extLst>
          </p:cNvPr>
          <p:cNvSpPr>
            <a:spLocks noGrp="1"/>
          </p:cNvSpPr>
          <p:nvPr/>
        </p:nvSpPr>
        <p:spPr>
          <a:xfrm>
            <a:off x="1066800" y="1047750"/>
            <a:ext cx="609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5D0BA"/>
                </a:solidFill>
              </a:defRPr>
            </a:pPr>
            <a:r>
              <a:rPr sz="1350" b="1">
                <a:solidFill>
                  <a:srgbClr val="35D0BA"/>
                </a:solidFill>
                <a:latin typeface="Microsoft JhengHei"/>
                <a:ea typeface="Microsoft JhengHei"/>
                <a:cs typeface="Microsoft JhengHei"/>
              </a:rPr>
              <a:t>2026 / 07 / 16 · T00 hyrapt 實戰</a:t>
            </a:r>
          </a:p>
        </p:txBody>
      </p:sp>
      <p:sp>
        <p:nvSpPr>
          <p:cNvPr id="3" name="deck-title">
            <a:extLst>
              <a:ext uri="{FF2B5EF4-FFF2-40B4-BE49-F238E27FC236}">
                <a16:creationId xmlns:a16="http://schemas.microsoft.com/office/drawing/2014/main" id="{5186E083-F741-4D6D-8685-C548009D727C}"/>
              </a:ext>
            </a:extLst>
          </p:cNvPr>
          <p:cNvSpPr>
            <a:spLocks noGrp="1"/>
          </p:cNvSpPr>
          <p:nvPr/>
        </p:nvSpPr>
        <p:spPr>
          <a:xfrm>
            <a:off x="1066800" y="1676400"/>
            <a:ext cx="781050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100" b="1">
                <a:solidFill>
                  <a:srgbClr val="F5F3EA"/>
                </a:solidFill>
              </a:defRPr>
            </a:pPr>
            <a:r>
              <a:rPr sz="5100" b="1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把一句需求，</a:t>
            </a:r>
          </a:p>
          <a:p>
            <a:pPr algn="l">
              <a:defRPr sz="5100" b="1">
                <a:solidFill>
                  <a:srgbClr val="F5F3EA"/>
                </a:solidFill>
              </a:defRPr>
            </a:pPr>
            <a:r>
              <a:rPr sz="5100" b="1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變成全隊可執行的承諾</a:t>
            </a:r>
          </a:p>
        </p:txBody>
      </p:sp>
      <p:sp>
        <p:nvSpPr>
          <p:cNvPr id="4" name="deck-subtitle">
            <a:extLst>
              <a:ext uri="{FF2B5EF4-FFF2-40B4-BE49-F238E27FC236}">
                <a16:creationId xmlns:a16="http://schemas.microsoft.com/office/drawing/2014/main" id="{8F9E5E53-9608-4294-9719-70EBDFCC8B6A}"/>
              </a:ext>
            </a:extLst>
          </p:cNvPr>
          <p:cNvSpPr>
            <a:spLocks noGrp="1"/>
          </p:cNvSpPr>
          <p:nvPr/>
        </p:nvSpPr>
        <p:spPr>
          <a:xfrm>
            <a:off x="1104900" y="3848100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A7B7C7"/>
                </a:solidFill>
              </a:defRPr>
            </a:pPr>
            <a:r>
              <a:rPr sz="2100" b="0">
                <a:solidFill>
                  <a:srgbClr val="A7B7C7"/>
                </a:solidFill>
                <a:latin typeface="Microsoft JhengHei"/>
                <a:ea typeface="Microsoft JhengHei"/>
                <a:cs typeface="Microsoft JhengHei"/>
              </a:rPr>
              <a:t>hyrapt Spec-as-Code × MAR × RAPTor Codegen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90DDF00D-8BE7-468C-8B47-4482E2D21E93}"/>
              </a:ext>
            </a:extLst>
          </p:cNvPr>
          <p:cNvSpPr>
            <a:spLocks noGrp="1"/>
          </p:cNvSpPr>
          <p:nvPr/>
        </p:nvSpPr>
        <p:spPr>
          <a:xfrm>
            <a:off x="1104900" y="4457700"/>
            <a:ext cx="2857500" cy="0"/>
          </a:xfrm>
          <a:prstGeom prst="line">
            <a:avLst/>
          </a:prstGeom>
          <a:solidFill>
            <a:srgbClr val="000000">
              <a:alpha val="0"/>
            </a:srgbClr>
          </a:solidFill>
          <a:ln w="38100">
            <a:solidFill>
              <a:srgbClr val="F5B8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itle-thesis">
            <a:extLst>
              <a:ext uri="{FF2B5EF4-FFF2-40B4-BE49-F238E27FC236}">
                <a16:creationId xmlns:a16="http://schemas.microsoft.com/office/drawing/2014/main" id="{EBAE9B0F-2611-4B80-B3F5-D10B0270B819}"/>
              </a:ext>
            </a:extLst>
          </p:cNvPr>
          <p:cNvSpPr>
            <a:spLocks noGrp="1"/>
          </p:cNvSpPr>
          <p:nvPr/>
        </p:nvSpPr>
        <p:spPr>
          <a:xfrm>
            <a:off x="7239000" y="4476750"/>
            <a:ext cx="41910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今天的主角不是 AI，</a:t>
            </a:r>
          </a:p>
          <a:p>
            <a:pPr algn="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是「我們到底答應了什麼」。</a:t>
            </a:r>
          </a:p>
        </p:txBody>
      </p:sp>
      <p:sp>
        <p:nvSpPr>
          <p:cNvPr id="7" name="title-duration">
            <a:extLst>
              <a:ext uri="{FF2B5EF4-FFF2-40B4-BE49-F238E27FC236}">
                <a16:creationId xmlns:a16="http://schemas.microsoft.com/office/drawing/2014/main" id="{99E9E308-F1E7-457B-B22E-447159975BF7}"/>
              </a:ext>
            </a:extLst>
          </p:cNvPr>
          <p:cNvSpPr>
            <a:spLocks noGrp="1"/>
          </p:cNvSpPr>
          <p:nvPr/>
        </p:nvSpPr>
        <p:spPr>
          <a:xfrm>
            <a:off x="1104900" y="58674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F8798"/>
                </a:solidFill>
              </a:defRPr>
            </a:pPr>
            <a:r>
              <a:rPr sz="1350" b="0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20 分鐘簡報＋Live Demo</a:t>
            </a:r>
          </a:p>
        </p:txBody>
      </p:sp>
      <p:sp>
        <p:nvSpPr>
          <p:cNvPr id="8" name="footer-1">
            <a:extLst>
              <a:ext uri="{FF2B5EF4-FFF2-40B4-BE49-F238E27FC236}">
                <a16:creationId xmlns:a16="http://schemas.microsoft.com/office/drawing/2014/main" id="{AFD257E7-7CB2-45D6-9B35-11187E09B942}"/>
              </a:ext>
            </a:extLst>
          </p:cNvPr>
          <p:cNvSpPr>
            <a:spLocks noGrp="1"/>
          </p:cNvSpPr>
          <p:nvPr/>
        </p:nvSpPr>
        <p:spPr>
          <a:xfrm>
            <a:off x="10096500" y="6362700"/>
            <a:ext cx="140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F8798"/>
                </a:solidFill>
              </a:defRPr>
            </a:pPr>
            <a:r>
              <a:rPr sz="1050" b="1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01  /  14</a:t>
            </a:r>
          </a:p>
        </p:txBody>
      </p:sp>
    </p:spTree>
    <p:extLst>
      <p:ext uri="{BB962C8B-B14F-4D97-AF65-F5344CB8AC3E}">
        <p14:creationId xmlns:p14="http://schemas.microsoft.com/office/powerpoint/2010/main" val="1659104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yebrow-2">
            <a:extLst>
              <a:ext uri="{FF2B5EF4-FFF2-40B4-BE49-F238E27FC236}">
                <a16:creationId xmlns:a16="http://schemas.microsoft.com/office/drawing/2014/main" id="{61BA0B0E-793D-4ABF-B36C-FBC05078BB2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D0BA"/>
                </a:solidFill>
              </a:defRPr>
            </a:pPr>
            <a:r>
              <a:rPr sz="1200" b="1">
                <a:solidFill>
                  <a:srgbClr val="35D0BA"/>
                </a:solidFill>
                <a:latin typeface="Microsoft JhengHei"/>
                <a:ea typeface="Microsoft JhengHei"/>
                <a:cs typeface="Microsoft JhengHei"/>
              </a:rPr>
              <a:t>hyrapt × T00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1043F477-19E2-41A2-9F29-A1E5DA41D381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525" b="1">
                <a:solidFill>
                  <a:srgbClr val="F5F3EA"/>
                </a:solidFill>
              </a:defRPr>
            </a:pPr>
            <a:r>
              <a:rPr sz="3525" b="1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一個名額空出來之後</a:t>
            </a:r>
          </a:p>
        </p:txBody>
      </p:sp>
      <p:sp>
        <p:nvSpPr>
          <p:cNvPr id="3" name="header-rule-2">
            <a:extLst>
              <a:ext uri="{FF2B5EF4-FFF2-40B4-BE49-F238E27FC236}">
                <a16:creationId xmlns:a16="http://schemas.microsoft.com/office/drawing/2014/main" id="{551B41A9-E420-4235-AAD5-0F8AEACE68A6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tory-line">
            <a:extLst>
              <a:ext uri="{FF2B5EF4-FFF2-40B4-BE49-F238E27FC236}">
                <a16:creationId xmlns:a16="http://schemas.microsoft.com/office/drawing/2014/main" id="{A03E2D62-D6C6-48B3-BCCC-D3A245DEFD4F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447675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900" b="1">
                <a:solidFill>
                  <a:srgbClr val="F5F3EA"/>
                </a:solidFill>
              </a:defRPr>
            </a:pPr>
            <a:r>
              <a:rPr sz="3900" b="1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對家長是一則訊息；</a:t>
            </a:r>
          </a:p>
          <a:p>
            <a:pPr algn="l">
              <a:defRPr sz="3900" b="1">
                <a:solidFill>
                  <a:srgbClr val="F5F3EA"/>
                </a:solidFill>
              </a:defRPr>
            </a:pPr>
            <a:r>
              <a:rPr sz="3900" b="1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對系統是一串承諾。</a:t>
            </a:r>
          </a:p>
        </p:txBody>
      </p:sp>
      <p:sp>
        <p:nvSpPr>
          <p:cNvPr id="5" name="story-small">
            <a:extLst>
              <a:ext uri="{FF2B5EF4-FFF2-40B4-BE49-F238E27FC236}">
                <a16:creationId xmlns:a16="http://schemas.microsoft.com/office/drawing/2014/main" id="{864BB366-0331-416B-8A18-97324D20A56F}"/>
              </a:ext>
            </a:extLst>
          </p:cNvPr>
          <p:cNvSpPr>
            <a:spLocks noGrp="1"/>
          </p:cNvSpPr>
          <p:nvPr/>
        </p:nvSpPr>
        <p:spPr>
          <a:xfrm>
            <a:off x="723900" y="3829050"/>
            <a:ext cx="4286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A7B7C7"/>
                </a:solidFill>
              </a:defRPr>
            </a:pPr>
            <a:r>
              <a:rPr sz="1800" b="0">
                <a:solidFill>
                  <a:srgbClr val="A7B7C7"/>
                </a:solidFill>
                <a:latin typeface="Microsoft JhengHei"/>
                <a:ea typeface="Microsoft JhengHei"/>
                <a:cs typeface="Microsoft JhengHei"/>
              </a:rPr>
              <a:t>生活裡的一個小動作，</a:t>
            </a:r>
          </a:p>
          <a:p>
            <a:pPr algn="l">
              <a:defRPr sz="1800" b="0">
                <a:solidFill>
                  <a:srgbClr val="A7B7C7"/>
                </a:solidFill>
              </a:defRPr>
            </a:pPr>
            <a:r>
              <a:rPr sz="1800" b="0">
                <a:solidFill>
                  <a:srgbClr val="A7B7C7"/>
                </a:solidFill>
                <a:latin typeface="Microsoft JhengHei"/>
                <a:ea typeface="Microsoft JhengHei"/>
                <a:cs typeface="Microsoft JhengHei"/>
              </a:rPr>
              <a:t>在系統裡同時牽動行為、資料、權限與通知。</a:t>
            </a:r>
          </a:p>
        </p:txBody>
      </p:sp>
      <p:sp>
        <p:nvSpPr>
          <p:cNvPr id="6" name="notification-shadow">
            <a:extLst>
              <a:ext uri="{FF2B5EF4-FFF2-40B4-BE49-F238E27FC236}">
                <a16:creationId xmlns:a16="http://schemas.microsoft.com/office/drawing/2014/main" id="{218AC67A-26BC-40FC-9C2B-AA446654E1C8}"/>
              </a:ext>
            </a:extLst>
          </p:cNvPr>
          <p:cNvSpPr>
            <a:spLocks noGrp="1"/>
          </p:cNvSpPr>
          <p:nvPr/>
        </p:nvSpPr>
        <p:spPr>
          <a:xfrm>
            <a:off x="6248400" y="2286000"/>
            <a:ext cx="4953000" cy="2209800"/>
          </a:xfrm>
          <a:prstGeom prst="roundRect">
            <a:avLst>
              <a:gd name="adj" fmla="val 6897"/>
            </a:avLst>
          </a:prstGeom>
          <a:solidFill>
            <a:srgbClr val="0D1D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8">
            <a:scrgbClr r="0" g="0" b="0"/>
          </a:effectRef>
          <a:fontRef idx="major"/>
        </p:style>
        <p:txBody>
          <a:bodyPr/>
          <a:lstStyle/>
          <a:p>
            <a:endParaRPr lang="zh-TW" altLang="en-US"/>
          </a:p>
        </p:txBody>
      </p:sp>
      <p:sp>
        <p:nvSpPr>
          <p:cNvPr id="7" name="notification-app">
            <a:extLst>
              <a:ext uri="{FF2B5EF4-FFF2-40B4-BE49-F238E27FC236}">
                <a16:creationId xmlns:a16="http://schemas.microsoft.com/office/drawing/2014/main" id="{4FE08039-3B22-46A2-8804-BD80043DEEC8}"/>
              </a:ext>
            </a:extLst>
          </p:cNvPr>
          <p:cNvSpPr>
            <a:spLocks noGrp="1"/>
          </p:cNvSpPr>
          <p:nvPr/>
        </p:nvSpPr>
        <p:spPr>
          <a:xfrm>
            <a:off x="6629400" y="26098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35D0BA"/>
                </a:solidFill>
              </a:defRPr>
            </a:pPr>
            <a:r>
              <a:rPr sz="1425" b="1">
                <a:solidFill>
                  <a:srgbClr val="35D0BA"/>
                </a:solidFill>
                <a:latin typeface="Microsoft JhengHei"/>
                <a:ea typeface="Microsoft JhengHei"/>
                <a:cs typeface="Microsoft JhengHei"/>
              </a:rPr>
              <a:t>親子活動通知</a:t>
            </a:r>
          </a:p>
        </p:txBody>
      </p:sp>
      <p:sp>
        <p:nvSpPr>
          <p:cNvPr id="8" name="notification-time">
            <a:extLst>
              <a:ext uri="{FF2B5EF4-FFF2-40B4-BE49-F238E27FC236}">
                <a16:creationId xmlns:a16="http://schemas.microsoft.com/office/drawing/2014/main" id="{D90E3014-8D0B-410C-AF0B-0653AF047DF5}"/>
              </a:ext>
            </a:extLst>
          </p:cNvPr>
          <p:cNvSpPr>
            <a:spLocks noGrp="1"/>
          </p:cNvSpPr>
          <p:nvPr/>
        </p:nvSpPr>
        <p:spPr>
          <a:xfrm>
            <a:off x="9925050" y="26289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6F8798"/>
                </a:solidFill>
              </a:defRPr>
            </a:pPr>
            <a:r>
              <a:rPr sz="1200" b="0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剛剛</a:t>
            </a:r>
          </a:p>
        </p:txBody>
      </p:sp>
      <p:sp>
        <p:nvSpPr>
          <p:cNvPr id="9" name="notification-message">
            <a:extLst>
              <a:ext uri="{FF2B5EF4-FFF2-40B4-BE49-F238E27FC236}">
                <a16:creationId xmlns:a16="http://schemas.microsoft.com/office/drawing/2014/main" id="{AF17D479-8C72-40DC-9D04-D9326A3EFEE4}"/>
              </a:ext>
            </a:extLst>
          </p:cNvPr>
          <p:cNvSpPr>
            <a:spLocks noGrp="1"/>
          </p:cNvSpPr>
          <p:nvPr/>
        </p:nvSpPr>
        <p:spPr>
          <a:xfrm>
            <a:off x="6629400" y="3124200"/>
            <a:ext cx="40957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您已由候補轉為正取</a:t>
            </a:r>
          </a:p>
          <a:p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請於期限內完成確認</a:t>
            </a:r>
          </a:p>
        </p:txBody>
      </p:sp>
      <p:sp>
        <p:nvSpPr>
          <p:cNvPr id="10" name="notification-question">
            <a:extLst>
              <a:ext uri="{FF2B5EF4-FFF2-40B4-BE49-F238E27FC236}">
                <a16:creationId xmlns:a16="http://schemas.microsoft.com/office/drawing/2014/main" id="{0E5965EB-56B1-4224-9903-3BF104E4F458}"/>
              </a:ext>
            </a:extLst>
          </p:cNvPr>
          <p:cNvSpPr>
            <a:spLocks noGrp="1"/>
          </p:cNvSpPr>
          <p:nvPr/>
        </p:nvSpPr>
        <p:spPr>
          <a:xfrm>
            <a:off x="6248400" y="5010150"/>
            <a:ext cx="495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F5B84B"/>
                </a:solidFill>
              </a:defRPr>
            </a:pPr>
            <a:r>
              <a:rPr sz="1725" b="1">
                <a:solidFill>
                  <a:srgbClr val="F5B84B"/>
                </a:solidFill>
                <a:latin typeface="Microsoft JhengHei"/>
                <a:ea typeface="Microsoft JhengHei"/>
                <a:cs typeface="Microsoft JhengHei"/>
              </a:rPr>
              <a:t>誰按的？第一順位怎麼算？通知失敗呢？</a:t>
            </a:r>
          </a:p>
        </p:txBody>
      </p:sp>
      <p:sp>
        <p:nvSpPr>
          <p:cNvPr id="11" name="source-2">
            <a:extLst>
              <a:ext uri="{FF2B5EF4-FFF2-40B4-BE49-F238E27FC236}">
                <a16:creationId xmlns:a16="http://schemas.microsoft.com/office/drawing/2014/main" id="{3B668A9B-AA6D-480B-8EF5-AF377788795A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904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F8798"/>
                </a:solidFill>
              </a:defRPr>
            </a:pPr>
            <a:r>
              <a:rPr sz="975" b="0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貫穿案例：Projects/hcplAct · 活動候補遞補</a:t>
            </a:r>
          </a:p>
        </p:txBody>
      </p:sp>
      <p:sp>
        <p:nvSpPr>
          <p:cNvPr id="12" name="footer-2">
            <a:extLst>
              <a:ext uri="{FF2B5EF4-FFF2-40B4-BE49-F238E27FC236}">
                <a16:creationId xmlns:a16="http://schemas.microsoft.com/office/drawing/2014/main" id="{027D1F69-4E0C-482C-9836-F88FC2710E12}"/>
              </a:ext>
            </a:extLst>
          </p:cNvPr>
          <p:cNvSpPr>
            <a:spLocks noGrp="1"/>
          </p:cNvSpPr>
          <p:nvPr/>
        </p:nvSpPr>
        <p:spPr>
          <a:xfrm>
            <a:off x="10096500" y="6362700"/>
            <a:ext cx="140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F8798"/>
                </a:solidFill>
              </a:defRPr>
            </a:pPr>
            <a:r>
              <a:rPr sz="1050" b="1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02  /  14</a:t>
            </a:r>
          </a:p>
        </p:txBody>
      </p:sp>
    </p:spTree>
    <p:extLst>
      <p:ext uri="{BB962C8B-B14F-4D97-AF65-F5344CB8AC3E}">
        <p14:creationId xmlns:p14="http://schemas.microsoft.com/office/powerpoint/2010/main" val="1726687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-3">
            <a:extLst>
              <a:ext uri="{FF2B5EF4-FFF2-40B4-BE49-F238E27FC236}">
                <a16:creationId xmlns:a16="http://schemas.microsoft.com/office/drawing/2014/main" id="{77D0C41B-9728-4D1D-89E5-141ED504A41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D0BA"/>
                </a:solidFill>
              </a:defRPr>
            </a:pPr>
            <a:r>
              <a:rPr sz="1200" b="1">
                <a:solidFill>
                  <a:srgbClr val="35D0BA"/>
                </a:solidFill>
                <a:latin typeface="Microsoft JhengHei"/>
                <a:ea typeface="Microsoft JhengHei"/>
                <a:cs typeface="Microsoft JhengHei"/>
              </a:rPr>
              <a:t>hyrapt × T00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9BE6ECBC-AD59-41DF-874A-86E54151A777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525" b="1">
                <a:solidFill>
                  <a:srgbClr val="F5F3EA"/>
                </a:solidFill>
              </a:defRPr>
            </a:pPr>
            <a:r>
              <a:rPr sz="3525" b="1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同一句話，六個人聽見六個版本</a:t>
            </a:r>
          </a:p>
        </p:txBody>
      </p:sp>
      <p:sp>
        <p:nvSpPr>
          <p:cNvPr id="3" name="header-rule-3">
            <a:extLst>
              <a:ext uri="{FF2B5EF4-FFF2-40B4-BE49-F238E27FC236}">
                <a16:creationId xmlns:a16="http://schemas.microsoft.com/office/drawing/2014/main" id="{9A3FD1AF-134B-4307-A0F8-12D8BB160E85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quote">
            <a:extLst>
              <a:ext uri="{FF2B5EF4-FFF2-40B4-BE49-F238E27FC236}">
                <a16:creationId xmlns:a16="http://schemas.microsoft.com/office/drawing/2014/main" id="{4BE2599A-0EEE-444E-B9BB-6606690101A8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104394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「正取取消後，把第一順位候補轉正，並通知他。」</a:t>
            </a:r>
          </a:p>
        </p:txBody>
      </p:sp>
      <p:sp>
        <p:nvSpPr>
          <p:cNvPr id="5" name="role-dot-0">
            <a:extLst>
              <a:ext uri="{FF2B5EF4-FFF2-40B4-BE49-F238E27FC236}">
                <a16:creationId xmlns:a16="http://schemas.microsoft.com/office/drawing/2014/main" id="{4FA5B6B9-BACD-4E31-9165-0BF364999E7A}"/>
              </a:ext>
            </a:extLst>
          </p:cNvPr>
          <p:cNvSpPr>
            <a:spLocks noGrp="1"/>
          </p:cNvSpPr>
          <p:nvPr/>
        </p:nvSpPr>
        <p:spPr>
          <a:xfrm>
            <a:off x="1238250" y="2743200"/>
            <a:ext cx="114300" cy="114300"/>
          </a:xfrm>
          <a:prstGeom prst="ellipse">
            <a:avLst/>
          </a:prstGeom>
          <a:solidFill>
            <a:srgbClr val="35D0B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ole-name-0">
            <a:extLst>
              <a:ext uri="{FF2B5EF4-FFF2-40B4-BE49-F238E27FC236}">
                <a16:creationId xmlns:a16="http://schemas.microsoft.com/office/drawing/2014/main" id="{116CE105-5EC8-4693-A688-5EB2DCB57C98}"/>
              </a:ext>
            </a:extLst>
          </p:cNvPr>
          <p:cNvSpPr>
            <a:spLocks noGrp="1"/>
          </p:cNvSpPr>
          <p:nvPr/>
        </p:nvSpPr>
        <p:spPr>
          <a:xfrm>
            <a:off x="1466850" y="2647950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5D0BA"/>
                </a:solidFill>
              </a:defRPr>
            </a:pPr>
            <a:r>
              <a:rPr sz="1650" b="1">
                <a:solidFill>
                  <a:srgbClr val="35D0BA"/>
                </a:solidFill>
                <a:latin typeface="Microsoft JhengHei"/>
                <a:ea typeface="Microsoft JhengHei"/>
                <a:cs typeface="Microsoft JhengHei"/>
              </a:rPr>
              <a:t>業務</a:t>
            </a:r>
          </a:p>
        </p:txBody>
      </p:sp>
      <p:sp>
        <p:nvSpPr>
          <p:cNvPr id="7" name="role-question-0">
            <a:extLst>
              <a:ext uri="{FF2B5EF4-FFF2-40B4-BE49-F238E27FC236}">
                <a16:creationId xmlns:a16="http://schemas.microsoft.com/office/drawing/2014/main" id="{2A322819-09EF-4451-8321-08DB1DF74F09}"/>
              </a:ext>
            </a:extLst>
          </p:cNvPr>
          <p:cNvSpPr>
            <a:spLocks noGrp="1"/>
          </p:cNvSpPr>
          <p:nvPr/>
        </p:nvSpPr>
        <p:spPr>
          <a:xfrm>
            <a:off x="2247900" y="2647950"/>
            <a:ext cx="3714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5F3EA"/>
                </a:solidFill>
              </a:defRPr>
            </a:pPr>
            <a:r>
              <a:rPr sz="1650" b="0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什麼情況下才算成功？</a:t>
            </a:r>
          </a:p>
        </p:txBody>
      </p:sp>
      <p:sp>
        <p:nvSpPr>
          <p:cNvPr id="8" name="role-dot-1">
            <a:extLst>
              <a:ext uri="{FF2B5EF4-FFF2-40B4-BE49-F238E27FC236}">
                <a16:creationId xmlns:a16="http://schemas.microsoft.com/office/drawing/2014/main" id="{3124F3C0-3103-4C6C-A965-69EBF8B4A345}"/>
              </a:ext>
            </a:extLst>
          </p:cNvPr>
          <p:cNvSpPr>
            <a:spLocks noGrp="1"/>
          </p:cNvSpPr>
          <p:nvPr/>
        </p:nvSpPr>
        <p:spPr>
          <a:xfrm>
            <a:off x="6524625" y="3295650"/>
            <a:ext cx="114300" cy="114300"/>
          </a:xfrm>
          <a:prstGeom prst="ellipse">
            <a:avLst/>
          </a:prstGeom>
          <a:solidFill>
            <a:srgbClr val="76E4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role-name-1">
            <a:extLst>
              <a:ext uri="{FF2B5EF4-FFF2-40B4-BE49-F238E27FC236}">
                <a16:creationId xmlns:a16="http://schemas.microsoft.com/office/drawing/2014/main" id="{18FA3471-283D-40EB-A033-A1AB45D28554}"/>
              </a:ext>
            </a:extLst>
          </p:cNvPr>
          <p:cNvSpPr>
            <a:spLocks noGrp="1"/>
          </p:cNvSpPr>
          <p:nvPr/>
        </p:nvSpPr>
        <p:spPr>
          <a:xfrm>
            <a:off x="6753225" y="3200400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76E4D6"/>
                </a:solidFill>
              </a:defRPr>
            </a:pPr>
            <a:r>
              <a:rPr sz="1650" b="1">
                <a:solidFill>
                  <a:srgbClr val="76E4D6"/>
                </a:solidFill>
                <a:latin typeface="Microsoft JhengHei"/>
                <a:ea typeface="Microsoft JhengHei"/>
                <a:cs typeface="Microsoft JhengHei"/>
              </a:rPr>
              <a:t>資料</a:t>
            </a:r>
          </a:p>
        </p:txBody>
      </p:sp>
      <p:sp>
        <p:nvSpPr>
          <p:cNvPr id="10" name="role-question-1">
            <a:extLst>
              <a:ext uri="{FF2B5EF4-FFF2-40B4-BE49-F238E27FC236}">
                <a16:creationId xmlns:a16="http://schemas.microsoft.com/office/drawing/2014/main" id="{79C94708-539E-4234-B860-79FF65115179}"/>
              </a:ext>
            </a:extLst>
          </p:cNvPr>
          <p:cNvSpPr>
            <a:spLocks noGrp="1"/>
          </p:cNvSpPr>
          <p:nvPr/>
        </p:nvSpPr>
        <p:spPr>
          <a:xfrm>
            <a:off x="7534275" y="3200400"/>
            <a:ext cx="3714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5F3EA"/>
                </a:solidFill>
              </a:defRPr>
            </a:pPr>
            <a:r>
              <a:rPr sz="1650" b="0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狀態與候補順位存在哪裡？</a:t>
            </a:r>
          </a:p>
        </p:txBody>
      </p:sp>
      <p:sp>
        <p:nvSpPr>
          <p:cNvPr id="11" name="role-dot-2">
            <a:extLst>
              <a:ext uri="{FF2B5EF4-FFF2-40B4-BE49-F238E27FC236}">
                <a16:creationId xmlns:a16="http://schemas.microsoft.com/office/drawing/2014/main" id="{7DDE7EE8-D2F8-477E-87CC-E1A1424C3F1D}"/>
              </a:ext>
            </a:extLst>
          </p:cNvPr>
          <p:cNvSpPr>
            <a:spLocks noGrp="1"/>
          </p:cNvSpPr>
          <p:nvPr/>
        </p:nvSpPr>
        <p:spPr>
          <a:xfrm>
            <a:off x="1238250" y="3848100"/>
            <a:ext cx="114300" cy="114300"/>
          </a:xfrm>
          <a:prstGeom prst="ellipse">
            <a:avLst/>
          </a:prstGeom>
          <a:solidFill>
            <a:srgbClr val="F5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role-name-2">
            <a:extLst>
              <a:ext uri="{FF2B5EF4-FFF2-40B4-BE49-F238E27FC236}">
                <a16:creationId xmlns:a16="http://schemas.microsoft.com/office/drawing/2014/main" id="{3A6FC03C-C4E7-46CB-9883-F37686496470}"/>
              </a:ext>
            </a:extLst>
          </p:cNvPr>
          <p:cNvSpPr>
            <a:spLocks noGrp="1"/>
          </p:cNvSpPr>
          <p:nvPr/>
        </p:nvSpPr>
        <p:spPr>
          <a:xfrm>
            <a:off x="1466850" y="3752850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5B84B"/>
                </a:solidFill>
              </a:defRPr>
            </a:pPr>
            <a:r>
              <a:rPr sz="1650" b="1">
                <a:solidFill>
                  <a:srgbClr val="F5B84B"/>
                </a:solidFill>
                <a:latin typeface="Microsoft JhengHei"/>
                <a:ea typeface="Microsoft JhengHei"/>
                <a:cs typeface="Microsoft JhengHei"/>
              </a:rPr>
              <a:t>權限</a:t>
            </a:r>
          </a:p>
        </p:txBody>
      </p:sp>
      <p:sp>
        <p:nvSpPr>
          <p:cNvPr id="13" name="role-question-2">
            <a:extLst>
              <a:ext uri="{FF2B5EF4-FFF2-40B4-BE49-F238E27FC236}">
                <a16:creationId xmlns:a16="http://schemas.microsoft.com/office/drawing/2014/main" id="{D9476CDD-02D4-4945-BBDE-1DB2BA76AA0D}"/>
              </a:ext>
            </a:extLst>
          </p:cNvPr>
          <p:cNvSpPr>
            <a:spLocks noGrp="1"/>
          </p:cNvSpPr>
          <p:nvPr/>
        </p:nvSpPr>
        <p:spPr>
          <a:xfrm>
            <a:off x="2247900" y="3752850"/>
            <a:ext cx="3714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5F3EA"/>
                </a:solidFill>
              </a:defRPr>
            </a:pPr>
            <a:r>
              <a:rPr sz="1650" b="0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誰能動全部、誰只能動分館？</a:t>
            </a:r>
          </a:p>
        </p:txBody>
      </p:sp>
      <p:sp>
        <p:nvSpPr>
          <p:cNvPr id="14" name="role-dot-3">
            <a:extLst>
              <a:ext uri="{FF2B5EF4-FFF2-40B4-BE49-F238E27FC236}">
                <a16:creationId xmlns:a16="http://schemas.microsoft.com/office/drawing/2014/main" id="{E35D27FE-1DD0-4E4C-BA2C-CCE86835DF3E}"/>
              </a:ext>
            </a:extLst>
          </p:cNvPr>
          <p:cNvSpPr>
            <a:spLocks noGrp="1"/>
          </p:cNvSpPr>
          <p:nvPr/>
        </p:nvSpPr>
        <p:spPr>
          <a:xfrm>
            <a:off x="6524625" y="4400550"/>
            <a:ext cx="114300" cy="114300"/>
          </a:xfrm>
          <a:prstGeom prst="ellipse">
            <a:avLst/>
          </a:prstGeom>
          <a:solidFill>
            <a:srgbClr val="5ED3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role-name-3">
            <a:extLst>
              <a:ext uri="{FF2B5EF4-FFF2-40B4-BE49-F238E27FC236}">
                <a16:creationId xmlns:a16="http://schemas.microsoft.com/office/drawing/2014/main" id="{F0FF4ADB-A600-4BDB-9F5B-E74303319F51}"/>
              </a:ext>
            </a:extLst>
          </p:cNvPr>
          <p:cNvSpPr>
            <a:spLocks noGrp="1"/>
          </p:cNvSpPr>
          <p:nvPr/>
        </p:nvSpPr>
        <p:spPr>
          <a:xfrm>
            <a:off x="6753225" y="4305300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5ED3A7"/>
                </a:solidFill>
              </a:defRPr>
            </a:pPr>
            <a:r>
              <a:rPr sz="1650" b="1">
                <a:solidFill>
                  <a:srgbClr val="5ED3A7"/>
                </a:solidFill>
                <a:latin typeface="Microsoft JhengHei"/>
                <a:ea typeface="Microsoft JhengHei"/>
                <a:cs typeface="Microsoft JhengHei"/>
              </a:rPr>
              <a:t>後端</a:t>
            </a:r>
          </a:p>
        </p:txBody>
      </p:sp>
      <p:sp>
        <p:nvSpPr>
          <p:cNvPr id="16" name="role-question-3">
            <a:extLst>
              <a:ext uri="{FF2B5EF4-FFF2-40B4-BE49-F238E27FC236}">
                <a16:creationId xmlns:a16="http://schemas.microsoft.com/office/drawing/2014/main" id="{51983BA6-9393-4338-B7C2-FE5671A46EFA}"/>
              </a:ext>
            </a:extLst>
          </p:cNvPr>
          <p:cNvSpPr>
            <a:spLocks noGrp="1"/>
          </p:cNvSpPr>
          <p:nvPr/>
        </p:nvSpPr>
        <p:spPr>
          <a:xfrm>
            <a:off x="7534275" y="4305300"/>
            <a:ext cx="3714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5F3EA"/>
                </a:solidFill>
              </a:defRPr>
            </a:pPr>
            <a:r>
              <a:rPr sz="1650" b="0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哪個 operation？重試會不會做兩次？</a:t>
            </a:r>
          </a:p>
        </p:txBody>
      </p:sp>
      <p:sp>
        <p:nvSpPr>
          <p:cNvPr id="17" name="role-dot-4">
            <a:extLst>
              <a:ext uri="{FF2B5EF4-FFF2-40B4-BE49-F238E27FC236}">
                <a16:creationId xmlns:a16="http://schemas.microsoft.com/office/drawing/2014/main" id="{D9C2FB64-12D5-4C9C-BF9C-ACAE775B7C73}"/>
              </a:ext>
            </a:extLst>
          </p:cNvPr>
          <p:cNvSpPr>
            <a:spLocks noGrp="1"/>
          </p:cNvSpPr>
          <p:nvPr/>
        </p:nvSpPr>
        <p:spPr>
          <a:xfrm>
            <a:off x="1238250" y="4953000"/>
            <a:ext cx="114300" cy="114300"/>
          </a:xfrm>
          <a:prstGeom prst="ellipse">
            <a:avLst/>
          </a:prstGeom>
          <a:solidFill>
            <a:srgbClr val="35D0B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role-name-4">
            <a:extLst>
              <a:ext uri="{FF2B5EF4-FFF2-40B4-BE49-F238E27FC236}">
                <a16:creationId xmlns:a16="http://schemas.microsoft.com/office/drawing/2014/main" id="{80EBEF94-ECAD-4384-9A16-A975016DE49F}"/>
              </a:ext>
            </a:extLst>
          </p:cNvPr>
          <p:cNvSpPr>
            <a:spLocks noGrp="1"/>
          </p:cNvSpPr>
          <p:nvPr/>
        </p:nvSpPr>
        <p:spPr>
          <a:xfrm>
            <a:off x="1466850" y="4857750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5D0BA"/>
                </a:solidFill>
              </a:defRPr>
            </a:pPr>
            <a:r>
              <a:rPr sz="1650" b="1">
                <a:solidFill>
                  <a:srgbClr val="35D0BA"/>
                </a:solidFill>
                <a:latin typeface="Microsoft JhengHei"/>
                <a:ea typeface="Microsoft JhengHei"/>
                <a:cs typeface="Microsoft JhengHei"/>
              </a:rPr>
              <a:t>前端</a:t>
            </a:r>
          </a:p>
        </p:txBody>
      </p:sp>
      <p:sp>
        <p:nvSpPr>
          <p:cNvPr id="19" name="role-question-4">
            <a:extLst>
              <a:ext uri="{FF2B5EF4-FFF2-40B4-BE49-F238E27FC236}">
                <a16:creationId xmlns:a16="http://schemas.microsoft.com/office/drawing/2014/main" id="{0609E042-6DD4-472B-9D68-8E9177581D62}"/>
              </a:ext>
            </a:extLst>
          </p:cNvPr>
          <p:cNvSpPr>
            <a:spLocks noGrp="1"/>
          </p:cNvSpPr>
          <p:nvPr/>
        </p:nvSpPr>
        <p:spPr>
          <a:xfrm>
            <a:off x="2247900" y="4857750"/>
            <a:ext cx="3714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5F3EA"/>
                </a:solidFill>
              </a:defRPr>
            </a:pPr>
            <a:r>
              <a:rPr sz="1650" b="0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按鈕在哪？部分成功怎麼顯示？</a:t>
            </a:r>
          </a:p>
        </p:txBody>
      </p:sp>
      <p:sp>
        <p:nvSpPr>
          <p:cNvPr id="20" name="role-dot-5">
            <a:extLst>
              <a:ext uri="{FF2B5EF4-FFF2-40B4-BE49-F238E27FC236}">
                <a16:creationId xmlns:a16="http://schemas.microsoft.com/office/drawing/2014/main" id="{C266A418-9A05-4EF5-B198-39DC6471C380}"/>
              </a:ext>
            </a:extLst>
          </p:cNvPr>
          <p:cNvSpPr>
            <a:spLocks noGrp="1"/>
          </p:cNvSpPr>
          <p:nvPr/>
        </p:nvSpPr>
        <p:spPr>
          <a:xfrm>
            <a:off x="6524625" y="5505450"/>
            <a:ext cx="114300" cy="114300"/>
          </a:xfrm>
          <a:prstGeom prst="ellipse">
            <a:avLst/>
          </a:prstGeom>
          <a:solidFill>
            <a:srgbClr val="F5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role-name-5">
            <a:extLst>
              <a:ext uri="{FF2B5EF4-FFF2-40B4-BE49-F238E27FC236}">
                <a16:creationId xmlns:a16="http://schemas.microsoft.com/office/drawing/2014/main" id="{F9498CFA-4E1F-42FC-9A0F-3EAB2CA75CC3}"/>
              </a:ext>
            </a:extLst>
          </p:cNvPr>
          <p:cNvSpPr>
            <a:spLocks noGrp="1"/>
          </p:cNvSpPr>
          <p:nvPr/>
        </p:nvSpPr>
        <p:spPr>
          <a:xfrm>
            <a:off x="6753225" y="5410200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5B84B"/>
                </a:solidFill>
              </a:defRPr>
            </a:pPr>
            <a:r>
              <a:rPr sz="1650" b="1">
                <a:solidFill>
                  <a:srgbClr val="F5B84B"/>
                </a:solidFill>
                <a:latin typeface="Microsoft JhengHei"/>
                <a:ea typeface="Microsoft JhengHei"/>
                <a:cs typeface="Microsoft JhengHei"/>
              </a:rPr>
              <a:t>導覽</a:t>
            </a:r>
          </a:p>
        </p:txBody>
      </p:sp>
      <p:sp>
        <p:nvSpPr>
          <p:cNvPr id="22" name="role-question-5">
            <a:extLst>
              <a:ext uri="{FF2B5EF4-FFF2-40B4-BE49-F238E27FC236}">
                <a16:creationId xmlns:a16="http://schemas.microsoft.com/office/drawing/2014/main" id="{1558B5E9-4B8B-4C32-8266-80B74625E66B}"/>
              </a:ext>
            </a:extLst>
          </p:cNvPr>
          <p:cNvSpPr>
            <a:spLocks noGrp="1"/>
          </p:cNvSpPr>
          <p:nvPr/>
        </p:nvSpPr>
        <p:spPr>
          <a:xfrm>
            <a:off x="7534275" y="5410200"/>
            <a:ext cx="3714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5F3EA"/>
                </a:solidFill>
              </a:defRPr>
            </a:pPr>
            <a:r>
              <a:rPr sz="1650" b="0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使用者從哪個入口找到它？</a:t>
            </a:r>
          </a:p>
        </p:txBody>
      </p:sp>
      <p:sp>
        <p:nvSpPr>
          <p:cNvPr id="23" name="restaurant-metaphor">
            <a:extLst>
              <a:ext uri="{FF2B5EF4-FFF2-40B4-BE49-F238E27FC236}">
                <a16:creationId xmlns:a16="http://schemas.microsoft.com/office/drawing/2014/main" id="{0C893908-9D7E-4E7C-8A5A-39FBA7397BAD}"/>
              </a:ext>
            </a:extLst>
          </p:cNvPr>
          <p:cNvSpPr>
            <a:spLocks noGrp="1"/>
          </p:cNvSpPr>
          <p:nvPr/>
        </p:nvSpPr>
        <p:spPr>
          <a:xfrm>
            <a:off x="1714500" y="5857875"/>
            <a:ext cx="876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0">
                <a:solidFill>
                  <a:srgbClr val="A7B7C7"/>
                </a:solidFill>
              </a:defRPr>
            </a:pPr>
            <a:r>
              <a:rPr sz="1575" b="0">
                <a:solidFill>
                  <a:srgbClr val="A7B7C7"/>
                </a:solidFill>
                <a:latin typeface="Microsoft JhengHei"/>
                <a:ea typeface="Microsoft JhengHei"/>
                <a:cs typeface="Microsoft JhengHei"/>
              </a:rPr>
              <a:t>餐廳不會把訂位、庫存、門禁、出餐與座位圖寫在同一張便利貼；</a:t>
            </a:r>
          </a:p>
          <a:p>
            <a:pPr algn="ctr">
              <a:defRPr sz="1575" b="0">
                <a:solidFill>
                  <a:srgbClr val="A7B7C7"/>
                </a:solidFill>
              </a:defRPr>
            </a:pPr>
            <a:r>
              <a:rPr sz="1575" b="0">
                <a:solidFill>
                  <a:srgbClr val="A7B7C7"/>
                </a:solidFill>
                <a:latin typeface="Microsoft JhengHei"/>
                <a:ea typeface="Microsoft JhengHei"/>
                <a:cs typeface="Microsoft JhengHei"/>
              </a:rPr>
              <a:t>但它們必須指向同一張訂單。</a:t>
            </a:r>
          </a:p>
        </p:txBody>
      </p:sp>
      <p:sp>
        <p:nvSpPr>
          <p:cNvPr id="24" name="footer-3">
            <a:extLst>
              <a:ext uri="{FF2B5EF4-FFF2-40B4-BE49-F238E27FC236}">
                <a16:creationId xmlns:a16="http://schemas.microsoft.com/office/drawing/2014/main" id="{37E53867-FBF5-4E6D-9DBB-9DE2FD86242A}"/>
              </a:ext>
            </a:extLst>
          </p:cNvPr>
          <p:cNvSpPr>
            <a:spLocks noGrp="1"/>
          </p:cNvSpPr>
          <p:nvPr/>
        </p:nvSpPr>
        <p:spPr>
          <a:xfrm>
            <a:off x="10096500" y="6362700"/>
            <a:ext cx="140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F8798"/>
                </a:solidFill>
              </a:defRPr>
            </a:pPr>
            <a:r>
              <a:rPr sz="1050" b="1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03  /  14</a:t>
            </a:r>
          </a:p>
        </p:txBody>
      </p:sp>
    </p:spTree>
    <p:extLst>
      <p:ext uri="{BB962C8B-B14F-4D97-AF65-F5344CB8AC3E}">
        <p14:creationId xmlns:p14="http://schemas.microsoft.com/office/powerpoint/2010/main" val="700066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-4">
            <a:extLst>
              <a:ext uri="{FF2B5EF4-FFF2-40B4-BE49-F238E27FC236}">
                <a16:creationId xmlns:a16="http://schemas.microsoft.com/office/drawing/2014/main" id="{9D5E1B77-E621-416E-98E3-BAE1A6AF5B1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D0BA"/>
                </a:solidFill>
              </a:defRPr>
            </a:pPr>
            <a:r>
              <a:rPr sz="1200" b="1">
                <a:solidFill>
                  <a:srgbClr val="35D0BA"/>
                </a:solidFill>
                <a:latin typeface="Microsoft JhengHei"/>
                <a:ea typeface="Microsoft JhengHei"/>
                <a:cs typeface="Microsoft JhengHei"/>
              </a:rPr>
              <a:t>hyrapt × T00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42C4D1BC-E7BB-44B0-98F8-D960359E672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525" b="1">
                <a:solidFill>
                  <a:srgbClr val="F5F3EA"/>
                </a:solidFill>
              </a:defRPr>
            </a:pPr>
            <a:r>
              <a:rPr sz="3525" b="1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Spec-as-Code：把共識變成可執行契約</a:t>
            </a:r>
          </a:p>
        </p:txBody>
      </p:sp>
      <p:sp>
        <p:nvSpPr>
          <p:cNvPr id="3" name="header-rule-4">
            <a:extLst>
              <a:ext uri="{FF2B5EF4-FFF2-40B4-BE49-F238E27FC236}">
                <a16:creationId xmlns:a16="http://schemas.microsoft.com/office/drawing/2014/main" id="{10D8AE14-BB38-4BF9-A8DE-8758324B4701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four-qualities">
            <a:extLst>
              <a:ext uri="{FF2B5EF4-FFF2-40B4-BE49-F238E27FC236}">
                <a16:creationId xmlns:a16="http://schemas.microsoft.com/office/drawing/2014/main" id="{A2BEBDE7-CB31-4DC7-99F4-5B199F15FDF3}"/>
              </a:ext>
            </a:extLst>
          </p:cNvPr>
          <p:cNvSpPr>
            <a:spLocks noGrp="1"/>
          </p:cNvSpPr>
          <p:nvPr/>
        </p:nvSpPr>
        <p:spPr>
          <a:xfrm>
            <a:off x="876300" y="1657350"/>
            <a:ext cx="10439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76E4D6"/>
                </a:solidFill>
              </a:defRPr>
            </a:pPr>
            <a:r>
              <a:rPr sz="2100" b="1">
                <a:solidFill>
                  <a:srgbClr val="76E4D6"/>
                </a:solidFill>
                <a:latin typeface="Microsoft JhengHei"/>
                <a:ea typeface="Microsoft JhengHei"/>
                <a:cs typeface="Microsoft JhengHei"/>
              </a:rPr>
              <a:t>人讀得懂　·　機器驗得過　·　工具生得出　·　變更追得到</a:t>
            </a:r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3291908"/>
            <a:ext cx="10744200" cy="1055234"/>
          </a:xfrm>
          <a:prstGeom prst="rect">
            <a:avLst/>
          </a:prstGeom>
        </p:spPr>
      </p:pic>
      <p:sp>
        <p:nvSpPr>
          <p:cNvPr id="6" name="boundary-callout">
            <a:extLst>
              <a:ext uri="{FF2B5EF4-FFF2-40B4-BE49-F238E27FC236}">
                <a16:creationId xmlns:a16="http://schemas.microsoft.com/office/drawing/2014/main" id="{46AF5C50-C027-462B-8B0F-11A8A8258F06}"/>
              </a:ext>
            </a:extLst>
          </p:cNvPr>
          <p:cNvSpPr>
            <a:spLocks noGrp="1"/>
          </p:cNvSpPr>
          <p:nvPr/>
        </p:nvSpPr>
        <p:spPr>
          <a:xfrm>
            <a:off x="1962150" y="5562600"/>
            <a:ext cx="8267700" cy="590550"/>
          </a:xfrm>
          <a:prstGeom prst="roundRect">
            <a:avLst>
              <a:gd name="adj" fmla="val 12903"/>
            </a:avLst>
          </a:prstGeom>
          <a:solidFill>
            <a:srgbClr val="102638"/>
          </a:solidFill>
          <a:ln w="9525">
            <a:solidFill>
              <a:srgbClr val="F5B8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boundary-callout-text">
            <a:extLst>
              <a:ext uri="{FF2B5EF4-FFF2-40B4-BE49-F238E27FC236}">
                <a16:creationId xmlns:a16="http://schemas.microsoft.com/office/drawing/2014/main" id="{F9193F41-2A9A-4B2E-BFF1-BE590A990534}"/>
              </a:ext>
            </a:extLst>
          </p:cNvPr>
          <p:cNvSpPr>
            <a:spLocks noGrp="1"/>
          </p:cNvSpPr>
          <p:nvPr/>
        </p:nvSpPr>
        <p:spPr>
          <a:xfrm>
            <a:off x="2190750" y="5695950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5B84B"/>
                </a:solidFill>
              </a:defRPr>
            </a:pPr>
            <a:r>
              <a:rPr sz="1650" b="1">
                <a:solidFill>
                  <a:srgbClr val="F5B84B"/>
                </a:solidFill>
                <a:latin typeface="Microsoft JhengHei"/>
                <a:ea typeface="Microsoft JhengHei"/>
                <a:cs typeface="Microsoft JhengHei"/>
              </a:rPr>
              <a:t>生成物可以重建，所以不是 SSoT；遇到語意缺口，必須交還給人裁決。</a:t>
            </a:r>
          </a:p>
        </p:txBody>
      </p:sp>
      <p:sp>
        <p:nvSpPr>
          <p:cNvPr id="8" name="source-4">
            <a:extLst>
              <a:ext uri="{FF2B5EF4-FFF2-40B4-BE49-F238E27FC236}">
                <a16:creationId xmlns:a16="http://schemas.microsoft.com/office/drawing/2014/main" id="{54913129-00C3-4F81-AD17-5050486E29F3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904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F8798"/>
                </a:solidFill>
              </a:defRPr>
            </a:pPr>
            <a:r>
              <a:rPr sz="975" b="0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依據：RAPTor active skill contracts / phase gates</a:t>
            </a:r>
          </a:p>
        </p:txBody>
      </p:sp>
      <p:sp>
        <p:nvSpPr>
          <p:cNvPr id="9" name="footer-4">
            <a:extLst>
              <a:ext uri="{FF2B5EF4-FFF2-40B4-BE49-F238E27FC236}">
                <a16:creationId xmlns:a16="http://schemas.microsoft.com/office/drawing/2014/main" id="{0D600229-13EF-443F-B82D-63CDC9F2967F}"/>
              </a:ext>
            </a:extLst>
          </p:cNvPr>
          <p:cNvSpPr>
            <a:spLocks noGrp="1"/>
          </p:cNvSpPr>
          <p:nvPr/>
        </p:nvSpPr>
        <p:spPr>
          <a:xfrm>
            <a:off x="10096500" y="6362700"/>
            <a:ext cx="140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F8798"/>
                </a:solidFill>
              </a:defRPr>
            </a:pPr>
            <a:r>
              <a:rPr sz="1050" b="1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04  /  14</a:t>
            </a:r>
          </a:p>
        </p:txBody>
      </p:sp>
    </p:spTree>
    <p:extLst>
      <p:ext uri="{BB962C8B-B14F-4D97-AF65-F5344CB8AC3E}">
        <p14:creationId xmlns:p14="http://schemas.microsoft.com/office/powerpoint/2010/main" val="522547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-5">
            <a:extLst>
              <a:ext uri="{FF2B5EF4-FFF2-40B4-BE49-F238E27FC236}">
                <a16:creationId xmlns:a16="http://schemas.microsoft.com/office/drawing/2014/main" id="{0CFAAEF2-1A92-45E0-B376-ACFE88F1572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D0BA"/>
                </a:solidFill>
              </a:defRPr>
            </a:pPr>
            <a:r>
              <a:rPr sz="1200" b="1">
                <a:solidFill>
                  <a:srgbClr val="35D0BA"/>
                </a:solidFill>
                <a:latin typeface="Microsoft JhengHei"/>
                <a:ea typeface="Microsoft JhengHei"/>
                <a:cs typeface="Microsoft JhengHei"/>
              </a:rPr>
              <a:t>hyrapt × T00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1371B374-F749-45EB-B209-0165CF5D9B9B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525" b="1">
                <a:solidFill>
                  <a:srgbClr val="F5F3EA"/>
                </a:solidFill>
              </a:defRPr>
            </a:pPr>
            <a:r>
              <a:rPr sz="3525" b="1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六份核心契約，各自只回答一個問題</a:t>
            </a:r>
          </a:p>
        </p:txBody>
      </p:sp>
      <p:sp>
        <p:nvSpPr>
          <p:cNvPr id="3" name="header-rule-5">
            <a:extLst>
              <a:ext uri="{FF2B5EF4-FFF2-40B4-BE49-F238E27FC236}">
                <a16:creationId xmlns:a16="http://schemas.microsoft.com/office/drawing/2014/main" id="{62D88D5D-A2A9-46DF-8254-F1EA93B432A8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contract-col-1">
            <a:extLst>
              <a:ext uri="{FF2B5EF4-FFF2-40B4-BE49-F238E27FC236}">
                <a16:creationId xmlns:a16="http://schemas.microsoft.com/office/drawing/2014/main" id="{D6A7C58F-F456-4B6C-948B-3D5650EF1749}"/>
              </a:ext>
            </a:extLst>
          </p:cNvPr>
          <p:cNvSpPr>
            <a:spLocks noGrp="1"/>
          </p:cNvSpPr>
          <p:nvPr/>
        </p:nvSpPr>
        <p:spPr>
          <a:xfrm>
            <a:off x="838200" y="1752600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6F8798"/>
                </a:solidFill>
              </a:defRPr>
            </a:pPr>
            <a:r>
              <a:rPr sz="1275" b="1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契約</a:t>
            </a:r>
          </a:p>
        </p:txBody>
      </p:sp>
      <p:sp>
        <p:nvSpPr>
          <p:cNvPr id="5" name="contract-col-2">
            <a:extLst>
              <a:ext uri="{FF2B5EF4-FFF2-40B4-BE49-F238E27FC236}">
                <a16:creationId xmlns:a16="http://schemas.microsoft.com/office/drawing/2014/main" id="{37D38B6B-69B3-42FD-835A-5896C40F5FD5}"/>
              </a:ext>
            </a:extLst>
          </p:cNvPr>
          <p:cNvSpPr>
            <a:spLocks noGrp="1"/>
          </p:cNvSpPr>
          <p:nvPr/>
        </p:nvSpPr>
        <p:spPr>
          <a:xfrm>
            <a:off x="2686050" y="1752600"/>
            <a:ext cx="4286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6F8798"/>
                </a:solidFill>
              </a:defRPr>
            </a:pPr>
            <a:r>
              <a:rPr sz="1275" b="1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唯一核心問題</a:t>
            </a:r>
          </a:p>
        </p:txBody>
      </p:sp>
      <p:sp>
        <p:nvSpPr>
          <p:cNvPr id="6" name="contract-col-3">
            <a:extLst>
              <a:ext uri="{FF2B5EF4-FFF2-40B4-BE49-F238E27FC236}">
                <a16:creationId xmlns:a16="http://schemas.microsoft.com/office/drawing/2014/main" id="{C33EB88C-8692-4886-A3E0-2C9F3284CAA1}"/>
              </a:ext>
            </a:extLst>
          </p:cNvPr>
          <p:cNvSpPr>
            <a:spLocks noGrp="1"/>
          </p:cNvSpPr>
          <p:nvPr/>
        </p:nvSpPr>
        <p:spPr>
          <a:xfrm>
            <a:off x="7486650" y="1752600"/>
            <a:ext cx="3810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6F8798"/>
                </a:solidFill>
              </a:defRPr>
            </a:pPr>
            <a:r>
              <a:rPr sz="1275" b="1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hcplAct 例子</a:t>
            </a:r>
          </a:p>
        </p:txBody>
      </p:sp>
      <p:sp>
        <p:nvSpPr>
          <p:cNvPr id="7" name="contract-line-0">
            <a:extLst>
              <a:ext uri="{FF2B5EF4-FFF2-40B4-BE49-F238E27FC236}">
                <a16:creationId xmlns:a16="http://schemas.microsoft.com/office/drawing/2014/main" id="{149032D7-019D-49A1-AF7E-8F1EAB4B5AB4}"/>
              </a:ext>
            </a:extLst>
          </p:cNvPr>
          <p:cNvSpPr>
            <a:spLocks noGrp="1"/>
          </p:cNvSpPr>
          <p:nvPr/>
        </p:nvSpPr>
        <p:spPr>
          <a:xfrm>
            <a:off x="838200" y="2686050"/>
            <a:ext cx="104584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contract-0">
            <a:extLst>
              <a:ext uri="{FF2B5EF4-FFF2-40B4-BE49-F238E27FC236}">
                <a16:creationId xmlns:a16="http://schemas.microsoft.com/office/drawing/2014/main" id="{6606B600-50DB-4002-9F3A-F5ED3326C217}"/>
              </a:ext>
            </a:extLst>
          </p:cNvPr>
          <p:cNvSpPr>
            <a:spLocks noGrp="1"/>
          </p:cNvSpPr>
          <p:nvPr/>
        </p:nvSpPr>
        <p:spPr>
          <a:xfrm>
            <a:off x="838200" y="2209800"/>
            <a:ext cx="152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35D0BA"/>
                </a:solidFill>
              </a:defRPr>
            </a:pPr>
            <a:r>
              <a:rPr sz="1800" b="1">
                <a:solidFill>
                  <a:srgbClr val="35D0BA"/>
                </a:solidFill>
                <a:latin typeface="Microsoft JhengHei"/>
                <a:ea typeface="Microsoft JhengHei"/>
                <a:cs typeface="Microsoft JhengHei"/>
              </a:rPr>
              <a:t>haBDD</a:t>
            </a:r>
          </a:p>
        </p:txBody>
      </p:sp>
      <p:sp>
        <p:nvSpPr>
          <p:cNvPr id="9" name="contract-q-0">
            <a:extLst>
              <a:ext uri="{FF2B5EF4-FFF2-40B4-BE49-F238E27FC236}">
                <a16:creationId xmlns:a16="http://schemas.microsoft.com/office/drawing/2014/main" id="{CEEE62AA-5F5D-41CB-AFEC-B83011DB4E80}"/>
              </a:ext>
            </a:extLst>
          </p:cNvPr>
          <p:cNvSpPr>
            <a:spLocks noGrp="1"/>
          </p:cNvSpPr>
          <p:nvPr/>
        </p:nvSpPr>
        <p:spPr>
          <a:xfrm>
            <a:off x="2686050" y="2209800"/>
            <a:ext cx="4286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5F3EA"/>
                </a:solidFill>
              </a:defRPr>
            </a:pPr>
            <a:r>
              <a:rPr sz="1650" b="0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發生什麼行為才算對？</a:t>
            </a:r>
          </a:p>
        </p:txBody>
      </p:sp>
      <p:sp>
        <p:nvSpPr>
          <p:cNvPr id="10" name="contract-ex-0">
            <a:extLst>
              <a:ext uri="{FF2B5EF4-FFF2-40B4-BE49-F238E27FC236}">
                <a16:creationId xmlns:a16="http://schemas.microsoft.com/office/drawing/2014/main" id="{3B8340CF-420B-464C-8A96-0AEAB215DA4A}"/>
              </a:ext>
            </a:extLst>
          </p:cNvPr>
          <p:cNvSpPr>
            <a:spLocks noGrp="1"/>
          </p:cNvSpPr>
          <p:nvPr/>
        </p:nvSpPr>
        <p:spPr>
          <a:xfrm>
            <a:off x="7486650" y="2209800"/>
            <a:ext cx="3810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7B7C7"/>
                </a:solidFill>
              </a:defRPr>
            </a:pPr>
            <a:r>
              <a:rPr sz="1500" b="0">
                <a:solidFill>
                  <a:srgbClr val="A7B7C7"/>
                </a:solidFill>
                <a:latin typeface="Microsoft JhengHei"/>
                <a:ea typeface="Microsoft JhengHei"/>
                <a:cs typeface="Microsoft JhengHei"/>
              </a:rPr>
              <a:t>第一順位候補轉正並收到通知</a:t>
            </a:r>
          </a:p>
        </p:txBody>
      </p:sp>
      <p:sp>
        <p:nvSpPr>
          <p:cNvPr id="11" name="contract-line-1">
            <a:extLst>
              <a:ext uri="{FF2B5EF4-FFF2-40B4-BE49-F238E27FC236}">
                <a16:creationId xmlns:a16="http://schemas.microsoft.com/office/drawing/2014/main" id="{F416FD7F-A644-4B5A-9DD8-A67D8D60BCCE}"/>
              </a:ext>
            </a:extLst>
          </p:cNvPr>
          <p:cNvSpPr>
            <a:spLocks noGrp="1"/>
          </p:cNvSpPr>
          <p:nvPr/>
        </p:nvSpPr>
        <p:spPr>
          <a:xfrm>
            <a:off x="838200" y="3333750"/>
            <a:ext cx="104584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contract-1">
            <a:extLst>
              <a:ext uri="{FF2B5EF4-FFF2-40B4-BE49-F238E27FC236}">
                <a16:creationId xmlns:a16="http://schemas.microsoft.com/office/drawing/2014/main" id="{9601057D-15FB-400B-AC54-FFB443EA17BF}"/>
              </a:ext>
            </a:extLst>
          </p:cNvPr>
          <p:cNvSpPr>
            <a:spLocks noGrp="1"/>
          </p:cNvSpPr>
          <p:nvPr/>
        </p:nvSpPr>
        <p:spPr>
          <a:xfrm>
            <a:off x="838200" y="2857500"/>
            <a:ext cx="152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76E4D6"/>
                </a:solidFill>
              </a:defRPr>
            </a:pPr>
            <a:r>
              <a:rPr sz="1800" b="1">
                <a:solidFill>
                  <a:srgbClr val="76E4D6"/>
                </a:solidFill>
                <a:latin typeface="Microsoft JhengHei"/>
                <a:ea typeface="Microsoft JhengHei"/>
                <a:cs typeface="Microsoft JhengHei"/>
              </a:rPr>
              <a:t>DBML</a:t>
            </a:r>
          </a:p>
        </p:txBody>
      </p:sp>
      <p:sp>
        <p:nvSpPr>
          <p:cNvPr id="13" name="contract-q-1">
            <a:extLst>
              <a:ext uri="{FF2B5EF4-FFF2-40B4-BE49-F238E27FC236}">
                <a16:creationId xmlns:a16="http://schemas.microsoft.com/office/drawing/2014/main" id="{032C4DF7-9F24-4C12-AB6E-1E04064C2340}"/>
              </a:ext>
            </a:extLst>
          </p:cNvPr>
          <p:cNvSpPr>
            <a:spLocks noGrp="1"/>
          </p:cNvSpPr>
          <p:nvPr/>
        </p:nvSpPr>
        <p:spPr>
          <a:xfrm>
            <a:off x="2686050" y="2857500"/>
            <a:ext cx="4286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5F3EA"/>
                </a:solidFill>
              </a:defRPr>
            </a:pPr>
            <a:r>
              <a:rPr sz="1650" b="0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系統有哪些資料事實？</a:t>
            </a:r>
          </a:p>
        </p:txBody>
      </p:sp>
      <p:sp>
        <p:nvSpPr>
          <p:cNvPr id="14" name="contract-ex-1">
            <a:extLst>
              <a:ext uri="{FF2B5EF4-FFF2-40B4-BE49-F238E27FC236}">
                <a16:creationId xmlns:a16="http://schemas.microsoft.com/office/drawing/2014/main" id="{A85BBD76-5EC6-4D13-9BB6-8540BD4544ED}"/>
              </a:ext>
            </a:extLst>
          </p:cNvPr>
          <p:cNvSpPr>
            <a:spLocks noGrp="1"/>
          </p:cNvSpPr>
          <p:nvPr/>
        </p:nvSpPr>
        <p:spPr>
          <a:xfrm>
            <a:off x="7486650" y="2857500"/>
            <a:ext cx="3810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7B7C7"/>
                </a:solidFill>
              </a:defRPr>
            </a:pPr>
            <a:r>
              <a:rPr sz="1500" b="0">
                <a:solidFill>
                  <a:srgbClr val="A7B7C7"/>
                </a:solidFill>
                <a:latin typeface="Microsoft JhengHei"/>
                <a:ea typeface="Microsoft JhengHei"/>
                <a:cs typeface="Microsoft JhengHei"/>
              </a:rPr>
              <a:t>statusCode、waitlistSeq</a:t>
            </a:r>
          </a:p>
        </p:txBody>
      </p:sp>
      <p:sp>
        <p:nvSpPr>
          <p:cNvPr id="15" name="contract-line-2">
            <a:extLst>
              <a:ext uri="{FF2B5EF4-FFF2-40B4-BE49-F238E27FC236}">
                <a16:creationId xmlns:a16="http://schemas.microsoft.com/office/drawing/2014/main" id="{31558011-E997-48BE-A9E5-557665BA40D9}"/>
              </a:ext>
            </a:extLst>
          </p:cNvPr>
          <p:cNvSpPr>
            <a:spLocks noGrp="1"/>
          </p:cNvSpPr>
          <p:nvPr/>
        </p:nvSpPr>
        <p:spPr>
          <a:xfrm>
            <a:off x="838200" y="3981450"/>
            <a:ext cx="104584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contract-2">
            <a:extLst>
              <a:ext uri="{FF2B5EF4-FFF2-40B4-BE49-F238E27FC236}">
                <a16:creationId xmlns:a16="http://schemas.microsoft.com/office/drawing/2014/main" id="{A5A3D2A4-4AAD-47C3-B558-F2E4072BF0B9}"/>
              </a:ext>
            </a:extLst>
          </p:cNvPr>
          <p:cNvSpPr>
            <a:spLocks noGrp="1"/>
          </p:cNvSpPr>
          <p:nvPr/>
        </p:nvSpPr>
        <p:spPr>
          <a:xfrm>
            <a:off x="838200" y="3505200"/>
            <a:ext cx="152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5B84B"/>
                </a:solidFill>
              </a:defRPr>
            </a:pPr>
            <a:r>
              <a:rPr sz="1800" b="1">
                <a:solidFill>
                  <a:srgbClr val="F5B84B"/>
                </a:solidFill>
                <a:latin typeface="Microsoft JhengHei"/>
                <a:ea typeface="Microsoft JhengHei"/>
                <a:cs typeface="Microsoft JhengHei"/>
              </a:rPr>
              <a:t>haARM</a:t>
            </a:r>
          </a:p>
        </p:txBody>
      </p:sp>
      <p:sp>
        <p:nvSpPr>
          <p:cNvPr id="17" name="contract-q-2">
            <a:extLst>
              <a:ext uri="{FF2B5EF4-FFF2-40B4-BE49-F238E27FC236}">
                <a16:creationId xmlns:a16="http://schemas.microsoft.com/office/drawing/2014/main" id="{71388CB8-62CD-48D2-A7EF-3D8F0D87DC7E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4286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5F3EA"/>
                </a:solidFill>
              </a:defRPr>
            </a:pPr>
            <a:r>
              <a:rPr sz="1650" b="0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誰在什麼範圍能做什麼？</a:t>
            </a:r>
          </a:p>
        </p:txBody>
      </p:sp>
      <p:sp>
        <p:nvSpPr>
          <p:cNvPr id="18" name="contract-ex-2">
            <a:extLst>
              <a:ext uri="{FF2B5EF4-FFF2-40B4-BE49-F238E27FC236}">
                <a16:creationId xmlns:a16="http://schemas.microsoft.com/office/drawing/2014/main" id="{B3A330BC-A30B-4E95-AF50-86C658FDF767}"/>
              </a:ext>
            </a:extLst>
          </p:cNvPr>
          <p:cNvSpPr>
            <a:spLocks noGrp="1"/>
          </p:cNvSpPr>
          <p:nvPr/>
        </p:nvSpPr>
        <p:spPr>
          <a:xfrm>
            <a:off x="7486650" y="3505200"/>
            <a:ext cx="3810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7B7C7"/>
                </a:solidFill>
              </a:defRPr>
            </a:pPr>
            <a:r>
              <a:rPr sz="1500" b="0">
                <a:solidFill>
                  <a:srgbClr val="A7B7C7"/>
                </a:solidFill>
                <a:latin typeface="Microsoft JhengHei"/>
                <a:ea typeface="Microsoft JhengHei"/>
                <a:cs typeface="Microsoft JhengHei"/>
              </a:rPr>
              <a:t>all ／ department</a:t>
            </a:r>
          </a:p>
        </p:txBody>
      </p:sp>
      <p:sp>
        <p:nvSpPr>
          <p:cNvPr id="19" name="contract-line-3">
            <a:extLst>
              <a:ext uri="{FF2B5EF4-FFF2-40B4-BE49-F238E27FC236}">
                <a16:creationId xmlns:a16="http://schemas.microsoft.com/office/drawing/2014/main" id="{CCB61617-F5AE-405C-8DE1-FF794A056B54}"/>
              </a:ext>
            </a:extLst>
          </p:cNvPr>
          <p:cNvSpPr>
            <a:spLocks noGrp="1"/>
          </p:cNvSpPr>
          <p:nvPr/>
        </p:nvSpPr>
        <p:spPr>
          <a:xfrm>
            <a:off x="838200" y="4629150"/>
            <a:ext cx="104584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contract-3">
            <a:extLst>
              <a:ext uri="{FF2B5EF4-FFF2-40B4-BE49-F238E27FC236}">
                <a16:creationId xmlns:a16="http://schemas.microsoft.com/office/drawing/2014/main" id="{FAF3B843-9FFE-410D-AA38-EFFC7A59750E}"/>
              </a:ext>
            </a:extLst>
          </p:cNvPr>
          <p:cNvSpPr>
            <a:spLocks noGrp="1"/>
          </p:cNvSpPr>
          <p:nvPr/>
        </p:nvSpPr>
        <p:spPr>
          <a:xfrm>
            <a:off x="838200" y="4152900"/>
            <a:ext cx="152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ED3A7"/>
                </a:solidFill>
              </a:defRPr>
            </a:pPr>
            <a:r>
              <a:rPr sz="1800" b="1">
                <a:solidFill>
                  <a:srgbClr val="5ED3A7"/>
                </a:solidFill>
                <a:latin typeface="Microsoft JhengHei"/>
                <a:ea typeface="Microsoft JhengHei"/>
                <a:cs typeface="Microsoft JhengHei"/>
              </a:rPr>
              <a:t>haAPI</a:t>
            </a:r>
          </a:p>
        </p:txBody>
      </p:sp>
      <p:sp>
        <p:nvSpPr>
          <p:cNvPr id="21" name="contract-q-3">
            <a:extLst>
              <a:ext uri="{FF2B5EF4-FFF2-40B4-BE49-F238E27FC236}">
                <a16:creationId xmlns:a16="http://schemas.microsoft.com/office/drawing/2014/main" id="{F9B5CE20-CF49-40C3-B43F-D17B9D352DFF}"/>
              </a:ext>
            </a:extLst>
          </p:cNvPr>
          <p:cNvSpPr>
            <a:spLocks noGrp="1"/>
          </p:cNvSpPr>
          <p:nvPr/>
        </p:nvSpPr>
        <p:spPr>
          <a:xfrm>
            <a:off x="2686050" y="4152900"/>
            <a:ext cx="4286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5F3EA"/>
                </a:solidFill>
              </a:defRPr>
            </a:pPr>
            <a:r>
              <a:rPr sz="1650" b="0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後端提供什麼 operation？</a:t>
            </a:r>
          </a:p>
        </p:txBody>
      </p:sp>
      <p:sp>
        <p:nvSpPr>
          <p:cNvPr id="22" name="contract-ex-3">
            <a:extLst>
              <a:ext uri="{FF2B5EF4-FFF2-40B4-BE49-F238E27FC236}">
                <a16:creationId xmlns:a16="http://schemas.microsoft.com/office/drawing/2014/main" id="{F021FA7D-B3EA-4176-BFBB-D1BA0B15A18B}"/>
              </a:ext>
            </a:extLst>
          </p:cNvPr>
          <p:cNvSpPr>
            <a:spLocks noGrp="1"/>
          </p:cNvSpPr>
          <p:nvPr/>
        </p:nvSpPr>
        <p:spPr>
          <a:xfrm>
            <a:off x="7486650" y="4152900"/>
            <a:ext cx="3810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7B7C7"/>
                </a:solidFill>
              </a:defRPr>
            </a:pPr>
            <a:r>
              <a:rPr sz="1500" b="0">
                <a:solidFill>
                  <a:srgbClr val="A7B7C7"/>
                </a:solidFill>
                <a:latin typeface="Microsoft JhengHei"/>
                <a:ea typeface="Microsoft JhengHei"/>
                <a:cs typeface="Microsoft JhengHei"/>
              </a:rPr>
              <a:t>POST /{id}/promote</a:t>
            </a:r>
          </a:p>
        </p:txBody>
      </p:sp>
      <p:sp>
        <p:nvSpPr>
          <p:cNvPr id="23" name="contract-line-4">
            <a:extLst>
              <a:ext uri="{FF2B5EF4-FFF2-40B4-BE49-F238E27FC236}">
                <a16:creationId xmlns:a16="http://schemas.microsoft.com/office/drawing/2014/main" id="{2808A733-5363-4282-AA4E-EEC4AD49A800}"/>
              </a:ext>
            </a:extLst>
          </p:cNvPr>
          <p:cNvSpPr>
            <a:spLocks noGrp="1"/>
          </p:cNvSpPr>
          <p:nvPr/>
        </p:nvSpPr>
        <p:spPr>
          <a:xfrm>
            <a:off x="838200" y="5276850"/>
            <a:ext cx="104584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contract-4">
            <a:extLst>
              <a:ext uri="{FF2B5EF4-FFF2-40B4-BE49-F238E27FC236}">
                <a16:creationId xmlns:a16="http://schemas.microsoft.com/office/drawing/2014/main" id="{5C67F1D3-2D60-43B0-ADCF-99B9EC0EAADB}"/>
              </a:ext>
            </a:extLst>
          </p:cNvPr>
          <p:cNvSpPr>
            <a:spLocks noGrp="1"/>
          </p:cNvSpPr>
          <p:nvPr/>
        </p:nvSpPr>
        <p:spPr>
          <a:xfrm>
            <a:off x="838200" y="4800600"/>
            <a:ext cx="152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35D0BA"/>
                </a:solidFill>
              </a:defRPr>
            </a:pPr>
            <a:r>
              <a:rPr sz="1800" b="1">
                <a:solidFill>
                  <a:srgbClr val="35D0BA"/>
                </a:solidFill>
                <a:latin typeface="Microsoft JhengHei"/>
                <a:ea typeface="Microsoft JhengHei"/>
                <a:cs typeface="Microsoft JhengHei"/>
              </a:rPr>
              <a:t>haPDL</a:t>
            </a:r>
          </a:p>
        </p:txBody>
      </p:sp>
      <p:sp>
        <p:nvSpPr>
          <p:cNvPr id="25" name="contract-q-4">
            <a:extLst>
              <a:ext uri="{FF2B5EF4-FFF2-40B4-BE49-F238E27FC236}">
                <a16:creationId xmlns:a16="http://schemas.microsoft.com/office/drawing/2014/main" id="{99D8F227-C54A-4B6D-B0F9-3A0C12177C6A}"/>
              </a:ext>
            </a:extLst>
          </p:cNvPr>
          <p:cNvSpPr>
            <a:spLocks noGrp="1"/>
          </p:cNvSpPr>
          <p:nvPr/>
        </p:nvSpPr>
        <p:spPr>
          <a:xfrm>
            <a:off x="2686050" y="4800600"/>
            <a:ext cx="4286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5F3EA"/>
                </a:solidFill>
              </a:defRPr>
            </a:pPr>
            <a:r>
              <a:rPr sz="1650" b="0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使用者看到什麼、怎麼操作？</a:t>
            </a:r>
          </a:p>
        </p:txBody>
      </p:sp>
      <p:sp>
        <p:nvSpPr>
          <p:cNvPr id="26" name="contract-ex-4">
            <a:extLst>
              <a:ext uri="{FF2B5EF4-FFF2-40B4-BE49-F238E27FC236}">
                <a16:creationId xmlns:a16="http://schemas.microsoft.com/office/drawing/2014/main" id="{F0384E1D-DB21-422D-AFD8-E8EFAF44D0BE}"/>
              </a:ext>
            </a:extLst>
          </p:cNvPr>
          <p:cNvSpPr>
            <a:spLocks noGrp="1"/>
          </p:cNvSpPr>
          <p:nvPr/>
        </p:nvSpPr>
        <p:spPr>
          <a:xfrm>
            <a:off x="7486650" y="4800600"/>
            <a:ext cx="3810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7B7C7"/>
                </a:solidFill>
              </a:defRPr>
            </a:pPr>
            <a:r>
              <a:rPr sz="1500" b="0">
                <a:solidFill>
                  <a:srgbClr val="A7B7C7"/>
                </a:solidFill>
                <a:latin typeface="Microsoft JhengHei"/>
                <a:ea typeface="Microsoft JhengHei"/>
                <a:cs typeface="Microsoft JhengHei"/>
              </a:rPr>
              <a:t>row promote、partial result modal</a:t>
            </a:r>
          </a:p>
        </p:txBody>
      </p:sp>
      <p:sp>
        <p:nvSpPr>
          <p:cNvPr id="27" name="contract-line-5">
            <a:extLst>
              <a:ext uri="{FF2B5EF4-FFF2-40B4-BE49-F238E27FC236}">
                <a16:creationId xmlns:a16="http://schemas.microsoft.com/office/drawing/2014/main" id="{FB1DF32F-C227-414B-BF41-48E965C678BA}"/>
              </a:ext>
            </a:extLst>
          </p:cNvPr>
          <p:cNvSpPr>
            <a:spLocks noGrp="1"/>
          </p:cNvSpPr>
          <p:nvPr/>
        </p:nvSpPr>
        <p:spPr>
          <a:xfrm>
            <a:off x="838200" y="5924550"/>
            <a:ext cx="104584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contract-5">
            <a:extLst>
              <a:ext uri="{FF2B5EF4-FFF2-40B4-BE49-F238E27FC236}">
                <a16:creationId xmlns:a16="http://schemas.microsoft.com/office/drawing/2014/main" id="{27CC9F02-88C4-46BF-A638-D66864F10156}"/>
              </a:ext>
            </a:extLst>
          </p:cNvPr>
          <p:cNvSpPr>
            <a:spLocks noGrp="1"/>
          </p:cNvSpPr>
          <p:nvPr/>
        </p:nvSpPr>
        <p:spPr>
          <a:xfrm>
            <a:off x="838200" y="5448300"/>
            <a:ext cx="152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5B84B"/>
                </a:solidFill>
              </a:defRPr>
            </a:pPr>
            <a:r>
              <a:rPr sz="1800" b="1">
                <a:solidFill>
                  <a:srgbClr val="F5B84B"/>
                </a:solidFill>
                <a:latin typeface="Microsoft JhengHei"/>
                <a:ea typeface="Microsoft JhengHei"/>
                <a:cs typeface="Microsoft JhengHei"/>
              </a:rPr>
              <a:t>Navigation</a:t>
            </a:r>
          </a:p>
        </p:txBody>
      </p:sp>
      <p:sp>
        <p:nvSpPr>
          <p:cNvPr id="29" name="contract-q-5">
            <a:extLst>
              <a:ext uri="{FF2B5EF4-FFF2-40B4-BE49-F238E27FC236}">
                <a16:creationId xmlns:a16="http://schemas.microsoft.com/office/drawing/2014/main" id="{F15D6C24-ACAB-4F43-B347-3A53A0B87795}"/>
              </a:ext>
            </a:extLst>
          </p:cNvPr>
          <p:cNvSpPr>
            <a:spLocks noGrp="1"/>
          </p:cNvSpPr>
          <p:nvPr/>
        </p:nvSpPr>
        <p:spPr>
          <a:xfrm>
            <a:off x="2686050" y="5448300"/>
            <a:ext cx="4286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5F3EA"/>
                </a:solidFill>
              </a:defRPr>
            </a:pPr>
            <a:r>
              <a:rPr sz="1650" b="0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功能從哪個入口被找到？</a:t>
            </a:r>
          </a:p>
        </p:txBody>
      </p:sp>
      <p:sp>
        <p:nvSpPr>
          <p:cNvPr id="30" name="contract-ex-5">
            <a:extLst>
              <a:ext uri="{FF2B5EF4-FFF2-40B4-BE49-F238E27FC236}">
                <a16:creationId xmlns:a16="http://schemas.microsoft.com/office/drawing/2014/main" id="{D12DA00F-3170-4DD8-B4B2-7DC29A147565}"/>
              </a:ext>
            </a:extLst>
          </p:cNvPr>
          <p:cNvSpPr>
            <a:spLocks noGrp="1"/>
          </p:cNvSpPr>
          <p:nvPr/>
        </p:nvSpPr>
        <p:spPr>
          <a:xfrm>
            <a:off x="7486650" y="5448300"/>
            <a:ext cx="3810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7B7C7"/>
                </a:solidFill>
              </a:defRPr>
            </a:pPr>
            <a:r>
              <a:rPr sz="1500" b="0">
                <a:solidFill>
                  <a:srgbClr val="A7B7C7"/>
                </a:solidFill>
                <a:latin typeface="Microsoft JhengHei"/>
                <a:ea typeface="Microsoft JhengHei"/>
                <a:cs typeface="Microsoft JhengHei"/>
              </a:rPr>
              <a:t>活動與報名 → 報名名單管理</a:t>
            </a:r>
          </a:p>
        </p:txBody>
      </p:sp>
      <p:sp>
        <p:nvSpPr>
          <p:cNvPr id="31" name="single-source-note">
            <a:extLst>
              <a:ext uri="{FF2B5EF4-FFF2-40B4-BE49-F238E27FC236}">
                <a16:creationId xmlns:a16="http://schemas.microsoft.com/office/drawing/2014/main" id="{3205E748-FF42-495C-8EDB-22F08B5AF152}"/>
              </a:ext>
            </a:extLst>
          </p:cNvPr>
          <p:cNvSpPr>
            <a:spLocks noGrp="1"/>
          </p:cNvSpPr>
          <p:nvPr/>
        </p:nvSpPr>
        <p:spPr>
          <a:xfrm>
            <a:off x="2038350" y="6115050"/>
            <a:ext cx="8096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Single Source ≠ 一個萬能檔案；而是同一種語意只有一個權威來源。</a:t>
            </a:r>
          </a:p>
        </p:txBody>
      </p:sp>
      <p:sp>
        <p:nvSpPr>
          <p:cNvPr id="32" name="source-5">
            <a:extLst>
              <a:ext uri="{FF2B5EF4-FFF2-40B4-BE49-F238E27FC236}">
                <a16:creationId xmlns:a16="http://schemas.microsoft.com/office/drawing/2014/main" id="{60AC80EB-27C7-4DC6-9E85-353476909708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904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F8798"/>
                </a:solidFill>
              </a:defRPr>
            </a:pPr>
            <a:r>
              <a:rPr sz="975" b="0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依據：rapt-core/references/ssot-definition.md</a:t>
            </a:r>
          </a:p>
        </p:txBody>
      </p:sp>
      <p:sp>
        <p:nvSpPr>
          <p:cNvPr id="33" name="footer-5">
            <a:extLst>
              <a:ext uri="{FF2B5EF4-FFF2-40B4-BE49-F238E27FC236}">
                <a16:creationId xmlns:a16="http://schemas.microsoft.com/office/drawing/2014/main" id="{7BE35FC4-123B-442F-A3DF-0964F44F64DD}"/>
              </a:ext>
            </a:extLst>
          </p:cNvPr>
          <p:cNvSpPr>
            <a:spLocks noGrp="1"/>
          </p:cNvSpPr>
          <p:nvPr/>
        </p:nvSpPr>
        <p:spPr>
          <a:xfrm>
            <a:off x="10096500" y="6362700"/>
            <a:ext cx="140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F8798"/>
                </a:solidFill>
              </a:defRPr>
            </a:pPr>
            <a:r>
              <a:rPr sz="1050" b="1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05  /  14</a:t>
            </a:r>
          </a:p>
        </p:txBody>
      </p:sp>
    </p:spTree>
    <p:extLst>
      <p:ext uri="{BB962C8B-B14F-4D97-AF65-F5344CB8AC3E}">
        <p14:creationId xmlns:p14="http://schemas.microsoft.com/office/powerpoint/2010/main" val="1620900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6">
            <a:extLst>
              <a:ext uri="{FF2B5EF4-FFF2-40B4-BE49-F238E27FC236}">
                <a16:creationId xmlns:a16="http://schemas.microsoft.com/office/drawing/2014/main" id="{FE2CC97C-9EC3-42C5-A696-96B54A6E1D1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D0BA"/>
                </a:solidFill>
              </a:defRPr>
            </a:pPr>
            <a:r>
              <a:rPr sz="1200" b="1">
                <a:solidFill>
                  <a:srgbClr val="35D0BA"/>
                </a:solidFill>
                <a:latin typeface="Microsoft JhengHei"/>
                <a:ea typeface="Microsoft JhengHei"/>
                <a:cs typeface="Microsoft JhengHei"/>
              </a:rPr>
              <a:t>hyrapt × T00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8BA3CB75-372A-4E7F-B92B-60AE458BFAE8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525" b="1">
                <a:solidFill>
                  <a:srgbClr val="F5F3EA"/>
                </a:solidFill>
              </a:defRPr>
            </a:pPr>
            <a:r>
              <a:rPr sz="3525" b="1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同一條候補需求，如何穿過六份契約</a:t>
            </a:r>
          </a:p>
        </p:txBody>
      </p:sp>
      <p:sp>
        <p:nvSpPr>
          <p:cNvPr id="3" name="header-rule-6">
            <a:extLst>
              <a:ext uri="{FF2B5EF4-FFF2-40B4-BE49-F238E27FC236}">
                <a16:creationId xmlns:a16="http://schemas.microsoft.com/office/drawing/2014/main" id="{AEF350F2-EC07-4346-86CE-19EDEB85D8A9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gherkin-frame">
            <a:extLst>
              <a:ext uri="{FF2B5EF4-FFF2-40B4-BE49-F238E27FC236}">
                <a16:creationId xmlns:a16="http://schemas.microsoft.com/office/drawing/2014/main" id="{DE937897-156C-43A8-AA36-6D1C8447C97A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5048250" cy="3429000"/>
          </a:xfrm>
          <a:prstGeom prst="roundRect">
            <a:avLst>
              <a:gd name="adj" fmla="val 2222"/>
            </a:avLst>
          </a:prstGeom>
          <a:solidFill>
            <a:srgbClr val="0B1C2A"/>
          </a:solidFill>
          <a:ln w="9525">
            <a:solidFill>
              <a:srgbClr val="24475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TW" altLang="en-US"/>
          </a:p>
        </p:txBody>
      </p:sp>
      <p:sp>
        <p:nvSpPr>
          <p:cNvPr id="5" name="gherkin-label">
            <a:extLst>
              <a:ext uri="{FF2B5EF4-FFF2-40B4-BE49-F238E27FC236}">
                <a16:creationId xmlns:a16="http://schemas.microsoft.com/office/drawing/2014/main" id="{73CA0634-0FC9-4DC9-9860-50ADF111FC47}"/>
              </a:ext>
            </a:extLst>
          </p:cNvPr>
          <p:cNvSpPr>
            <a:spLocks noGrp="1"/>
          </p:cNvSpPr>
          <p:nvPr/>
        </p:nvSpPr>
        <p:spPr>
          <a:xfrm>
            <a:off x="857250" y="1943100"/>
            <a:ext cx="4705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5B84B"/>
                </a:solidFill>
              </a:defRPr>
            </a:pPr>
            <a:r>
              <a:rPr sz="1050" b="1">
                <a:solidFill>
                  <a:srgbClr val="F5B84B"/>
                </a:solidFill>
                <a:latin typeface="Microsoft JhengHei"/>
                <a:ea typeface="Microsoft JhengHei"/>
                <a:cs typeface="Microsoft JhengHei"/>
              </a:rPr>
              <a:t>真實 haBDD 片段</a:t>
            </a:r>
          </a:p>
        </p:txBody>
      </p:sp>
      <p:sp>
        <p:nvSpPr>
          <p:cNvPr id="6" name="gherkin-text">
            <a:extLst>
              <a:ext uri="{FF2B5EF4-FFF2-40B4-BE49-F238E27FC236}">
                <a16:creationId xmlns:a16="http://schemas.microsoft.com/office/drawing/2014/main" id="{0789C3C1-594E-41AF-A3A4-C0E6AEF57DE1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4705350" cy="2867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5F3EA"/>
                </a:solidFill>
              </a:defRPr>
            </a:pPr>
            <a:r>
              <a:rPr sz="1425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# scenario_id: SCN-WL-001</a:t>
            </a:r>
          </a:p>
          <a:p>
            <a:pPr algn="l">
              <a:defRPr sz="1425" b="0">
                <a:solidFill>
                  <a:srgbClr val="F5F3EA"/>
                </a:solidFill>
              </a:defRPr>
            </a:pPr>
            <a:r>
              <a:rPr sz="1425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Scenario: 正取者取消後人工將備取轉為正取</a:t>
            </a:r>
          </a:p>
          <a:p>
            <a:pPr algn="l">
              <a:defRPr sz="1425" b="0">
                <a:solidFill>
                  <a:srgbClr val="F5F3EA"/>
                </a:solidFill>
              </a:defRPr>
            </a:pPr>
            <a:r>
              <a:rPr sz="1425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  Given 一個活動有備取名單，且剛有一名正取者取消</a:t>
            </a:r>
          </a:p>
          <a:p>
            <a:pPr algn="l">
              <a:defRPr sz="1425" b="0">
                <a:solidFill>
                  <a:srgbClr val="F5F3EA"/>
                </a:solidFill>
              </a:defRPr>
            </a:pPr>
            <a:r>
              <a:rPr sz="1425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  When 我將第一順位報名者轉為正取</a:t>
            </a:r>
          </a:p>
          <a:p>
            <a:pPr algn="l">
              <a:defRPr sz="1425" b="0">
                <a:solidFill>
                  <a:srgbClr val="F5F3EA"/>
                </a:solidFill>
              </a:defRPr>
            </a:pPr>
            <a:r>
              <a:rPr sz="1425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  Then 該報名者的狀態變為正取</a:t>
            </a:r>
          </a:p>
          <a:p>
            <a:pPr algn="l">
              <a:defRPr sz="1425" b="0">
                <a:solidFill>
                  <a:srgbClr val="F5F3EA"/>
                </a:solidFill>
              </a:defRPr>
            </a:pPr>
            <a:r>
              <a:rPr sz="1425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  And 該報名者收到遞補轉正通知</a:t>
            </a:r>
          </a:p>
        </p:txBody>
      </p:sp>
      <p:pic>
        <p:nvPicPr>
          <p:cNvPr id="17" name="圖片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43600" y="2438692"/>
            <a:ext cx="5562600" cy="2171117"/>
          </a:xfrm>
          <a:prstGeom prst="rect">
            <a:avLst/>
          </a:prstGeom>
        </p:spPr>
      </p:pic>
      <p:sp>
        <p:nvSpPr>
          <p:cNvPr id="8" name="trace-meaning">
            <a:extLst>
              <a:ext uri="{FF2B5EF4-FFF2-40B4-BE49-F238E27FC236}">
                <a16:creationId xmlns:a16="http://schemas.microsoft.com/office/drawing/2014/main" id="{D3E0E97F-1885-4586-8B18-9F856241A0CB}"/>
              </a:ext>
            </a:extLst>
          </p:cNvPr>
          <p:cNvSpPr>
            <a:spLocks noGrp="1"/>
          </p:cNvSpPr>
          <p:nvPr/>
        </p:nvSpPr>
        <p:spPr>
          <a:xfrm>
            <a:off x="1200150" y="5581650"/>
            <a:ext cx="97917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76E4D6"/>
                </a:solidFill>
              </a:defRPr>
            </a:pPr>
            <a:r>
              <a:rPr sz="2100" b="1">
                <a:solidFill>
                  <a:srgbClr val="76E4D6"/>
                </a:solidFill>
                <a:latin typeface="Microsoft JhengHei"/>
                <a:ea typeface="Microsoft JhengHei"/>
                <a:cs typeface="Microsoft JhengHei"/>
              </a:rPr>
              <a:t>不是複製同一句話六次，</a:t>
            </a:r>
          </a:p>
          <a:p>
            <a:pPr algn="ctr">
              <a:defRPr sz="2100" b="1">
                <a:solidFill>
                  <a:srgbClr val="76E4D6"/>
                </a:solidFill>
              </a:defRPr>
            </a:pPr>
            <a:r>
              <a:rPr sz="2100" b="1">
                <a:solidFill>
                  <a:srgbClr val="76E4D6"/>
                </a:solidFill>
                <a:latin typeface="Microsoft JhengHei"/>
                <a:ea typeface="Microsoft JhengHei"/>
                <a:cs typeface="Microsoft JhengHei"/>
              </a:rPr>
              <a:t>而是讓每份契約補上自己的責任。</a:t>
            </a:r>
          </a:p>
        </p:txBody>
      </p:sp>
      <p:sp>
        <p:nvSpPr>
          <p:cNvPr id="9" name="source-6">
            <a:extLst>
              <a:ext uri="{FF2B5EF4-FFF2-40B4-BE49-F238E27FC236}">
                <a16:creationId xmlns:a16="http://schemas.microsoft.com/office/drawing/2014/main" id="{BF30D5E3-682F-43AE-9923-13B1D80DE72D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904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F8798"/>
                </a:solidFill>
              </a:defRPr>
            </a:pPr>
            <a:r>
              <a:rPr sz="975" b="0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來源：Projects/hcplAct/docs/ssot/habdd/waitlist-promotion.ha.feature</a:t>
            </a:r>
          </a:p>
        </p:txBody>
      </p:sp>
      <p:sp>
        <p:nvSpPr>
          <p:cNvPr id="10" name="footer-6">
            <a:extLst>
              <a:ext uri="{FF2B5EF4-FFF2-40B4-BE49-F238E27FC236}">
                <a16:creationId xmlns:a16="http://schemas.microsoft.com/office/drawing/2014/main" id="{3610CD28-D0B5-4424-B849-C8A60DA9D7B2}"/>
              </a:ext>
            </a:extLst>
          </p:cNvPr>
          <p:cNvSpPr>
            <a:spLocks noGrp="1"/>
          </p:cNvSpPr>
          <p:nvPr/>
        </p:nvSpPr>
        <p:spPr>
          <a:xfrm>
            <a:off x="10096500" y="6362700"/>
            <a:ext cx="140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F8798"/>
                </a:solidFill>
              </a:defRPr>
            </a:pPr>
            <a:r>
              <a:rPr sz="1050" b="1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06  /  14</a:t>
            </a:r>
          </a:p>
        </p:txBody>
      </p:sp>
    </p:spTree>
    <p:extLst>
      <p:ext uri="{BB962C8B-B14F-4D97-AF65-F5344CB8AC3E}">
        <p14:creationId xmlns:p14="http://schemas.microsoft.com/office/powerpoint/2010/main" val="875476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yebrow-7">
            <a:extLst>
              <a:ext uri="{FF2B5EF4-FFF2-40B4-BE49-F238E27FC236}">
                <a16:creationId xmlns:a16="http://schemas.microsoft.com/office/drawing/2014/main" id="{75D5F20B-6CD9-4C5E-A8ED-2F2F3BC3186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D0BA"/>
                </a:solidFill>
              </a:defRPr>
            </a:pPr>
            <a:r>
              <a:rPr sz="1200" b="1">
                <a:solidFill>
                  <a:srgbClr val="35D0BA"/>
                </a:solidFill>
                <a:latin typeface="Microsoft JhengHei"/>
                <a:ea typeface="Microsoft JhengHei"/>
                <a:cs typeface="Microsoft JhengHei"/>
              </a:rPr>
              <a:t>hyrapt × T00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3BB017D3-8015-4D9C-83FD-E8C10DC215A6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525" b="1">
                <a:solidFill>
                  <a:srgbClr val="F5F3EA"/>
                </a:solidFill>
              </a:defRPr>
            </a:pPr>
            <a:r>
              <a:rPr sz="3525" b="1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能生成，還不等於值得相信</a:t>
            </a:r>
          </a:p>
        </p:txBody>
      </p:sp>
      <p:sp>
        <p:nvSpPr>
          <p:cNvPr id="3" name="header-rule-7">
            <a:extLst>
              <a:ext uri="{FF2B5EF4-FFF2-40B4-BE49-F238E27FC236}">
                <a16:creationId xmlns:a16="http://schemas.microsoft.com/office/drawing/2014/main" id="{6099CA3F-24F8-4974-A5B8-6138F20DD4F6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generated-big">
            <a:extLst>
              <a:ext uri="{FF2B5EF4-FFF2-40B4-BE49-F238E27FC236}">
                <a16:creationId xmlns:a16="http://schemas.microsoft.com/office/drawing/2014/main" id="{7659B251-5256-4078-9A6D-722F6796905E}"/>
              </a:ext>
            </a:extLst>
          </p:cNvPr>
          <p:cNvSpPr>
            <a:spLocks noGrp="1"/>
          </p:cNvSpPr>
          <p:nvPr/>
        </p:nvSpPr>
        <p:spPr>
          <a:xfrm>
            <a:off x="933450" y="1943100"/>
            <a:ext cx="4000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00" b="1">
                <a:solidFill>
                  <a:srgbClr val="5ED3A7"/>
                </a:solidFill>
              </a:defRPr>
            </a:pPr>
            <a:r>
              <a:rPr sz="4800" b="1">
                <a:solidFill>
                  <a:srgbClr val="5ED3A7"/>
                </a:solidFill>
                <a:latin typeface="Microsoft JhengHei"/>
                <a:ea typeface="Microsoft JhengHei"/>
                <a:cs typeface="Microsoft JhengHei"/>
              </a:rPr>
              <a:t>Generated</a:t>
            </a:r>
          </a:p>
        </p:txBody>
      </p:sp>
      <p:sp>
        <p:nvSpPr>
          <p:cNvPr id="5" name="generated-check">
            <a:extLst>
              <a:ext uri="{FF2B5EF4-FFF2-40B4-BE49-F238E27FC236}">
                <a16:creationId xmlns:a16="http://schemas.microsoft.com/office/drawing/2014/main" id="{B67276CD-96AA-4149-9486-3F17BEB4A8B3}"/>
              </a:ext>
            </a:extLst>
          </p:cNvPr>
          <p:cNvSpPr>
            <a:spLocks noGrp="1"/>
          </p:cNvSpPr>
          <p:nvPr/>
        </p:nvSpPr>
        <p:spPr>
          <a:xfrm>
            <a:off x="2190750" y="2876550"/>
            <a:ext cx="14287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850" b="1">
                <a:solidFill>
                  <a:srgbClr val="5ED3A7"/>
                </a:solidFill>
              </a:defRPr>
            </a:pPr>
            <a:r>
              <a:rPr sz="5850" b="1">
                <a:solidFill>
                  <a:srgbClr val="5ED3A7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6" name="ready-big">
            <a:extLst>
              <a:ext uri="{FF2B5EF4-FFF2-40B4-BE49-F238E27FC236}">
                <a16:creationId xmlns:a16="http://schemas.microsoft.com/office/drawing/2014/main" id="{61736F4F-2CFA-433E-B690-C57636FB4D4C}"/>
              </a:ext>
            </a:extLst>
          </p:cNvPr>
          <p:cNvSpPr>
            <a:spLocks noGrp="1"/>
          </p:cNvSpPr>
          <p:nvPr/>
        </p:nvSpPr>
        <p:spPr>
          <a:xfrm>
            <a:off x="7086600" y="1943100"/>
            <a:ext cx="3429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00" b="1">
                <a:solidFill>
                  <a:srgbClr val="F5B84B"/>
                </a:solidFill>
              </a:defRPr>
            </a:pPr>
            <a:r>
              <a:rPr sz="4800" b="1">
                <a:solidFill>
                  <a:srgbClr val="F5B84B"/>
                </a:solidFill>
                <a:latin typeface="Microsoft JhengHei"/>
                <a:ea typeface="Microsoft JhengHei"/>
                <a:cs typeface="Microsoft JhengHei"/>
              </a:rPr>
              <a:t>Ready?</a:t>
            </a:r>
          </a:p>
        </p:txBody>
      </p:sp>
      <p:sp>
        <p:nvSpPr>
          <p:cNvPr id="7" name="ready-question">
            <a:extLst>
              <a:ext uri="{FF2B5EF4-FFF2-40B4-BE49-F238E27FC236}">
                <a16:creationId xmlns:a16="http://schemas.microsoft.com/office/drawing/2014/main" id="{1649C356-1643-4B42-B1A8-DC3619902185}"/>
              </a:ext>
            </a:extLst>
          </p:cNvPr>
          <p:cNvSpPr>
            <a:spLocks noGrp="1"/>
          </p:cNvSpPr>
          <p:nvPr/>
        </p:nvSpPr>
        <p:spPr>
          <a:xfrm>
            <a:off x="6743700" y="2952750"/>
            <a:ext cx="40957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哪一版？誰確認？</a:t>
            </a:r>
          </a:p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缺資料有沒有被補成 0？</a:t>
            </a:r>
          </a:p>
        </p:txBody>
      </p:sp>
      <p:sp>
        <p:nvSpPr>
          <p:cNvPr id="8" name="generated-divider">
            <a:extLst>
              <a:ext uri="{FF2B5EF4-FFF2-40B4-BE49-F238E27FC236}">
                <a16:creationId xmlns:a16="http://schemas.microsoft.com/office/drawing/2014/main" id="{C66601C8-0F66-4F4A-9207-ED67305E0EA2}"/>
              </a:ext>
            </a:extLst>
          </p:cNvPr>
          <p:cNvSpPr>
            <a:spLocks noGrp="1"/>
          </p:cNvSpPr>
          <p:nvPr/>
        </p:nvSpPr>
        <p:spPr>
          <a:xfrm>
            <a:off x="6096000" y="1943100"/>
            <a:ext cx="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verify-frame">
            <a:extLst>
              <a:ext uri="{FF2B5EF4-FFF2-40B4-BE49-F238E27FC236}">
                <a16:creationId xmlns:a16="http://schemas.microsoft.com/office/drawing/2014/main" id="{32DC9198-77DD-4D85-AF7B-BD277909E526}"/>
              </a:ext>
            </a:extLst>
          </p:cNvPr>
          <p:cNvSpPr>
            <a:spLocks noGrp="1"/>
          </p:cNvSpPr>
          <p:nvPr/>
        </p:nvSpPr>
        <p:spPr>
          <a:xfrm>
            <a:off x="2724150" y="3943350"/>
            <a:ext cx="6743700" cy="2209800"/>
          </a:xfrm>
          <a:prstGeom prst="roundRect">
            <a:avLst>
              <a:gd name="adj" fmla="val 3448"/>
            </a:avLst>
          </a:prstGeom>
          <a:solidFill>
            <a:srgbClr val="0B1C2A"/>
          </a:solidFill>
          <a:ln w="9525">
            <a:solidFill>
              <a:srgbClr val="24475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TW" altLang="en-US"/>
          </a:p>
        </p:txBody>
      </p:sp>
      <p:sp>
        <p:nvSpPr>
          <p:cNvPr id="10" name="verify-label">
            <a:extLst>
              <a:ext uri="{FF2B5EF4-FFF2-40B4-BE49-F238E27FC236}">
                <a16:creationId xmlns:a16="http://schemas.microsoft.com/office/drawing/2014/main" id="{530608C8-2624-44C9-A562-D347CE6CCE39}"/>
              </a:ext>
            </a:extLst>
          </p:cNvPr>
          <p:cNvSpPr>
            <a:spLocks noGrp="1"/>
          </p:cNvSpPr>
          <p:nvPr/>
        </p:nvSpPr>
        <p:spPr>
          <a:xfrm>
            <a:off x="2895600" y="4076700"/>
            <a:ext cx="6400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5B84B"/>
                </a:solidFill>
              </a:defRPr>
            </a:pPr>
            <a:r>
              <a:rPr sz="1050" b="1">
                <a:solidFill>
                  <a:srgbClr val="F5B84B"/>
                </a:solidFill>
                <a:latin typeface="Microsoft JhengHei"/>
                <a:ea typeface="Microsoft JhengHei"/>
                <a:cs typeface="Microsoft JhengHei"/>
              </a:rPr>
              <a:t>真實 verify 摘要</a:t>
            </a:r>
          </a:p>
        </p:txBody>
      </p:sp>
      <p:sp>
        <p:nvSpPr>
          <p:cNvPr id="11" name="verify-text">
            <a:extLst>
              <a:ext uri="{FF2B5EF4-FFF2-40B4-BE49-F238E27FC236}">
                <a16:creationId xmlns:a16="http://schemas.microsoft.com/office/drawing/2014/main" id="{D52E9456-BB33-40FE-AE95-A67662AB46A7}"/>
              </a:ext>
            </a:extLst>
          </p:cNvPr>
          <p:cNvSpPr>
            <a:spLocks noGrp="1"/>
          </p:cNvSpPr>
          <p:nvPr/>
        </p:nvSpPr>
        <p:spPr>
          <a:xfrm>
            <a:off x="2895600" y="4371975"/>
            <a:ext cx="6400800" cy="1647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5F3EA"/>
                </a:solidFill>
              </a:defRPr>
            </a:pPr>
            <a:r>
              <a:rPr sz="1425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completeness:   PASS</a:t>
            </a:r>
          </a:p>
          <a:p>
            <a:pPr algn="l">
              <a:defRPr sz="1425" b="0">
                <a:solidFill>
                  <a:srgbClr val="F5F3EA"/>
                </a:solidFill>
              </a:defRPr>
            </a:pPr>
            <a:r>
              <a:rPr sz="1425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consistency:    PASS</a:t>
            </a:r>
          </a:p>
          <a:p>
            <a:pPr algn="l">
              <a:defRPr sz="1425" b="0">
                <a:solidFill>
                  <a:srgbClr val="F5F3EA"/>
                </a:solidFill>
              </a:defRPr>
            </a:pPr>
            <a:r>
              <a:rPr sz="1425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traceability:   PASS</a:t>
            </a:r>
          </a:p>
          <a:p>
            <a:pPr algn="l">
              <a:defRPr sz="1425" b="0">
                <a:solidFill>
                  <a:srgbClr val="F5F3EA"/>
                </a:solidFill>
              </a:defRPr>
            </a:pPr>
            <a:r>
              <a:rPr sz="1425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coverage:       PASS</a:t>
            </a:r>
          </a:p>
          <a:p>
            <a:pPr algn="l">
              <a:defRPr sz="1425" b="0">
                <a:solidFill>
                  <a:srgbClr val="F5F3EA"/>
                </a:solidFill>
              </a:defRPr>
            </a:pPr>
            <a:r>
              <a:rPr sz="1425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preview_audits: PARTIAL</a:t>
            </a:r>
          </a:p>
          <a:p>
            <a:pPr algn="l">
              <a:defRPr sz="1425" b="0">
                <a:solidFill>
                  <a:srgbClr val="F5F3EA"/>
                </a:solidFill>
              </a:defRPr>
            </a:pPr>
            <a:r>
              <a:rPr sz="1425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rascore:        PARTIAL</a:t>
            </a:r>
          </a:p>
          <a:p>
            <a:pPr algn="l">
              <a:defRPr sz="1425" b="0">
                <a:solidFill>
                  <a:srgbClr val="F5F3EA"/>
                </a:solidFill>
              </a:defRPr>
            </a:pPr>
            <a:r>
              <a:rPr sz="1425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risk_gates:     PARTIAL</a:t>
            </a:r>
          </a:p>
        </p:txBody>
      </p:sp>
      <p:sp>
        <p:nvSpPr>
          <p:cNvPr id="12" name="source-7">
            <a:extLst>
              <a:ext uri="{FF2B5EF4-FFF2-40B4-BE49-F238E27FC236}">
                <a16:creationId xmlns:a16="http://schemas.microsoft.com/office/drawing/2014/main" id="{5E91F223-561B-4D61-8542-8240EFCB8F8B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904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F8798"/>
                </a:solidFill>
              </a:defRPr>
            </a:pPr>
            <a:r>
              <a:rPr sz="975" b="0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來源：Projects/hcplAct/docs/reports/verify-report.yml</a:t>
            </a:r>
          </a:p>
        </p:txBody>
      </p:sp>
      <p:sp>
        <p:nvSpPr>
          <p:cNvPr id="13" name="footer-7">
            <a:extLst>
              <a:ext uri="{FF2B5EF4-FFF2-40B4-BE49-F238E27FC236}">
                <a16:creationId xmlns:a16="http://schemas.microsoft.com/office/drawing/2014/main" id="{08EFA360-1D96-4379-9977-4C496AC7D0F8}"/>
              </a:ext>
            </a:extLst>
          </p:cNvPr>
          <p:cNvSpPr>
            <a:spLocks noGrp="1"/>
          </p:cNvSpPr>
          <p:nvPr/>
        </p:nvSpPr>
        <p:spPr>
          <a:xfrm>
            <a:off x="10096500" y="6362700"/>
            <a:ext cx="140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F8798"/>
                </a:solidFill>
              </a:defRPr>
            </a:pPr>
            <a:r>
              <a:rPr sz="1050" b="1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07  /  14</a:t>
            </a:r>
          </a:p>
        </p:txBody>
      </p:sp>
    </p:spTree>
    <p:extLst>
      <p:ext uri="{BB962C8B-B14F-4D97-AF65-F5344CB8AC3E}">
        <p14:creationId xmlns:p14="http://schemas.microsoft.com/office/powerpoint/2010/main" val="1747645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yebrow-8">
            <a:extLst>
              <a:ext uri="{FF2B5EF4-FFF2-40B4-BE49-F238E27FC236}">
                <a16:creationId xmlns:a16="http://schemas.microsoft.com/office/drawing/2014/main" id="{D7AF4399-CBDD-42EC-8952-91DFBE070D2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D0BA"/>
                </a:solidFill>
              </a:defRPr>
            </a:pPr>
            <a:r>
              <a:rPr sz="1200" b="1">
                <a:solidFill>
                  <a:srgbClr val="35D0BA"/>
                </a:solidFill>
                <a:latin typeface="Microsoft JhengHei"/>
                <a:ea typeface="Microsoft JhengHei"/>
                <a:cs typeface="Microsoft JhengHei"/>
              </a:rPr>
              <a:t>hyrapt × T00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FF7318E4-1F6F-469F-A6C8-E8F9B5A2D033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525" b="1">
                <a:solidFill>
                  <a:srgbClr val="F5F3EA"/>
                </a:solidFill>
              </a:defRPr>
            </a:pPr>
            <a:r>
              <a:rPr sz="3525" b="1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MAR 的核心：三個「不做就不算」</a:t>
            </a:r>
          </a:p>
        </p:txBody>
      </p:sp>
      <p:sp>
        <p:nvSpPr>
          <p:cNvPr id="3" name="header-rule-8">
            <a:extLst>
              <a:ext uri="{FF2B5EF4-FFF2-40B4-BE49-F238E27FC236}">
                <a16:creationId xmlns:a16="http://schemas.microsoft.com/office/drawing/2014/main" id="{5109D869-5884-4CB5-A9FF-04876282FEA7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gate-no-0">
            <a:extLst>
              <a:ext uri="{FF2B5EF4-FFF2-40B4-BE49-F238E27FC236}">
                <a16:creationId xmlns:a16="http://schemas.microsoft.com/office/drawing/2014/main" id="{EF7ED3F6-06AD-403D-AB33-F8D63E16D3D3}"/>
              </a:ext>
            </a:extLst>
          </p:cNvPr>
          <p:cNvSpPr>
            <a:spLocks noGrp="1"/>
          </p:cNvSpPr>
          <p:nvPr/>
        </p:nvSpPr>
        <p:spPr>
          <a:xfrm>
            <a:off x="971550" y="1962150"/>
            <a:ext cx="95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900" b="1">
                <a:solidFill>
                  <a:srgbClr val="35D0BA"/>
                </a:solidFill>
              </a:defRPr>
            </a:pPr>
            <a:r>
              <a:rPr sz="3900" b="1">
                <a:solidFill>
                  <a:srgbClr val="35D0BA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gate-if-0">
            <a:extLst>
              <a:ext uri="{FF2B5EF4-FFF2-40B4-BE49-F238E27FC236}">
                <a16:creationId xmlns:a16="http://schemas.microsoft.com/office/drawing/2014/main" id="{DFDDDC74-34E2-4BDA-B492-DBC45F2E1A68}"/>
              </a:ext>
            </a:extLst>
          </p:cNvPr>
          <p:cNvSpPr>
            <a:spLocks noGrp="1"/>
          </p:cNvSpPr>
          <p:nvPr/>
        </p:nvSpPr>
        <p:spPr>
          <a:xfrm>
            <a:off x="2286000" y="2000250"/>
            <a:ext cx="342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5F3EA"/>
                </a:solidFill>
              </a:defRPr>
            </a:pPr>
            <a:r>
              <a:rPr sz="2400" b="1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未 MAR-ready</a:t>
            </a:r>
          </a:p>
        </p:txBody>
      </p:sp>
      <p:sp>
        <p:nvSpPr>
          <p:cNvPr id="6" name="gate-arrow-0">
            <a:extLst>
              <a:ext uri="{FF2B5EF4-FFF2-40B4-BE49-F238E27FC236}">
                <a16:creationId xmlns:a16="http://schemas.microsoft.com/office/drawing/2014/main" id="{6878732D-90B0-4E0A-8C8E-E285BE5FDAA3}"/>
              </a:ext>
            </a:extLst>
          </p:cNvPr>
          <p:cNvSpPr>
            <a:spLocks noGrp="1"/>
          </p:cNvSpPr>
          <p:nvPr/>
        </p:nvSpPr>
        <p:spPr>
          <a:xfrm>
            <a:off x="5905500" y="2257425"/>
            <a:ext cx="952500" cy="0"/>
          </a:xfrm>
          <a:prstGeom prst="line">
            <a:avLst/>
          </a:prstGeom>
          <a:solidFill>
            <a:srgbClr val="000000">
              <a:alpha val="0"/>
            </a:srgbClr>
          </a:solidFill>
          <a:ln w="381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gate-result-0">
            <a:extLst>
              <a:ext uri="{FF2B5EF4-FFF2-40B4-BE49-F238E27FC236}">
                <a16:creationId xmlns:a16="http://schemas.microsoft.com/office/drawing/2014/main" id="{19239724-4EB7-407F-937A-7466DE83EDF4}"/>
              </a:ext>
            </a:extLst>
          </p:cNvPr>
          <p:cNvSpPr>
            <a:spLocks noGrp="1"/>
          </p:cNvSpPr>
          <p:nvPr/>
        </p:nvSpPr>
        <p:spPr>
          <a:xfrm>
            <a:off x="7239000" y="2000250"/>
            <a:ext cx="400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35D0BA"/>
                </a:solidFill>
              </a:defRPr>
            </a:pPr>
            <a:r>
              <a:rPr sz="2400" b="1">
                <a:solidFill>
                  <a:srgbClr val="35D0BA"/>
                </a:solidFill>
                <a:latin typeface="Microsoft JhengHei"/>
                <a:ea typeface="Microsoft JhengHei"/>
                <a:cs typeface="Microsoft JhengHei"/>
              </a:rPr>
              <a:t>不進組織彙總</a:t>
            </a:r>
          </a:p>
        </p:txBody>
      </p:sp>
      <p:sp>
        <p:nvSpPr>
          <p:cNvPr id="8" name="gate-no-1">
            <a:extLst>
              <a:ext uri="{FF2B5EF4-FFF2-40B4-BE49-F238E27FC236}">
                <a16:creationId xmlns:a16="http://schemas.microsoft.com/office/drawing/2014/main" id="{0AE842DE-E6A8-4EE2-A0AC-F0312DB376E5}"/>
              </a:ext>
            </a:extLst>
          </p:cNvPr>
          <p:cNvSpPr>
            <a:spLocks noGrp="1"/>
          </p:cNvSpPr>
          <p:nvPr/>
        </p:nvSpPr>
        <p:spPr>
          <a:xfrm>
            <a:off x="971550" y="3181350"/>
            <a:ext cx="95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900" b="1">
                <a:solidFill>
                  <a:srgbClr val="F5B84B"/>
                </a:solidFill>
              </a:defRPr>
            </a:pPr>
            <a:r>
              <a:rPr sz="3900" b="1">
                <a:solidFill>
                  <a:srgbClr val="F5B84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9" name="gate-if-1">
            <a:extLst>
              <a:ext uri="{FF2B5EF4-FFF2-40B4-BE49-F238E27FC236}">
                <a16:creationId xmlns:a16="http://schemas.microsoft.com/office/drawing/2014/main" id="{B3779514-6F04-428E-95AE-BA6CFD5BDE00}"/>
              </a:ext>
            </a:extLst>
          </p:cNvPr>
          <p:cNvSpPr>
            <a:spLocks noGrp="1"/>
          </p:cNvSpPr>
          <p:nvPr/>
        </p:nvSpPr>
        <p:spPr>
          <a:xfrm>
            <a:off x="2286000" y="3219450"/>
            <a:ext cx="342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5F3EA"/>
                </a:solidFill>
              </a:defRPr>
            </a:pPr>
            <a:r>
              <a:rPr sz="2400" b="1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未 closeout</a:t>
            </a:r>
          </a:p>
        </p:txBody>
      </p:sp>
      <p:sp>
        <p:nvSpPr>
          <p:cNvPr id="10" name="gate-arrow-1">
            <a:extLst>
              <a:ext uri="{FF2B5EF4-FFF2-40B4-BE49-F238E27FC236}">
                <a16:creationId xmlns:a16="http://schemas.microsoft.com/office/drawing/2014/main" id="{AC4C40BB-D9C7-440A-B3C8-B8943F41CD35}"/>
              </a:ext>
            </a:extLst>
          </p:cNvPr>
          <p:cNvSpPr>
            <a:spLocks noGrp="1"/>
          </p:cNvSpPr>
          <p:nvPr/>
        </p:nvSpPr>
        <p:spPr>
          <a:xfrm>
            <a:off x="5905500" y="3476625"/>
            <a:ext cx="952500" cy="0"/>
          </a:xfrm>
          <a:prstGeom prst="line">
            <a:avLst/>
          </a:prstGeom>
          <a:solidFill>
            <a:srgbClr val="000000">
              <a:alpha val="0"/>
            </a:srgbClr>
          </a:solidFill>
          <a:ln w="38100">
            <a:solidFill>
              <a:srgbClr val="F5B8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gate-result-1">
            <a:extLst>
              <a:ext uri="{FF2B5EF4-FFF2-40B4-BE49-F238E27FC236}">
                <a16:creationId xmlns:a16="http://schemas.microsoft.com/office/drawing/2014/main" id="{A9533E05-29CA-4FDB-B047-894AFC14F374}"/>
              </a:ext>
            </a:extLst>
          </p:cNvPr>
          <p:cNvSpPr>
            <a:spLocks noGrp="1"/>
          </p:cNvSpPr>
          <p:nvPr/>
        </p:nvSpPr>
        <p:spPr>
          <a:xfrm>
            <a:off x="7239000" y="3219450"/>
            <a:ext cx="400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5B84B"/>
                </a:solidFill>
              </a:defRPr>
            </a:pPr>
            <a:r>
              <a:rPr sz="2400" b="1">
                <a:solidFill>
                  <a:srgbClr val="F5B84B"/>
                </a:solidFill>
                <a:latin typeface="Microsoft JhengHei"/>
                <a:ea typeface="Microsoft JhengHei"/>
                <a:cs typeface="Microsoft JhengHei"/>
              </a:rPr>
              <a:t>不計入 BU 採用成效</a:t>
            </a:r>
          </a:p>
        </p:txBody>
      </p:sp>
      <p:sp>
        <p:nvSpPr>
          <p:cNvPr id="12" name="gate-no-2">
            <a:extLst>
              <a:ext uri="{FF2B5EF4-FFF2-40B4-BE49-F238E27FC236}">
                <a16:creationId xmlns:a16="http://schemas.microsoft.com/office/drawing/2014/main" id="{893E59F9-DDC9-4122-AED1-A291CB856B24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95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900" b="1">
                <a:solidFill>
                  <a:srgbClr val="FF6B6B"/>
                </a:solidFill>
              </a:defRPr>
            </a:pPr>
            <a:r>
              <a:rPr sz="39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3" name="gate-if-2">
            <a:extLst>
              <a:ext uri="{FF2B5EF4-FFF2-40B4-BE49-F238E27FC236}">
                <a16:creationId xmlns:a16="http://schemas.microsoft.com/office/drawing/2014/main" id="{2406AE0B-E320-4EA6-A29D-4AC2E7EBB0B0}"/>
              </a:ext>
            </a:extLst>
          </p:cNvPr>
          <p:cNvSpPr>
            <a:spLocks noGrp="1"/>
          </p:cNvSpPr>
          <p:nvPr/>
        </p:nvSpPr>
        <p:spPr>
          <a:xfrm>
            <a:off x="2286000" y="4438650"/>
            <a:ext cx="342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5F3EA"/>
                </a:solidFill>
              </a:defRPr>
            </a:pPr>
            <a:r>
              <a:rPr sz="2400" b="1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不追蹤</a:t>
            </a:r>
          </a:p>
        </p:txBody>
      </p:sp>
      <p:sp>
        <p:nvSpPr>
          <p:cNvPr id="14" name="gate-arrow-2">
            <a:extLst>
              <a:ext uri="{FF2B5EF4-FFF2-40B4-BE49-F238E27FC236}">
                <a16:creationId xmlns:a16="http://schemas.microsoft.com/office/drawing/2014/main" id="{BE287ECA-9CDC-44A3-9D2B-C69E8D0B1B20}"/>
              </a:ext>
            </a:extLst>
          </p:cNvPr>
          <p:cNvSpPr>
            <a:spLocks noGrp="1"/>
          </p:cNvSpPr>
          <p:nvPr/>
        </p:nvSpPr>
        <p:spPr>
          <a:xfrm>
            <a:off x="5905500" y="4695825"/>
            <a:ext cx="952500" cy="0"/>
          </a:xfrm>
          <a:prstGeom prst="line">
            <a:avLst/>
          </a:prstGeom>
          <a:solidFill>
            <a:srgbClr val="000000">
              <a:alpha val="0"/>
            </a:srgbClr>
          </a:solidFill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gate-result-2">
            <a:extLst>
              <a:ext uri="{FF2B5EF4-FFF2-40B4-BE49-F238E27FC236}">
                <a16:creationId xmlns:a16="http://schemas.microsoft.com/office/drawing/2014/main" id="{0928B996-3112-40AD-829C-C98109895D4C}"/>
              </a:ext>
            </a:extLst>
          </p:cNvPr>
          <p:cNvSpPr>
            <a:spLocks noGrp="1"/>
          </p:cNvSpPr>
          <p:nvPr/>
        </p:nvSpPr>
        <p:spPr>
          <a:xfrm>
            <a:off x="7239000" y="4438650"/>
            <a:ext cx="400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F6B6B"/>
                </a:solidFill>
              </a:defRPr>
            </a:pPr>
            <a:r>
              <a:rPr sz="24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不算數</a:t>
            </a:r>
          </a:p>
        </p:txBody>
      </p:sp>
      <p:sp>
        <p:nvSpPr>
          <p:cNvPr id="16" name="goodhart">
            <a:extLst>
              <a:ext uri="{FF2B5EF4-FFF2-40B4-BE49-F238E27FC236}">
                <a16:creationId xmlns:a16="http://schemas.microsoft.com/office/drawing/2014/main" id="{9BEA702A-81E5-48A7-8A55-30EBD5DD38AD}"/>
              </a:ext>
            </a:extLst>
          </p:cNvPr>
          <p:cNvSpPr>
            <a:spLocks noGrp="1"/>
          </p:cNvSpPr>
          <p:nvPr/>
        </p:nvSpPr>
        <p:spPr>
          <a:xfrm>
            <a:off x="1924050" y="5772150"/>
            <a:ext cx="8343900" cy="457200"/>
          </a:xfrm>
          <a:prstGeom prst="roundRect">
            <a:avLst>
              <a:gd name="adj" fmla="val 16667"/>
            </a:avLst>
          </a:prstGeom>
          <a:solidFill>
            <a:srgbClr val="102638"/>
          </a:solidFill>
          <a:ln w="952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goodhart-text">
            <a:extLst>
              <a:ext uri="{FF2B5EF4-FFF2-40B4-BE49-F238E27FC236}">
                <a16:creationId xmlns:a16="http://schemas.microsoft.com/office/drawing/2014/main" id="{6CE96D65-3E4E-465B-B23D-C4174226611E}"/>
              </a:ext>
            </a:extLst>
          </p:cNvPr>
          <p:cNvSpPr>
            <a:spLocks noGrp="1"/>
          </p:cNvSpPr>
          <p:nvPr/>
        </p:nvSpPr>
        <p:spPr>
          <a:xfrm>
            <a:off x="2152650" y="5857875"/>
            <a:ext cx="788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A7B7C7"/>
                </a:solidFill>
              </a:defRPr>
            </a:pPr>
            <a:r>
              <a:rPr sz="1500" b="1">
                <a:solidFill>
                  <a:srgbClr val="A7B7C7"/>
                </a:solidFill>
                <a:latin typeface="Microsoft JhengHei"/>
                <a:ea typeface="Microsoft JhengHei"/>
                <a:cs typeface="Microsoft JhengHei"/>
              </a:rPr>
              <a:t>evidence 大於故事　·　unknown 不等於 0　·　diagnostic-only-no-ranking</a:t>
            </a:r>
          </a:p>
        </p:txBody>
      </p:sp>
      <p:sp>
        <p:nvSpPr>
          <p:cNvPr id="18" name="source-8">
            <a:extLst>
              <a:ext uri="{FF2B5EF4-FFF2-40B4-BE49-F238E27FC236}">
                <a16:creationId xmlns:a16="http://schemas.microsoft.com/office/drawing/2014/main" id="{A00E6F8D-449B-4B8F-B648-6A253A6170CB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904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F8798"/>
                </a:solidFill>
              </a:defRPr>
            </a:pPr>
            <a:r>
              <a:rPr sz="975" b="0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依據：RAPTor Skills README / UserGuide · MAR Gate</a:t>
            </a:r>
          </a:p>
        </p:txBody>
      </p:sp>
      <p:sp>
        <p:nvSpPr>
          <p:cNvPr id="19" name="footer-8">
            <a:extLst>
              <a:ext uri="{FF2B5EF4-FFF2-40B4-BE49-F238E27FC236}">
                <a16:creationId xmlns:a16="http://schemas.microsoft.com/office/drawing/2014/main" id="{62775851-A453-4E35-9F2B-5A9928009992}"/>
              </a:ext>
            </a:extLst>
          </p:cNvPr>
          <p:cNvSpPr>
            <a:spLocks noGrp="1"/>
          </p:cNvSpPr>
          <p:nvPr/>
        </p:nvSpPr>
        <p:spPr>
          <a:xfrm>
            <a:off x="10096500" y="6362700"/>
            <a:ext cx="140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F8798"/>
                </a:solidFill>
              </a:defRPr>
            </a:pPr>
            <a:r>
              <a:rPr sz="1050" b="1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08  /  14</a:t>
            </a:r>
          </a:p>
        </p:txBody>
      </p:sp>
    </p:spTree>
    <p:extLst>
      <p:ext uri="{BB962C8B-B14F-4D97-AF65-F5344CB8AC3E}">
        <p14:creationId xmlns:p14="http://schemas.microsoft.com/office/powerpoint/2010/main" val="5537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yebrow-9">
            <a:extLst>
              <a:ext uri="{FF2B5EF4-FFF2-40B4-BE49-F238E27FC236}">
                <a16:creationId xmlns:a16="http://schemas.microsoft.com/office/drawing/2014/main" id="{9DDCD1A1-BEAE-4C3E-954F-DA3990F9394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D0BA"/>
                </a:solidFill>
              </a:defRPr>
            </a:pPr>
            <a:r>
              <a:rPr sz="1200" b="1">
                <a:solidFill>
                  <a:srgbClr val="35D0BA"/>
                </a:solidFill>
                <a:latin typeface="Microsoft JhengHei"/>
                <a:ea typeface="Microsoft JhengHei"/>
                <a:cs typeface="Microsoft JhengHei"/>
              </a:rPr>
              <a:t>hyrapt × T00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6B0D455A-A63B-4B44-BA36-7EE789A14409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525" b="1">
                <a:solidFill>
                  <a:srgbClr val="F5F3EA"/>
                </a:solidFill>
              </a:defRPr>
            </a:pPr>
            <a:r>
              <a:rPr sz="3525" b="1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MAR 三段 workflow：定義 → 留痕 → 學習</a:t>
            </a:r>
          </a:p>
        </p:txBody>
      </p:sp>
      <p:sp>
        <p:nvSpPr>
          <p:cNvPr id="3" name="header-rule-9">
            <a:extLst>
              <a:ext uri="{FF2B5EF4-FFF2-40B4-BE49-F238E27FC236}">
                <a16:creationId xmlns:a16="http://schemas.microsoft.com/office/drawing/2014/main" id="{0908EC3F-3C2E-4294-A5D2-48927455FDC6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74550" y="1752600"/>
            <a:ext cx="9442901" cy="3733800"/>
          </a:xfrm>
          <a:prstGeom prst="rect">
            <a:avLst/>
          </a:prstGeom>
        </p:spPr>
      </p:pic>
      <p:sp>
        <p:nvSpPr>
          <p:cNvPr id="5" name="mar-flow-note">
            <a:extLst>
              <a:ext uri="{FF2B5EF4-FFF2-40B4-BE49-F238E27FC236}">
                <a16:creationId xmlns:a16="http://schemas.microsoft.com/office/drawing/2014/main" id="{44A8B2DB-8832-401D-AF44-EC2D1D1DE030}"/>
              </a:ext>
            </a:extLst>
          </p:cNvPr>
          <p:cNvSpPr>
            <a:spLocks noGrp="1"/>
          </p:cNvSpPr>
          <p:nvPr/>
        </p:nvSpPr>
        <p:spPr>
          <a:xfrm>
            <a:off x="1695450" y="5734050"/>
            <a:ext cx="88011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它不是專案尾聲補一張報表；kickoff 時就先問：我們到底想知道什麼？</a:t>
            </a:r>
          </a:p>
        </p:txBody>
      </p:sp>
      <p:sp>
        <p:nvSpPr>
          <p:cNvPr id="6" name="footer-9">
            <a:extLst>
              <a:ext uri="{FF2B5EF4-FFF2-40B4-BE49-F238E27FC236}">
                <a16:creationId xmlns:a16="http://schemas.microsoft.com/office/drawing/2014/main" id="{47D629B4-324E-484D-9562-C640A610C33E}"/>
              </a:ext>
            </a:extLst>
          </p:cNvPr>
          <p:cNvSpPr>
            <a:spLocks noGrp="1"/>
          </p:cNvSpPr>
          <p:nvPr/>
        </p:nvSpPr>
        <p:spPr>
          <a:xfrm>
            <a:off x="10096500" y="6362700"/>
            <a:ext cx="140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F8798"/>
                </a:solidFill>
              </a:defRPr>
            </a:pPr>
            <a:r>
              <a:rPr sz="1050" b="1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09  /  14</a:t>
            </a:r>
          </a:p>
        </p:txBody>
      </p:sp>
    </p:spTree>
    <p:extLst>
      <p:ext uri="{BB962C8B-B14F-4D97-AF65-F5344CB8AC3E}">
        <p14:creationId xmlns:p14="http://schemas.microsoft.com/office/powerpoint/2010/main" val="195334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yebrow-10">
            <a:extLst>
              <a:ext uri="{FF2B5EF4-FFF2-40B4-BE49-F238E27FC236}">
                <a16:creationId xmlns:a16="http://schemas.microsoft.com/office/drawing/2014/main" id="{40B0A764-4152-4AFB-839A-D2C25947034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D0BA"/>
                </a:solidFill>
              </a:defRPr>
            </a:pPr>
            <a:r>
              <a:rPr sz="1200" b="1">
                <a:solidFill>
                  <a:srgbClr val="35D0BA"/>
                </a:solidFill>
                <a:latin typeface="Microsoft JhengHei"/>
                <a:ea typeface="Microsoft JhengHei"/>
                <a:cs typeface="Microsoft JhengHei"/>
              </a:rPr>
              <a:t>hyrapt × T00</a:t>
            </a:r>
          </a:p>
        </p:txBody>
      </p:sp>
      <p:sp>
        <p:nvSpPr>
          <p:cNvPr id="2" name="title-10">
            <a:extLst>
              <a:ext uri="{FF2B5EF4-FFF2-40B4-BE49-F238E27FC236}">
                <a16:creationId xmlns:a16="http://schemas.microsoft.com/office/drawing/2014/main" id="{E768850E-927A-4E68-A4EA-855E230CAC9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525" b="1">
                <a:solidFill>
                  <a:srgbClr val="F5F3EA"/>
                </a:solidFill>
              </a:defRPr>
            </a:pPr>
            <a:r>
              <a:rPr sz="3525" b="1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Workflow 1：先決定怎樣才算變好</a:t>
            </a:r>
          </a:p>
        </p:txBody>
      </p:sp>
      <p:sp>
        <p:nvSpPr>
          <p:cNvPr id="3" name="header-rule-10">
            <a:extLst>
              <a:ext uri="{FF2B5EF4-FFF2-40B4-BE49-F238E27FC236}">
                <a16:creationId xmlns:a16="http://schemas.microsoft.com/office/drawing/2014/main" id="{A5D798C3-0793-45D9-9972-145FEFDAD1A5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mar-plan-frame">
            <a:extLst>
              <a:ext uri="{FF2B5EF4-FFF2-40B4-BE49-F238E27FC236}">
                <a16:creationId xmlns:a16="http://schemas.microsoft.com/office/drawing/2014/main" id="{9D281465-14DB-4C8A-8C6C-DBD21C7ED0D2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6096000" cy="1905000"/>
          </a:xfrm>
          <a:prstGeom prst="roundRect">
            <a:avLst>
              <a:gd name="adj" fmla="val 4000"/>
            </a:avLst>
          </a:prstGeom>
          <a:solidFill>
            <a:srgbClr val="0B1C2A"/>
          </a:solidFill>
          <a:ln w="9525">
            <a:solidFill>
              <a:srgbClr val="24475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TW" altLang="en-US"/>
          </a:p>
        </p:txBody>
      </p:sp>
      <p:sp>
        <p:nvSpPr>
          <p:cNvPr id="5" name="mar-plan-label">
            <a:extLst>
              <a:ext uri="{FF2B5EF4-FFF2-40B4-BE49-F238E27FC236}">
                <a16:creationId xmlns:a16="http://schemas.microsoft.com/office/drawing/2014/main" id="{09BE1D75-989F-4669-9096-4F3E2F50DE13}"/>
              </a:ext>
            </a:extLst>
          </p:cNvPr>
          <p:cNvSpPr>
            <a:spLocks noGrp="1"/>
          </p:cNvSpPr>
          <p:nvPr/>
        </p:nvSpPr>
        <p:spPr>
          <a:xfrm>
            <a:off x="857250" y="1981200"/>
            <a:ext cx="5753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5B84B"/>
                </a:solidFill>
              </a:defRPr>
            </a:pPr>
            <a:r>
              <a:rPr sz="1050" b="1">
                <a:solidFill>
                  <a:srgbClr val="F5B84B"/>
                </a:solidFill>
                <a:latin typeface="Microsoft JhengHei"/>
                <a:ea typeface="Microsoft JhengHei"/>
                <a:cs typeface="Microsoft JhengHei"/>
              </a:rPr>
              <a:t>mar-plan.yml</a:t>
            </a:r>
          </a:p>
        </p:txBody>
      </p:sp>
      <p:sp>
        <p:nvSpPr>
          <p:cNvPr id="6" name="mar-plan-text">
            <a:extLst>
              <a:ext uri="{FF2B5EF4-FFF2-40B4-BE49-F238E27FC236}">
                <a16:creationId xmlns:a16="http://schemas.microsoft.com/office/drawing/2014/main" id="{CD949CD1-AF63-486D-8F33-B5B7EC323AC7}"/>
              </a:ext>
            </a:extLst>
          </p:cNvPr>
          <p:cNvSpPr>
            <a:spLocks noGrp="1"/>
          </p:cNvSpPr>
          <p:nvPr/>
        </p:nvSpPr>
        <p:spPr>
          <a:xfrm>
            <a:off x="857250" y="2276475"/>
            <a:ext cx="5753100" cy="1343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5F3EA"/>
                </a:solidFill>
              </a:defRPr>
            </a:pPr>
            <a:r>
              <a:rPr sz="1425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measurement_questions:</a:t>
            </a:r>
          </a:p>
          <a:p>
            <a:pPr algn="l">
              <a:defRPr sz="1425" b="0">
                <a:solidFill>
                  <a:srgbClr val="F5F3EA"/>
                </a:solidFill>
              </a:defRPr>
            </a:pPr>
            <a:r>
              <a:rPr sz="1425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  - RAPTor 是否縮短需求到可驗證 SSoT 的 lead time？</a:t>
            </a:r>
          </a:p>
          <a:p>
            <a:pPr algn="l">
              <a:defRPr sz="1425" b="0">
                <a:solidFill>
                  <a:srgbClr val="F5F3EA"/>
                </a:solidFill>
              </a:defRPr>
            </a:pPr>
            <a:r>
              <a:rPr sz="1425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  - RAPTor 是否降低 verify fail/warn 與 open clarification？</a:t>
            </a:r>
          </a:p>
        </p:txBody>
      </p:sp>
      <p:sp>
        <p:nvSpPr>
          <p:cNvPr id="7" name="baseline-frame">
            <a:extLst>
              <a:ext uri="{FF2B5EF4-FFF2-40B4-BE49-F238E27FC236}">
                <a16:creationId xmlns:a16="http://schemas.microsoft.com/office/drawing/2014/main" id="{A38FBA2D-A8E8-494A-BF16-015B9B808688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6096000" cy="1562100"/>
          </a:xfrm>
          <a:prstGeom prst="roundRect">
            <a:avLst>
              <a:gd name="adj" fmla="val 4878"/>
            </a:avLst>
          </a:prstGeom>
          <a:solidFill>
            <a:srgbClr val="0B1C2A"/>
          </a:solidFill>
          <a:ln w="9525">
            <a:solidFill>
              <a:srgbClr val="24475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TW" altLang="en-US"/>
          </a:p>
        </p:txBody>
      </p:sp>
      <p:sp>
        <p:nvSpPr>
          <p:cNvPr id="8" name="baseline-label">
            <a:extLst>
              <a:ext uri="{FF2B5EF4-FFF2-40B4-BE49-F238E27FC236}">
                <a16:creationId xmlns:a16="http://schemas.microsoft.com/office/drawing/2014/main" id="{6076D0BF-E4CD-42C4-8A3E-76F79CA908AD}"/>
              </a:ext>
            </a:extLst>
          </p:cNvPr>
          <p:cNvSpPr>
            <a:spLocks noGrp="1"/>
          </p:cNvSpPr>
          <p:nvPr/>
        </p:nvSpPr>
        <p:spPr>
          <a:xfrm>
            <a:off x="857250" y="4133850"/>
            <a:ext cx="5753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5B84B"/>
                </a:solidFill>
              </a:defRPr>
            </a:pPr>
            <a:r>
              <a:rPr sz="1050" b="1">
                <a:solidFill>
                  <a:srgbClr val="F5B84B"/>
                </a:solidFill>
                <a:latin typeface="Microsoft JhengHei"/>
                <a:ea typeface="Microsoft JhengHei"/>
                <a:cs typeface="Microsoft JhengHei"/>
              </a:rPr>
              <a:t>baseline.yml</a:t>
            </a:r>
          </a:p>
        </p:txBody>
      </p:sp>
      <p:sp>
        <p:nvSpPr>
          <p:cNvPr id="9" name="baseline-text">
            <a:extLst>
              <a:ext uri="{FF2B5EF4-FFF2-40B4-BE49-F238E27FC236}">
                <a16:creationId xmlns:a16="http://schemas.microsoft.com/office/drawing/2014/main" id="{83984345-A0A5-468C-8428-18CEF15A0B24}"/>
              </a:ext>
            </a:extLst>
          </p:cNvPr>
          <p:cNvSpPr>
            <a:spLocks noGrp="1"/>
          </p:cNvSpPr>
          <p:nvPr/>
        </p:nvSpPr>
        <p:spPr>
          <a:xfrm>
            <a:off x="857250" y="4429125"/>
            <a:ext cx="57531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F5F3EA"/>
                </a:solidFill>
              </a:defRPr>
            </a:pPr>
            <a:r>
              <a:rPr sz="1575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comparability: not-ready</a:t>
            </a:r>
          </a:p>
          <a:p>
            <a:pPr algn="l">
              <a:defRPr sz="1575" b="0">
                <a:solidFill>
                  <a:srgbClr val="F5F3EA"/>
                </a:solidFill>
              </a:defRPr>
            </a:pPr>
            <a:r>
              <a:rPr sz="1575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confidence: low</a:t>
            </a:r>
          </a:p>
          <a:p>
            <a:pPr algn="l">
              <a:defRPr sz="1575" b="0">
                <a:solidFill>
                  <a:srgbClr val="F5F3EA"/>
                </a:solidFill>
              </a:defRPr>
            </a:pPr>
            <a:r>
              <a:rPr sz="1575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validation_meeting_ref: pending</a:t>
            </a:r>
          </a:p>
        </p:txBody>
      </p:sp>
      <p:sp>
        <p:nvSpPr>
          <p:cNvPr id="10" name="workflow1-thesis">
            <a:extLst>
              <a:ext uri="{FF2B5EF4-FFF2-40B4-BE49-F238E27FC236}">
                <a16:creationId xmlns:a16="http://schemas.microsoft.com/office/drawing/2014/main" id="{0EEB8591-CECE-4AF5-B3E9-C1D1EA0FD046}"/>
              </a:ext>
            </a:extLst>
          </p:cNvPr>
          <p:cNvSpPr>
            <a:spLocks noGrp="1"/>
          </p:cNvSpPr>
          <p:nvPr/>
        </p:nvSpPr>
        <p:spPr>
          <a:xfrm>
            <a:off x="7524750" y="2114550"/>
            <a:ext cx="31432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600" b="1">
                <a:solidFill>
                  <a:srgbClr val="76E4D6"/>
                </a:solidFill>
              </a:defRPr>
            </a:pPr>
            <a:r>
              <a:rPr sz="3600" b="1">
                <a:solidFill>
                  <a:srgbClr val="76E4D6"/>
                </a:solidFill>
                <a:latin typeface="Microsoft JhengHei"/>
                <a:ea typeface="Microsoft JhengHei"/>
                <a:cs typeface="Microsoft JhengHei"/>
              </a:rPr>
              <a:t>先寫問題，</a:t>
            </a:r>
          </a:p>
          <a:p>
            <a:pPr algn="ctr">
              <a:defRPr sz="3600" b="1">
                <a:solidFill>
                  <a:srgbClr val="76E4D6"/>
                </a:solidFill>
              </a:defRPr>
            </a:pPr>
            <a:r>
              <a:rPr sz="3600" b="1">
                <a:solidFill>
                  <a:srgbClr val="76E4D6"/>
                </a:solidFill>
                <a:latin typeface="Microsoft JhengHei"/>
                <a:ea typeface="Microsoft JhengHei"/>
                <a:cs typeface="Microsoft JhengHei"/>
              </a:rPr>
              <a:t>再收數字。</a:t>
            </a:r>
          </a:p>
        </p:txBody>
      </p:sp>
      <p:sp>
        <p:nvSpPr>
          <p:cNvPr id="11" name="workflow1-baseline">
            <a:extLst>
              <a:ext uri="{FF2B5EF4-FFF2-40B4-BE49-F238E27FC236}">
                <a16:creationId xmlns:a16="http://schemas.microsoft.com/office/drawing/2014/main" id="{9D2EDEEF-251A-4C0C-9104-F6FD0F06606B}"/>
              </a:ext>
            </a:extLst>
          </p:cNvPr>
          <p:cNvSpPr>
            <a:spLocks noGrp="1"/>
          </p:cNvSpPr>
          <p:nvPr/>
        </p:nvSpPr>
        <p:spPr>
          <a:xfrm>
            <a:off x="7524750" y="3676650"/>
            <a:ext cx="31432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600" b="1">
                <a:solidFill>
                  <a:srgbClr val="F5B84B"/>
                </a:solidFill>
              </a:defRPr>
            </a:pPr>
            <a:r>
              <a:rPr sz="3600" b="1">
                <a:solidFill>
                  <a:srgbClr val="F5B84B"/>
                </a:solidFill>
                <a:latin typeface="Microsoft JhengHei"/>
                <a:ea typeface="Microsoft JhengHei"/>
                <a:cs typeface="Microsoft JhengHei"/>
              </a:rPr>
              <a:t>先有基線，</a:t>
            </a:r>
          </a:p>
          <a:p>
            <a:pPr algn="ctr">
              <a:defRPr sz="3600" b="1">
                <a:solidFill>
                  <a:srgbClr val="F5B84B"/>
                </a:solidFill>
              </a:defRPr>
            </a:pPr>
            <a:r>
              <a:rPr sz="3600" b="1">
                <a:solidFill>
                  <a:srgbClr val="F5B84B"/>
                </a:solidFill>
                <a:latin typeface="Microsoft JhengHei"/>
                <a:ea typeface="Microsoft JhengHei"/>
                <a:cs typeface="Microsoft JhengHei"/>
              </a:rPr>
              <a:t>再談改善。</a:t>
            </a:r>
          </a:p>
        </p:txBody>
      </p:sp>
      <p:sp>
        <p:nvSpPr>
          <p:cNvPr id="12" name="workflow1-honest">
            <a:extLst>
              <a:ext uri="{FF2B5EF4-FFF2-40B4-BE49-F238E27FC236}">
                <a16:creationId xmlns:a16="http://schemas.microsoft.com/office/drawing/2014/main" id="{38AC9F67-A7DA-4FAA-9158-C001049FBB70}"/>
              </a:ext>
            </a:extLst>
          </p:cNvPr>
          <p:cNvSpPr>
            <a:spLocks noGrp="1"/>
          </p:cNvSpPr>
          <p:nvPr/>
        </p:nvSpPr>
        <p:spPr>
          <a:xfrm>
            <a:off x="7105650" y="5334000"/>
            <a:ext cx="4038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承認不知道，是治理成熟，不是丟臉。</a:t>
            </a:r>
          </a:p>
        </p:txBody>
      </p:sp>
      <p:sp>
        <p:nvSpPr>
          <p:cNvPr id="13" name="source-10">
            <a:extLst>
              <a:ext uri="{FF2B5EF4-FFF2-40B4-BE49-F238E27FC236}">
                <a16:creationId xmlns:a16="http://schemas.microsoft.com/office/drawing/2014/main" id="{0C469BC4-56A5-4813-B64F-FEE51D2AB90E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904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F8798"/>
                </a:solidFill>
              </a:defRPr>
            </a:pPr>
            <a:r>
              <a:rPr sz="975" b="0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來源：Projects/hcplAct/.raptor/metrics/mar-plan.yml · baseline.yml</a:t>
            </a:r>
          </a:p>
        </p:txBody>
      </p:sp>
      <p:sp>
        <p:nvSpPr>
          <p:cNvPr id="14" name="footer-10">
            <a:extLst>
              <a:ext uri="{FF2B5EF4-FFF2-40B4-BE49-F238E27FC236}">
                <a16:creationId xmlns:a16="http://schemas.microsoft.com/office/drawing/2014/main" id="{3E6C53DA-3385-4700-B2FB-7973A8B9572B}"/>
              </a:ext>
            </a:extLst>
          </p:cNvPr>
          <p:cNvSpPr>
            <a:spLocks noGrp="1"/>
          </p:cNvSpPr>
          <p:nvPr/>
        </p:nvSpPr>
        <p:spPr>
          <a:xfrm>
            <a:off x="10096500" y="6362700"/>
            <a:ext cx="140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F8798"/>
                </a:solidFill>
              </a:defRPr>
            </a:pPr>
            <a:r>
              <a:rPr sz="1050" b="1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10  /  14</a:t>
            </a:r>
          </a:p>
        </p:txBody>
      </p:sp>
    </p:spTree>
    <p:extLst>
      <p:ext uri="{BB962C8B-B14F-4D97-AF65-F5344CB8AC3E}">
        <p14:creationId xmlns:p14="http://schemas.microsoft.com/office/powerpoint/2010/main" val="1046127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yebrow-11">
            <a:extLst>
              <a:ext uri="{FF2B5EF4-FFF2-40B4-BE49-F238E27FC236}">
                <a16:creationId xmlns:a16="http://schemas.microsoft.com/office/drawing/2014/main" id="{0FF53FAE-26FC-42D0-A485-60074B1DD88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D0BA"/>
                </a:solidFill>
              </a:defRPr>
            </a:pPr>
            <a:r>
              <a:rPr sz="1200" b="1">
                <a:solidFill>
                  <a:srgbClr val="35D0BA"/>
                </a:solidFill>
                <a:latin typeface="Microsoft JhengHei"/>
                <a:ea typeface="Microsoft JhengHei"/>
                <a:cs typeface="Microsoft JhengHei"/>
              </a:rPr>
              <a:t>hyrapt × T00</a:t>
            </a:r>
          </a:p>
        </p:txBody>
      </p:sp>
      <p:sp>
        <p:nvSpPr>
          <p:cNvPr id="2" name="title-11">
            <a:extLst>
              <a:ext uri="{FF2B5EF4-FFF2-40B4-BE49-F238E27FC236}">
                <a16:creationId xmlns:a16="http://schemas.microsoft.com/office/drawing/2014/main" id="{AB2FF2BB-F713-459B-B078-5BF74480AD42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525" b="1">
                <a:solidFill>
                  <a:srgbClr val="F5F3EA"/>
                </a:solidFill>
              </a:defRPr>
            </a:pPr>
            <a:r>
              <a:rPr sz="3525" b="1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Workflow 2：把過程變成可稽核事實</a:t>
            </a:r>
          </a:p>
        </p:txBody>
      </p:sp>
      <p:sp>
        <p:nvSpPr>
          <p:cNvPr id="3" name="header-rule-11">
            <a:extLst>
              <a:ext uri="{FF2B5EF4-FFF2-40B4-BE49-F238E27FC236}">
                <a16:creationId xmlns:a16="http://schemas.microsoft.com/office/drawing/2014/main" id="{73EEA00D-CF82-4BDB-8273-450D3882E9A3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event-json-frame">
            <a:extLst>
              <a:ext uri="{FF2B5EF4-FFF2-40B4-BE49-F238E27FC236}">
                <a16:creationId xmlns:a16="http://schemas.microsoft.com/office/drawing/2014/main" id="{E6B4B1B8-664C-4E1E-9DFB-2301ACFCE3B1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5715000" cy="3143250"/>
          </a:xfrm>
          <a:prstGeom prst="roundRect">
            <a:avLst>
              <a:gd name="adj" fmla="val 2424"/>
            </a:avLst>
          </a:prstGeom>
          <a:solidFill>
            <a:srgbClr val="0B1C2A"/>
          </a:solidFill>
          <a:ln w="9525">
            <a:solidFill>
              <a:srgbClr val="24475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TW" altLang="en-US"/>
          </a:p>
        </p:txBody>
      </p:sp>
      <p:sp>
        <p:nvSpPr>
          <p:cNvPr id="5" name="event-json-label">
            <a:extLst>
              <a:ext uri="{FF2B5EF4-FFF2-40B4-BE49-F238E27FC236}">
                <a16:creationId xmlns:a16="http://schemas.microsoft.com/office/drawing/2014/main" id="{E7993FBD-601F-484A-BD9A-8E81C1D95F81}"/>
              </a:ext>
            </a:extLst>
          </p:cNvPr>
          <p:cNvSpPr>
            <a:spLocks noGrp="1"/>
          </p:cNvSpPr>
          <p:nvPr/>
        </p:nvSpPr>
        <p:spPr>
          <a:xfrm>
            <a:off x="857250" y="1981200"/>
            <a:ext cx="5372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5B84B"/>
                </a:solidFill>
              </a:defRPr>
            </a:pPr>
            <a:r>
              <a:rPr sz="1050" b="1">
                <a:solidFill>
                  <a:srgbClr val="F5B84B"/>
                </a:solidFill>
                <a:latin typeface="Microsoft JhengHei"/>
                <a:ea typeface="Microsoft JhengHei"/>
                <a:cs typeface="Microsoft JhengHei"/>
              </a:rPr>
              <a:t>events.jsonl · append-only</a:t>
            </a:r>
          </a:p>
        </p:txBody>
      </p:sp>
      <p:sp>
        <p:nvSpPr>
          <p:cNvPr id="6" name="event-json-text">
            <a:extLst>
              <a:ext uri="{FF2B5EF4-FFF2-40B4-BE49-F238E27FC236}">
                <a16:creationId xmlns:a16="http://schemas.microsoft.com/office/drawing/2014/main" id="{6088D430-9132-477A-9D9F-56A931394035}"/>
              </a:ext>
            </a:extLst>
          </p:cNvPr>
          <p:cNvSpPr>
            <a:spLocks noGrp="1"/>
          </p:cNvSpPr>
          <p:nvPr/>
        </p:nvSpPr>
        <p:spPr>
          <a:xfrm>
            <a:off x="857250" y="2276475"/>
            <a:ext cx="5372100" cy="2581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5F3EA"/>
                </a:solidFill>
              </a:defRPr>
            </a:pPr>
            <a:r>
              <a:rPr sz="1425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>
            <a:pPr algn="l">
              <a:defRPr sz="1425" b="0">
                <a:solidFill>
                  <a:srgbClr val="F5F3EA"/>
                </a:solidFill>
              </a:defRPr>
            </a:pPr>
            <a:r>
              <a:rPr sz="1425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  "metric": "clarify_close_rate",</a:t>
            </a:r>
          </a:p>
          <a:p>
            <a:pPr algn="l">
              <a:defRPr sz="1425" b="0">
                <a:solidFill>
                  <a:srgbClr val="F5F3EA"/>
                </a:solidFill>
              </a:defRPr>
            </a:pPr>
            <a:r>
              <a:rPr sz="1425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  "phase": "clarify",</a:t>
            </a:r>
          </a:p>
          <a:p>
            <a:pPr algn="l">
              <a:defRPr sz="1425" b="0">
                <a:solidFill>
                  <a:srgbClr val="F5F3EA"/>
                </a:solidFill>
              </a:defRPr>
            </a:pPr>
            <a:r>
              <a:rPr sz="1425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  "value": 1.0,</a:t>
            </a:r>
          </a:p>
          <a:p>
            <a:pPr algn="l">
              <a:defRPr sz="1425" b="0">
                <a:solidFill>
                  <a:srgbClr val="F5F3EA"/>
                </a:solidFill>
              </a:defRPr>
            </a:pPr>
            <a:r>
              <a:rPr sz="1425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  "dictionary_version": "2026.07.contract-v2",</a:t>
            </a:r>
          </a:p>
          <a:p>
            <a:pPr algn="l">
              <a:defRPr sz="1425" b="0">
                <a:solidFill>
                  <a:srgbClr val="F5F3EA"/>
                </a:solidFill>
              </a:defRPr>
            </a:pPr>
            <a:r>
              <a:rPr sz="1425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  "provenance": { "artifact": "batch-CLR-260714-05.yml" }</a:t>
            </a:r>
          </a:p>
          <a:p>
            <a:pPr algn="l">
              <a:defRPr sz="1425" b="0">
                <a:solidFill>
                  <a:srgbClr val="F5F3EA"/>
                </a:solidFill>
              </a:defRPr>
            </a:pPr>
            <a:r>
              <a:rPr sz="1425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7" name="playback-card">
            <a:extLst>
              <a:ext uri="{FF2B5EF4-FFF2-40B4-BE49-F238E27FC236}">
                <a16:creationId xmlns:a16="http://schemas.microsoft.com/office/drawing/2014/main" id="{CCEB0B9D-970F-417C-8F1D-E3895A0CA13C}"/>
              </a:ext>
            </a:extLst>
          </p:cNvPr>
          <p:cNvSpPr>
            <a:spLocks noGrp="1"/>
          </p:cNvSpPr>
          <p:nvPr/>
        </p:nvSpPr>
        <p:spPr>
          <a:xfrm>
            <a:off x="6819900" y="1847850"/>
            <a:ext cx="4686300" cy="3143250"/>
          </a:xfrm>
          <a:prstGeom prst="roundRect">
            <a:avLst>
              <a:gd name="adj" fmla="val 3636"/>
            </a:avLst>
          </a:prstGeom>
          <a:solidFill>
            <a:srgbClr val="102638"/>
          </a:solidFill>
          <a:ln w="9525">
            <a:solidFill>
              <a:srgbClr val="35D0B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zh-TW" altLang="en-US"/>
          </a:p>
        </p:txBody>
      </p:sp>
      <p:sp>
        <p:nvSpPr>
          <p:cNvPr id="8" name="playback-label">
            <a:extLst>
              <a:ext uri="{FF2B5EF4-FFF2-40B4-BE49-F238E27FC236}">
                <a16:creationId xmlns:a16="http://schemas.microsoft.com/office/drawing/2014/main" id="{4526D9C2-58D3-4B28-A3B3-77319A00F85B}"/>
              </a:ext>
            </a:extLst>
          </p:cNvPr>
          <p:cNvSpPr>
            <a:spLocks noGrp="1"/>
          </p:cNvSpPr>
          <p:nvPr/>
        </p:nvSpPr>
        <p:spPr>
          <a:xfrm>
            <a:off x="7143750" y="2133600"/>
            <a:ext cx="3905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D0BA"/>
                </a:solidFill>
              </a:defRPr>
            </a:pPr>
            <a:r>
              <a:rPr sz="1200" b="1">
                <a:solidFill>
                  <a:srgbClr val="35D0BA"/>
                </a:solidFill>
                <a:latin typeface="Microsoft JhengHei"/>
                <a:ea typeface="Microsoft JhengHei"/>
                <a:cs typeface="Microsoft JhengHei"/>
              </a:rPr>
              <a:t>PLAYBACK SESSION</a:t>
            </a:r>
          </a:p>
        </p:txBody>
      </p:sp>
      <p:sp>
        <p:nvSpPr>
          <p:cNvPr id="9" name="playback-id">
            <a:extLst>
              <a:ext uri="{FF2B5EF4-FFF2-40B4-BE49-F238E27FC236}">
                <a16:creationId xmlns:a16="http://schemas.microsoft.com/office/drawing/2014/main" id="{244D8034-E65B-479F-A4B4-21FDE676C8FE}"/>
              </a:ext>
            </a:extLst>
          </p:cNvPr>
          <p:cNvSpPr>
            <a:spLocks noGrp="1"/>
          </p:cNvSpPr>
          <p:nvPr/>
        </p:nvSpPr>
        <p:spPr>
          <a:xfrm>
            <a:off x="7143750" y="2533650"/>
            <a:ext cx="3905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PB-20260714-001</a:t>
            </a:r>
          </a:p>
        </p:txBody>
      </p:sp>
      <p:sp>
        <p:nvSpPr>
          <p:cNvPr id="10" name="playback-status">
            <a:extLst>
              <a:ext uri="{FF2B5EF4-FFF2-40B4-BE49-F238E27FC236}">
                <a16:creationId xmlns:a16="http://schemas.microsoft.com/office/drawing/2014/main" id="{6962EDA8-24AF-48FA-8C8E-C124582A099A}"/>
              </a:ext>
            </a:extLst>
          </p:cNvPr>
          <p:cNvSpPr>
            <a:spLocks noGrp="1"/>
          </p:cNvSpPr>
          <p:nvPr/>
        </p:nvSpPr>
        <p:spPr>
          <a:xfrm>
            <a:off x="7143750" y="3048000"/>
            <a:ext cx="3905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5ED3A7"/>
                </a:solidFill>
              </a:defRPr>
            </a:pPr>
            <a:r>
              <a:rPr sz="1650" b="1">
                <a:solidFill>
                  <a:srgbClr val="5ED3A7"/>
                </a:solidFill>
                <a:latin typeface="Microsoft JhengHei"/>
                <a:ea typeface="Microsoft JhengHei"/>
                <a:cs typeface="Microsoft JhengHei"/>
              </a:rPr>
              <a:t>ready_for_signoff</a:t>
            </a:r>
          </a:p>
        </p:txBody>
      </p:sp>
      <p:sp>
        <p:nvSpPr>
          <p:cNvPr id="11" name="playback-hash-label">
            <a:extLst>
              <a:ext uri="{FF2B5EF4-FFF2-40B4-BE49-F238E27FC236}">
                <a16:creationId xmlns:a16="http://schemas.microsoft.com/office/drawing/2014/main" id="{919EA2BA-9FAA-41BE-AA28-2F2142260024}"/>
              </a:ext>
            </a:extLst>
          </p:cNvPr>
          <p:cNvSpPr>
            <a:spLocks noGrp="1"/>
          </p:cNvSpPr>
          <p:nvPr/>
        </p:nvSpPr>
        <p:spPr>
          <a:xfrm>
            <a:off x="7143750" y="36195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F8798"/>
                </a:solidFill>
              </a:defRPr>
            </a:pPr>
            <a:r>
              <a:rPr sz="1200" b="0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source_hash</a:t>
            </a:r>
          </a:p>
        </p:txBody>
      </p:sp>
      <p:sp>
        <p:nvSpPr>
          <p:cNvPr id="12" name="playback-hash">
            <a:extLst>
              <a:ext uri="{FF2B5EF4-FFF2-40B4-BE49-F238E27FC236}">
                <a16:creationId xmlns:a16="http://schemas.microsoft.com/office/drawing/2014/main" id="{1A7DBBF2-4598-48DD-9E19-FABDD36EB871}"/>
              </a:ext>
            </a:extLst>
          </p:cNvPr>
          <p:cNvSpPr>
            <a:spLocks noGrp="1"/>
          </p:cNvSpPr>
          <p:nvPr/>
        </p:nvSpPr>
        <p:spPr>
          <a:xfrm>
            <a:off x="7143750" y="388620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F5F3EA"/>
                </a:solidFill>
              </a:defRPr>
            </a:pPr>
            <a:r>
              <a:rPr sz="1575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sha256:ffd4c6f…</a:t>
            </a:r>
          </a:p>
        </p:txBody>
      </p:sp>
      <p:sp>
        <p:nvSpPr>
          <p:cNvPr id="13" name="playback-scope">
            <a:extLst>
              <a:ext uri="{FF2B5EF4-FFF2-40B4-BE49-F238E27FC236}">
                <a16:creationId xmlns:a16="http://schemas.microsoft.com/office/drawing/2014/main" id="{46CD5336-4DA6-47BC-9761-52EFB0BDE6A1}"/>
              </a:ext>
            </a:extLst>
          </p:cNvPr>
          <p:cNvSpPr>
            <a:spLocks noGrp="1"/>
          </p:cNvSpPr>
          <p:nvPr/>
        </p:nvSpPr>
        <p:spPr>
          <a:xfrm>
            <a:off x="7143750" y="4438650"/>
            <a:ext cx="342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5B84B"/>
                </a:solidFill>
              </a:defRPr>
            </a:pPr>
            <a:r>
              <a:rPr sz="1875" b="1">
                <a:solidFill>
                  <a:srgbClr val="F5B84B"/>
                </a:solidFill>
                <a:latin typeface="Microsoft JhengHei"/>
                <a:ea typeface="Microsoft JhengHei"/>
                <a:cs typeface="Microsoft JhengHei"/>
              </a:rPr>
              <a:t>scope_count　60</a:t>
            </a:r>
          </a:p>
        </p:txBody>
      </p:sp>
      <p:sp>
        <p:nvSpPr>
          <p:cNvPr id="14" name="workflow2-quote">
            <a:extLst>
              <a:ext uri="{FF2B5EF4-FFF2-40B4-BE49-F238E27FC236}">
                <a16:creationId xmlns:a16="http://schemas.microsoft.com/office/drawing/2014/main" id="{8DE31383-8D49-4344-A89E-40CF860B673E}"/>
              </a:ext>
            </a:extLst>
          </p:cNvPr>
          <p:cNvSpPr>
            <a:spLocks noGrp="1"/>
          </p:cNvSpPr>
          <p:nvPr/>
        </p:nvSpPr>
        <p:spPr>
          <a:xfrm>
            <a:off x="1657350" y="5391150"/>
            <a:ext cx="88773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76E4D6"/>
                </a:solidFill>
              </a:defRPr>
            </a:pPr>
            <a:r>
              <a:rPr sz="2100" b="1">
                <a:solidFill>
                  <a:srgbClr val="76E4D6"/>
                </a:solidFill>
                <a:latin typeface="Microsoft JhengHei"/>
                <a:ea typeface="Microsoft JhengHei"/>
                <a:cs typeface="Microsoft JhengHei"/>
              </a:rPr>
              <a:t>不是「我記得大家看過」，</a:t>
            </a:r>
          </a:p>
          <a:p>
            <a:pPr algn="ctr">
              <a:defRPr sz="2100" b="1">
                <a:solidFill>
                  <a:srgbClr val="76E4D6"/>
                </a:solidFill>
              </a:defRPr>
            </a:pPr>
            <a:r>
              <a:rPr sz="2100" b="1">
                <a:solidFill>
                  <a:srgbClr val="76E4D6"/>
                </a:solidFill>
                <a:latin typeface="Microsoft JhengHei"/>
                <a:ea typeface="Microsoft JhengHei"/>
                <a:cs typeface="Microsoft JhengHei"/>
              </a:rPr>
              <a:t>而是「誰在什麼版本確認了哪一條」。</a:t>
            </a:r>
          </a:p>
        </p:txBody>
      </p:sp>
      <p:sp>
        <p:nvSpPr>
          <p:cNvPr id="15" name="source-11">
            <a:extLst>
              <a:ext uri="{FF2B5EF4-FFF2-40B4-BE49-F238E27FC236}">
                <a16:creationId xmlns:a16="http://schemas.microsoft.com/office/drawing/2014/main" id="{A96CB8C2-39AF-49AD-B499-C676D9CAF6C3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904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F8798"/>
                </a:solidFill>
              </a:defRPr>
            </a:pPr>
            <a:r>
              <a:rPr sz="975" b="0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來源：Projects/hcplAct/.raptor/metrics/events.jsonl · playback/sessions/PB-20260714-001.yml</a:t>
            </a:r>
          </a:p>
        </p:txBody>
      </p:sp>
      <p:sp>
        <p:nvSpPr>
          <p:cNvPr id="16" name="footer-11">
            <a:extLst>
              <a:ext uri="{FF2B5EF4-FFF2-40B4-BE49-F238E27FC236}">
                <a16:creationId xmlns:a16="http://schemas.microsoft.com/office/drawing/2014/main" id="{A3AD1A22-5105-4A29-990A-C4C20F172BE0}"/>
              </a:ext>
            </a:extLst>
          </p:cNvPr>
          <p:cNvSpPr>
            <a:spLocks noGrp="1"/>
          </p:cNvSpPr>
          <p:nvPr/>
        </p:nvSpPr>
        <p:spPr>
          <a:xfrm>
            <a:off x="10096500" y="6362700"/>
            <a:ext cx="140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F8798"/>
                </a:solidFill>
              </a:defRPr>
            </a:pPr>
            <a:r>
              <a:rPr sz="1050" b="1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11  /  14</a:t>
            </a:r>
          </a:p>
        </p:txBody>
      </p:sp>
    </p:spTree>
    <p:extLst>
      <p:ext uri="{BB962C8B-B14F-4D97-AF65-F5344CB8AC3E}">
        <p14:creationId xmlns:p14="http://schemas.microsoft.com/office/powerpoint/2010/main" val="728421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-12">
            <a:extLst>
              <a:ext uri="{FF2B5EF4-FFF2-40B4-BE49-F238E27FC236}">
                <a16:creationId xmlns:a16="http://schemas.microsoft.com/office/drawing/2014/main" id="{AD689DF3-37B6-4ED5-924D-5E7DACC64EF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D0BA"/>
                </a:solidFill>
              </a:defRPr>
            </a:pPr>
            <a:r>
              <a:rPr sz="1200" b="1">
                <a:solidFill>
                  <a:srgbClr val="35D0BA"/>
                </a:solidFill>
                <a:latin typeface="Microsoft JhengHei"/>
                <a:ea typeface="Microsoft JhengHei"/>
                <a:cs typeface="Microsoft JhengHei"/>
              </a:rPr>
              <a:t>hyrapt × T00</a:t>
            </a:r>
          </a:p>
        </p:txBody>
      </p:sp>
      <p:sp>
        <p:nvSpPr>
          <p:cNvPr id="2" name="title-12">
            <a:extLst>
              <a:ext uri="{FF2B5EF4-FFF2-40B4-BE49-F238E27FC236}">
                <a16:creationId xmlns:a16="http://schemas.microsoft.com/office/drawing/2014/main" id="{176CBF07-CBCD-4BD0-98C4-5BE749AB1B1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525" b="1">
                <a:solidFill>
                  <a:srgbClr val="F5F3EA"/>
                </a:solidFill>
              </a:defRPr>
            </a:pPr>
            <a:r>
              <a:rPr sz="3525" b="1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Workflow 3：結算，不粉飾；回顧，不排名</a:t>
            </a:r>
          </a:p>
        </p:txBody>
      </p:sp>
      <p:sp>
        <p:nvSpPr>
          <p:cNvPr id="3" name="header-rule-12">
            <a:extLst>
              <a:ext uri="{FF2B5EF4-FFF2-40B4-BE49-F238E27FC236}">
                <a16:creationId xmlns:a16="http://schemas.microsoft.com/office/drawing/2014/main" id="{FA42AA64-F669-42F9-AC12-D895ED142462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dont-header">
            <a:extLst>
              <a:ext uri="{FF2B5EF4-FFF2-40B4-BE49-F238E27FC236}">
                <a16:creationId xmlns:a16="http://schemas.microsoft.com/office/drawing/2014/main" id="{8B4313F4-3BC9-4597-9882-ED327F3B18CB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3143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6B6B"/>
                </a:solidFill>
              </a:defRPr>
            </a:pPr>
            <a:r>
              <a:rPr sz="135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不要</a:t>
            </a:r>
          </a:p>
        </p:txBody>
      </p:sp>
      <p:sp>
        <p:nvSpPr>
          <p:cNvPr id="5" name="mar-header">
            <a:extLst>
              <a:ext uri="{FF2B5EF4-FFF2-40B4-BE49-F238E27FC236}">
                <a16:creationId xmlns:a16="http://schemas.microsoft.com/office/drawing/2014/main" id="{335787AB-A02D-4077-92C7-173BE3B71F46}"/>
              </a:ext>
            </a:extLst>
          </p:cNvPr>
          <p:cNvSpPr>
            <a:spLocks noGrp="1"/>
          </p:cNvSpPr>
          <p:nvPr/>
        </p:nvSpPr>
        <p:spPr>
          <a:xfrm>
            <a:off x="5391150" y="1809750"/>
            <a:ext cx="590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5D0BA"/>
                </a:solidFill>
              </a:defRPr>
            </a:pPr>
            <a:r>
              <a:rPr sz="1350" b="1">
                <a:solidFill>
                  <a:srgbClr val="35D0BA"/>
                </a:solidFill>
                <a:latin typeface="Microsoft JhengHei"/>
                <a:ea typeface="Microsoft JhengHei"/>
                <a:cs typeface="Microsoft JhengHei"/>
              </a:rPr>
              <a:t>MAR 做法</a:t>
            </a:r>
          </a:p>
        </p:txBody>
      </p:sp>
      <p:sp>
        <p:nvSpPr>
          <p:cNvPr id="6" name="dont-0">
            <a:extLst>
              <a:ext uri="{FF2B5EF4-FFF2-40B4-BE49-F238E27FC236}">
                <a16:creationId xmlns:a16="http://schemas.microsoft.com/office/drawing/2014/main" id="{9250A0E3-2C2C-4DC8-B495-73A6942B1F35}"/>
              </a:ext>
            </a:extLst>
          </p:cNvPr>
          <p:cNvSpPr>
            <a:spLocks noGrp="1"/>
          </p:cNvSpPr>
          <p:nvPr/>
        </p:nvSpPr>
        <p:spPr>
          <a:xfrm>
            <a:off x="876300" y="2257425"/>
            <a:ext cx="361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F5F3EA"/>
                </a:solidFill>
              </a:defRPr>
            </a:pPr>
            <a:r>
              <a:rPr sz="1575" b="0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缺 baseline 仍宣布改善</a:t>
            </a:r>
          </a:p>
        </p:txBody>
      </p:sp>
      <p:sp>
        <p:nvSpPr>
          <p:cNvPr id="7" name="pair-arrow-0">
            <a:extLst>
              <a:ext uri="{FF2B5EF4-FFF2-40B4-BE49-F238E27FC236}">
                <a16:creationId xmlns:a16="http://schemas.microsoft.com/office/drawing/2014/main" id="{0C46AAF0-BC7A-4F5B-8EE1-2510CF6F5CA7}"/>
              </a:ext>
            </a:extLst>
          </p:cNvPr>
          <p:cNvSpPr>
            <a:spLocks noGrp="1"/>
          </p:cNvSpPr>
          <p:nvPr/>
        </p:nvSpPr>
        <p:spPr>
          <a:xfrm>
            <a:off x="4629150" y="2457450"/>
            <a:ext cx="457200" cy="0"/>
          </a:xfrm>
          <a:prstGeom prst="line">
            <a:avLst/>
          </a:prstGeom>
          <a:solidFill>
            <a:srgbClr val="000000">
              <a:alpha val="0"/>
            </a:srgbClr>
          </a:solidFill>
          <a:ln w="28575">
            <a:solidFill>
              <a:srgbClr val="F5B8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mar-0">
            <a:extLst>
              <a:ext uri="{FF2B5EF4-FFF2-40B4-BE49-F238E27FC236}">
                <a16:creationId xmlns:a16="http://schemas.microsoft.com/office/drawing/2014/main" id="{CFD6B11C-D609-4634-B5D5-FBC42A1C1ECC}"/>
              </a:ext>
            </a:extLst>
          </p:cNvPr>
          <p:cNvSpPr>
            <a:spLocks noGrp="1"/>
          </p:cNvSpPr>
          <p:nvPr/>
        </p:nvSpPr>
        <p:spPr>
          <a:xfrm>
            <a:off x="5391150" y="2257425"/>
            <a:ext cx="590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5B84B"/>
                </a:solidFill>
              </a:defRPr>
            </a:pPr>
            <a:r>
              <a:rPr sz="1575" b="1">
                <a:solidFill>
                  <a:srgbClr val="F5B84B"/>
                </a:solidFill>
                <a:latin typeface="Microsoft JhengHei"/>
                <a:ea typeface="Microsoft JhengHei"/>
                <a:cs typeface="Microsoft JhengHei"/>
              </a:rPr>
              <a:t>partial／blocked，禁止 improvement claim</a:t>
            </a:r>
          </a:p>
        </p:txBody>
      </p:sp>
      <p:sp>
        <p:nvSpPr>
          <p:cNvPr id="9" name="pair-line-0">
            <a:extLst>
              <a:ext uri="{FF2B5EF4-FFF2-40B4-BE49-F238E27FC236}">
                <a16:creationId xmlns:a16="http://schemas.microsoft.com/office/drawing/2014/main" id="{2E11BD60-3CA2-4DA8-A596-C41BD580BAC6}"/>
              </a:ext>
            </a:extLst>
          </p:cNvPr>
          <p:cNvSpPr>
            <a:spLocks noGrp="1"/>
          </p:cNvSpPr>
          <p:nvPr/>
        </p:nvSpPr>
        <p:spPr>
          <a:xfrm>
            <a:off x="876300" y="2762250"/>
            <a:ext cx="104203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dont-1">
            <a:extLst>
              <a:ext uri="{FF2B5EF4-FFF2-40B4-BE49-F238E27FC236}">
                <a16:creationId xmlns:a16="http://schemas.microsoft.com/office/drawing/2014/main" id="{594CE2BD-0432-4C5F-AF1D-51A12FE84219}"/>
              </a:ext>
            </a:extLst>
          </p:cNvPr>
          <p:cNvSpPr>
            <a:spLocks noGrp="1"/>
          </p:cNvSpPr>
          <p:nvPr/>
        </p:nvSpPr>
        <p:spPr>
          <a:xfrm>
            <a:off x="876300" y="2924175"/>
            <a:ext cx="361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F5F3EA"/>
                </a:solidFill>
              </a:defRPr>
            </a:pPr>
            <a:r>
              <a:rPr sz="1575" b="0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沒簽核就當作同意</a:t>
            </a:r>
          </a:p>
        </p:txBody>
      </p:sp>
      <p:sp>
        <p:nvSpPr>
          <p:cNvPr id="11" name="pair-arrow-1">
            <a:extLst>
              <a:ext uri="{FF2B5EF4-FFF2-40B4-BE49-F238E27FC236}">
                <a16:creationId xmlns:a16="http://schemas.microsoft.com/office/drawing/2014/main" id="{2D5A4D7C-B218-4277-BB62-F6E4ACCF36B2}"/>
              </a:ext>
            </a:extLst>
          </p:cNvPr>
          <p:cNvSpPr>
            <a:spLocks noGrp="1"/>
          </p:cNvSpPr>
          <p:nvPr/>
        </p:nvSpPr>
        <p:spPr>
          <a:xfrm>
            <a:off x="4629150" y="3124200"/>
            <a:ext cx="457200" cy="0"/>
          </a:xfrm>
          <a:prstGeom prst="line">
            <a:avLst/>
          </a:prstGeom>
          <a:solidFill>
            <a:srgbClr val="000000">
              <a:alpha val="0"/>
            </a:srgbClr>
          </a:solidFill>
          <a:ln w="28575">
            <a:solidFill>
              <a:srgbClr val="F5B8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mar-1">
            <a:extLst>
              <a:ext uri="{FF2B5EF4-FFF2-40B4-BE49-F238E27FC236}">
                <a16:creationId xmlns:a16="http://schemas.microsoft.com/office/drawing/2014/main" id="{3F5A5B56-DDD3-4166-BBA5-C5EE7CD722E1}"/>
              </a:ext>
            </a:extLst>
          </p:cNvPr>
          <p:cNvSpPr>
            <a:spLocks noGrp="1"/>
          </p:cNvSpPr>
          <p:nvPr/>
        </p:nvSpPr>
        <p:spPr>
          <a:xfrm>
            <a:off x="5391150" y="2924175"/>
            <a:ext cx="590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5B84B"/>
                </a:solidFill>
              </a:defRPr>
            </a:pPr>
            <a:r>
              <a:rPr sz="1575" b="1">
                <a:solidFill>
                  <a:srgbClr val="F5B84B"/>
                </a:solidFill>
                <a:latin typeface="Microsoft JhengHei"/>
                <a:ea typeface="Microsoft JhengHei"/>
                <a:cs typeface="Microsoft JhengHei"/>
              </a:rPr>
              <a:t>列 completeness anomaly</a:t>
            </a:r>
          </a:p>
        </p:txBody>
      </p:sp>
      <p:sp>
        <p:nvSpPr>
          <p:cNvPr id="13" name="pair-line-1">
            <a:extLst>
              <a:ext uri="{FF2B5EF4-FFF2-40B4-BE49-F238E27FC236}">
                <a16:creationId xmlns:a16="http://schemas.microsoft.com/office/drawing/2014/main" id="{FE69D5CB-9AA4-4D08-93D9-5E117D61C339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104203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dont-2">
            <a:extLst>
              <a:ext uri="{FF2B5EF4-FFF2-40B4-BE49-F238E27FC236}">
                <a16:creationId xmlns:a16="http://schemas.microsoft.com/office/drawing/2014/main" id="{9E89D434-90F3-4ED5-BBF4-48BBE7FA634E}"/>
              </a:ext>
            </a:extLst>
          </p:cNvPr>
          <p:cNvSpPr>
            <a:spLocks noGrp="1"/>
          </p:cNvSpPr>
          <p:nvPr/>
        </p:nvSpPr>
        <p:spPr>
          <a:xfrm>
            <a:off x="876300" y="3590925"/>
            <a:ext cx="361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F5F3EA"/>
                </a:solidFill>
              </a:defRPr>
            </a:pPr>
            <a:r>
              <a:rPr sz="1575" b="0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把 unknown 補成 0</a:t>
            </a:r>
          </a:p>
        </p:txBody>
      </p:sp>
      <p:sp>
        <p:nvSpPr>
          <p:cNvPr id="15" name="pair-arrow-2">
            <a:extLst>
              <a:ext uri="{FF2B5EF4-FFF2-40B4-BE49-F238E27FC236}">
                <a16:creationId xmlns:a16="http://schemas.microsoft.com/office/drawing/2014/main" id="{C6F8A86B-EF62-48FA-97CC-F31954611D3E}"/>
              </a:ext>
            </a:extLst>
          </p:cNvPr>
          <p:cNvSpPr>
            <a:spLocks noGrp="1"/>
          </p:cNvSpPr>
          <p:nvPr/>
        </p:nvSpPr>
        <p:spPr>
          <a:xfrm>
            <a:off x="4629150" y="3790950"/>
            <a:ext cx="457200" cy="0"/>
          </a:xfrm>
          <a:prstGeom prst="line">
            <a:avLst/>
          </a:prstGeom>
          <a:solidFill>
            <a:srgbClr val="000000">
              <a:alpha val="0"/>
            </a:srgbClr>
          </a:solidFill>
          <a:ln w="2857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mar-2">
            <a:extLst>
              <a:ext uri="{FF2B5EF4-FFF2-40B4-BE49-F238E27FC236}">
                <a16:creationId xmlns:a16="http://schemas.microsoft.com/office/drawing/2014/main" id="{6E3EF6CB-3BA9-4F64-835E-AD7DF57B7C4D}"/>
              </a:ext>
            </a:extLst>
          </p:cNvPr>
          <p:cNvSpPr>
            <a:spLocks noGrp="1"/>
          </p:cNvSpPr>
          <p:nvPr/>
        </p:nvSpPr>
        <p:spPr>
          <a:xfrm>
            <a:off x="5391150" y="3590925"/>
            <a:ext cx="590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76E4D6"/>
                </a:solidFill>
              </a:defRPr>
            </a:pPr>
            <a:r>
              <a:rPr sz="1575" b="1">
                <a:solidFill>
                  <a:srgbClr val="76E4D6"/>
                </a:solidFill>
                <a:latin typeface="Microsoft JhengHei"/>
                <a:ea typeface="Microsoft JhengHei"/>
                <a:cs typeface="Microsoft JhengHei"/>
              </a:rPr>
              <a:t>保留 unknown／not-comparable</a:t>
            </a:r>
          </a:p>
        </p:txBody>
      </p:sp>
      <p:sp>
        <p:nvSpPr>
          <p:cNvPr id="17" name="pair-line-2">
            <a:extLst>
              <a:ext uri="{FF2B5EF4-FFF2-40B4-BE49-F238E27FC236}">
                <a16:creationId xmlns:a16="http://schemas.microsoft.com/office/drawing/2014/main" id="{95F14B77-FBD3-4C0F-AB34-F307D0FD9847}"/>
              </a:ext>
            </a:extLst>
          </p:cNvPr>
          <p:cNvSpPr>
            <a:spLocks noGrp="1"/>
          </p:cNvSpPr>
          <p:nvPr/>
        </p:nvSpPr>
        <p:spPr>
          <a:xfrm>
            <a:off x="876300" y="4095750"/>
            <a:ext cx="104203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dont-3">
            <a:extLst>
              <a:ext uri="{FF2B5EF4-FFF2-40B4-BE49-F238E27FC236}">
                <a16:creationId xmlns:a16="http://schemas.microsoft.com/office/drawing/2014/main" id="{39BFE79C-E233-4567-ADD2-C68EA96BDC5A}"/>
              </a:ext>
            </a:extLst>
          </p:cNvPr>
          <p:cNvSpPr>
            <a:spLocks noGrp="1"/>
          </p:cNvSpPr>
          <p:nvPr/>
        </p:nvSpPr>
        <p:spPr>
          <a:xfrm>
            <a:off x="876300" y="4257675"/>
            <a:ext cx="361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F5F3EA"/>
                </a:solidFill>
              </a:defRPr>
            </a:pPr>
            <a:r>
              <a:rPr sz="1575" b="0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用排行榜逼數字</a:t>
            </a:r>
          </a:p>
        </p:txBody>
      </p:sp>
      <p:sp>
        <p:nvSpPr>
          <p:cNvPr id="19" name="pair-arrow-3">
            <a:extLst>
              <a:ext uri="{FF2B5EF4-FFF2-40B4-BE49-F238E27FC236}">
                <a16:creationId xmlns:a16="http://schemas.microsoft.com/office/drawing/2014/main" id="{B941E666-FC9D-47DE-9162-872C159625BC}"/>
              </a:ext>
            </a:extLst>
          </p:cNvPr>
          <p:cNvSpPr>
            <a:spLocks noGrp="1"/>
          </p:cNvSpPr>
          <p:nvPr/>
        </p:nvSpPr>
        <p:spPr>
          <a:xfrm>
            <a:off x="4629150" y="4457700"/>
            <a:ext cx="457200" cy="0"/>
          </a:xfrm>
          <a:prstGeom prst="line">
            <a:avLst/>
          </a:prstGeom>
          <a:solidFill>
            <a:srgbClr val="000000">
              <a:alpha val="0"/>
            </a:srgbClr>
          </a:solidFill>
          <a:ln w="2857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mar-3">
            <a:extLst>
              <a:ext uri="{FF2B5EF4-FFF2-40B4-BE49-F238E27FC236}">
                <a16:creationId xmlns:a16="http://schemas.microsoft.com/office/drawing/2014/main" id="{9B9652CF-56F6-4909-BFB8-F9A54E5031E4}"/>
              </a:ext>
            </a:extLst>
          </p:cNvPr>
          <p:cNvSpPr>
            <a:spLocks noGrp="1"/>
          </p:cNvSpPr>
          <p:nvPr/>
        </p:nvSpPr>
        <p:spPr>
          <a:xfrm>
            <a:off x="5391150" y="4257675"/>
            <a:ext cx="590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76E4D6"/>
                </a:solidFill>
              </a:defRPr>
            </a:pPr>
            <a:r>
              <a:rPr sz="1575" b="1">
                <a:solidFill>
                  <a:srgbClr val="76E4D6"/>
                </a:solidFill>
                <a:latin typeface="Microsoft JhengHei"/>
                <a:ea typeface="Microsoft JhengHei"/>
                <a:cs typeface="Microsoft JhengHei"/>
              </a:rPr>
              <a:t>diagnostic-only，禁止個人排名</a:t>
            </a:r>
          </a:p>
        </p:txBody>
      </p:sp>
      <p:sp>
        <p:nvSpPr>
          <p:cNvPr id="21" name="pair-line-3">
            <a:extLst>
              <a:ext uri="{FF2B5EF4-FFF2-40B4-BE49-F238E27FC236}">
                <a16:creationId xmlns:a16="http://schemas.microsoft.com/office/drawing/2014/main" id="{C61A9E0B-5826-4DAA-BDE9-820346D1C4BB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104203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dont-4">
            <a:extLst>
              <a:ext uri="{FF2B5EF4-FFF2-40B4-BE49-F238E27FC236}">
                <a16:creationId xmlns:a16="http://schemas.microsoft.com/office/drawing/2014/main" id="{D4A0B4AA-6FEA-4AE8-9F0C-7DF5902CF446}"/>
              </a:ext>
            </a:extLst>
          </p:cNvPr>
          <p:cNvSpPr>
            <a:spLocks noGrp="1"/>
          </p:cNvSpPr>
          <p:nvPr/>
        </p:nvSpPr>
        <p:spPr>
          <a:xfrm>
            <a:off x="876300" y="4924425"/>
            <a:ext cx="361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F5F3EA"/>
                </a:solidFill>
              </a:defRPr>
            </a:pPr>
            <a:r>
              <a:rPr sz="1575" b="0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finding 寫完就消失</a:t>
            </a:r>
          </a:p>
        </p:txBody>
      </p:sp>
      <p:sp>
        <p:nvSpPr>
          <p:cNvPr id="23" name="pair-arrow-4">
            <a:extLst>
              <a:ext uri="{FF2B5EF4-FFF2-40B4-BE49-F238E27FC236}">
                <a16:creationId xmlns:a16="http://schemas.microsoft.com/office/drawing/2014/main" id="{CA189E86-A5F5-4305-BBA7-601D3D7E6101}"/>
              </a:ext>
            </a:extLst>
          </p:cNvPr>
          <p:cNvSpPr>
            <a:spLocks noGrp="1"/>
          </p:cNvSpPr>
          <p:nvPr/>
        </p:nvSpPr>
        <p:spPr>
          <a:xfrm>
            <a:off x="4629150" y="5124450"/>
            <a:ext cx="457200" cy="0"/>
          </a:xfrm>
          <a:prstGeom prst="line">
            <a:avLst/>
          </a:prstGeom>
          <a:solidFill>
            <a:srgbClr val="000000">
              <a:alpha val="0"/>
            </a:srgbClr>
          </a:solidFill>
          <a:ln w="2857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mar-4">
            <a:extLst>
              <a:ext uri="{FF2B5EF4-FFF2-40B4-BE49-F238E27FC236}">
                <a16:creationId xmlns:a16="http://schemas.microsoft.com/office/drawing/2014/main" id="{C4B231C6-4FDC-4BB2-AD88-5DC2169644F1}"/>
              </a:ext>
            </a:extLst>
          </p:cNvPr>
          <p:cNvSpPr>
            <a:spLocks noGrp="1"/>
          </p:cNvSpPr>
          <p:nvPr/>
        </p:nvSpPr>
        <p:spPr>
          <a:xfrm>
            <a:off x="5391150" y="4924425"/>
            <a:ext cx="590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76E4D6"/>
                </a:solidFill>
              </a:defRPr>
            </a:pPr>
            <a:r>
              <a:rPr sz="1575" b="1">
                <a:solidFill>
                  <a:srgbClr val="76E4D6"/>
                </a:solidFill>
                <a:latin typeface="Microsoft JhengHei"/>
                <a:ea typeface="Microsoft JhengHei"/>
                <a:cs typeface="Microsoft JhengHei"/>
              </a:rPr>
              <a:t>fix／defer／accept risk／asset candidate</a:t>
            </a:r>
          </a:p>
        </p:txBody>
      </p:sp>
      <p:sp>
        <p:nvSpPr>
          <p:cNvPr id="25" name="pair-line-4">
            <a:extLst>
              <a:ext uri="{FF2B5EF4-FFF2-40B4-BE49-F238E27FC236}">
                <a16:creationId xmlns:a16="http://schemas.microsoft.com/office/drawing/2014/main" id="{9E69B3FB-63E1-4F77-82C1-37ABA428186F}"/>
              </a:ext>
            </a:extLst>
          </p:cNvPr>
          <p:cNvSpPr>
            <a:spLocks noGrp="1"/>
          </p:cNvSpPr>
          <p:nvPr/>
        </p:nvSpPr>
        <p:spPr>
          <a:xfrm>
            <a:off x="876300" y="5429250"/>
            <a:ext cx="104203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workflow3-quote-bg">
            <a:extLst>
              <a:ext uri="{FF2B5EF4-FFF2-40B4-BE49-F238E27FC236}">
                <a16:creationId xmlns:a16="http://schemas.microsoft.com/office/drawing/2014/main" id="{D964676E-2E4A-4CA1-A007-EB1583A09222}"/>
              </a:ext>
            </a:extLst>
          </p:cNvPr>
          <p:cNvSpPr>
            <a:spLocks noGrp="1"/>
          </p:cNvSpPr>
          <p:nvPr/>
        </p:nvSpPr>
        <p:spPr>
          <a:xfrm>
            <a:off x="1524000" y="5715000"/>
            <a:ext cx="9144000" cy="514350"/>
          </a:xfrm>
          <a:prstGeom prst="roundRect">
            <a:avLst>
              <a:gd name="adj" fmla="val 14815"/>
            </a:avLst>
          </a:prstGeom>
          <a:solidFill>
            <a:srgbClr val="102638"/>
          </a:solidFill>
          <a:ln w="952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workflow3-quote">
            <a:extLst>
              <a:ext uri="{FF2B5EF4-FFF2-40B4-BE49-F238E27FC236}">
                <a16:creationId xmlns:a16="http://schemas.microsoft.com/office/drawing/2014/main" id="{C189E942-965E-4C2D-A09D-6FFBFAA0A389}"/>
              </a:ext>
            </a:extLst>
          </p:cNvPr>
          <p:cNvSpPr>
            <a:spLocks noGrp="1"/>
          </p:cNvSpPr>
          <p:nvPr/>
        </p:nvSpPr>
        <p:spPr>
          <a:xfrm>
            <a:off x="1752600" y="5810250"/>
            <a:ext cx="8686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MAR 的成熟，不是量得多；是知道什麼不能被數字假裝知道。</a:t>
            </a:r>
          </a:p>
        </p:txBody>
      </p:sp>
      <p:sp>
        <p:nvSpPr>
          <p:cNvPr id="28" name="source-12">
            <a:extLst>
              <a:ext uri="{FF2B5EF4-FFF2-40B4-BE49-F238E27FC236}">
                <a16:creationId xmlns:a16="http://schemas.microsoft.com/office/drawing/2014/main" id="{98B5C9D2-D9EF-4CA8-80DD-78C2C4B2B028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904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F8798"/>
                </a:solidFill>
              </a:defRPr>
            </a:pPr>
            <a:r>
              <a:rPr sz="975" b="0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依據：rapt-mar-closeout · Read-only Settlement</a:t>
            </a:r>
          </a:p>
        </p:txBody>
      </p:sp>
      <p:sp>
        <p:nvSpPr>
          <p:cNvPr id="29" name="footer-12">
            <a:extLst>
              <a:ext uri="{FF2B5EF4-FFF2-40B4-BE49-F238E27FC236}">
                <a16:creationId xmlns:a16="http://schemas.microsoft.com/office/drawing/2014/main" id="{73DECE34-1220-461F-BE50-769BA2087029}"/>
              </a:ext>
            </a:extLst>
          </p:cNvPr>
          <p:cNvSpPr>
            <a:spLocks noGrp="1"/>
          </p:cNvSpPr>
          <p:nvPr/>
        </p:nvSpPr>
        <p:spPr>
          <a:xfrm>
            <a:off x="10096500" y="6362700"/>
            <a:ext cx="140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F8798"/>
                </a:solidFill>
              </a:defRPr>
            </a:pPr>
            <a:r>
              <a:rPr sz="1050" b="1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12  /  14</a:t>
            </a:r>
          </a:p>
        </p:txBody>
      </p:sp>
    </p:spTree>
    <p:extLst>
      <p:ext uri="{BB962C8B-B14F-4D97-AF65-F5344CB8AC3E}">
        <p14:creationId xmlns:p14="http://schemas.microsoft.com/office/powerpoint/2010/main" val="273827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yebrow-13">
            <a:extLst>
              <a:ext uri="{FF2B5EF4-FFF2-40B4-BE49-F238E27FC236}">
                <a16:creationId xmlns:a16="http://schemas.microsoft.com/office/drawing/2014/main" id="{F68C7E5C-7650-4798-9552-F1AD1AD7F87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D0BA"/>
                </a:solidFill>
              </a:defRPr>
            </a:pPr>
            <a:r>
              <a:rPr sz="1200" b="1">
                <a:solidFill>
                  <a:srgbClr val="35D0BA"/>
                </a:solidFill>
                <a:latin typeface="Microsoft JhengHei"/>
                <a:ea typeface="Microsoft JhengHei"/>
                <a:cs typeface="Microsoft JhengHei"/>
              </a:rPr>
              <a:t>15:30–19:00 · 3 分 30 秒</a:t>
            </a:r>
          </a:p>
        </p:txBody>
      </p:sp>
      <p:sp>
        <p:nvSpPr>
          <p:cNvPr id="2" name="title-13">
            <a:extLst>
              <a:ext uri="{FF2B5EF4-FFF2-40B4-BE49-F238E27FC236}">
                <a16:creationId xmlns:a16="http://schemas.microsoft.com/office/drawing/2014/main" id="{2D4265F9-F1D5-4E35-B4C3-D697EBF4A021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525" b="1">
                <a:solidFill>
                  <a:srgbClr val="F5F3EA"/>
                </a:solidFill>
              </a:defRPr>
            </a:pPr>
            <a:r>
              <a:rPr sz="3525" b="1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Live demo：一句需求走到畫面、API 與 gate</a:t>
            </a:r>
          </a:p>
        </p:txBody>
      </p:sp>
      <p:sp>
        <p:nvSpPr>
          <p:cNvPr id="3" name="header-rule-13">
            <a:extLst>
              <a:ext uri="{FF2B5EF4-FFF2-40B4-BE49-F238E27FC236}">
                <a16:creationId xmlns:a16="http://schemas.microsoft.com/office/drawing/2014/main" id="{D0605983-3A75-46C5-BB5D-6A9FB24D2CEF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demo-time-0">
            <a:extLst>
              <a:ext uri="{FF2B5EF4-FFF2-40B4-BE49-F238E27FC236}">
                <a16:creationId xmlns:a16="http://schemas.microsoft.com/office/drawing/2014/main" id="{27E3EBCE-B755-4F5D-9B6A-538A9AC84ACA}"/>
              </a:ext>
            </a:extLst>
          </p:cNvPr>
          <p:cNvSpPr>
            <a:spLocks noGrp="1"/>
          </p:cNvSpPr>
          <p:nvPr/>
        </p:nvSpPr>
        <p:spPr>
          <a:xfrm>
            <a:off x="685800" y="1771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D0BA"/>
                </a:solidFill>
              </a:defRPr>
            </a:pPr>
            <a:r>
              <a:rPr sz="1200" b="1">
                <a:solidFill>
                  <a:srgbClr val="35D0BA"/>
                </a:solidFill>
                <a:latin typeface="Microsoft JhengHei"/>
                <a:ea typeface="Microsoft JhengHei"/>
                <a:cs typeface="Microsoft JhengHei"/>
              </a:rPr>
              <a:t>00:00</a:t>
            </a:r>
          </a:p>
        </p:txBody>
      </p:sp>
      <p:sp>
        <p:nvSpPr>
          <p:cNvPr id="5" name="demo-step-0">
            <a:extLst>
              <a:ext uri="{FF2B5EF4-FFF2-40B4-BE49-F238E27FC236}">
                <a16:creationId xmlns:a16="http://schemas.microsoft.com/office/drawing/2014/main" id="{4B74535F-710D-4113-A868-088F3CB822A0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1885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SCN-WL-001</a:t>
            </a:r>
          </a:p>
        </p:txBody>
      </p:sp>
      <p:sp>
        <p:nvSpPr>
          <p:cNvPr id="6" name="demo-desc-0">
            <a:extLst>
              <a:ext uri="{FF2B5EF4-FFF2-40B4-BE49-F238E27FC236}">
                <a16:creationId xmlns:a16="http://schemas.microsoft.com/office/drawing/2014/main" id="{D2C20690-76CB-4396-815A-AB47D4913A97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7B7C7"/>
                </a:solidFill>
              </a:defRPr>
            </a:pPr>
            <a:r>
              <a:rPr sz="1200" b="0">
                <a:solidFill>
                  <a:srgbClr val="A7B7C7"/>
                </a:solidFill>
                <a:latin typeface="Microsoft JhengHei"/>
                <a:ea typeface="Microsoft JhengHei"/>
                <a:cs typeface="Microsoft JhengHei"/>
              </a:rPr>
              <a:t>業務可直接說對或不對</a:t>
            </a:r>
          </a:p>
        </p:txBody>
      </p:sp>
      <p:sp>
        <p:nvSpPr>
          <p:cNvPr id="7" name="demo-link-0">
            <a:extLst>
              <a:ext uri="{FF2B5EF4-FFF2-40B4-BE49-F238E27FC236}">
                <a16:creationId xmlns:a16="http://schemas.microsoft.com/office/drawing/2014/main" id="{C7F51041-C8DF-4090-A9E5-476EF07DB394}"/>
              </a:ext>
            </a:extLst>
          </p:cNvPr>
          <p:cNvSpPr>
            <a:spLocks noGrp="1"/>
          </p:cNvSpPr>
          <p:nvPr/>
        </p:nvSpPr>
        <p:spPr>
          <a:xfrm>
            <a:off x="2305050" y="1943100"/>
            <a:ext cx="53340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demo-time-1">
            <a:extLst>
              <a:ext uri="{FF2B5EF4-FFF2-40B4-BE49-F238E27FC236}">
                <a16:creationId xmlns:a16="http://schemas.microsoft.com/office/drawing/2014/main" id="{F032F03A-5835-4F2A-BB0D-47B7DCFF7A10}"/>
              </a:ext>
            </a:extLst>
          </p:cNvPr>
          <p:cNvSpPr>
            <a:spLocks noGrp="1"/>
          </p:cNvSpPr>
          <p:nvPr/>
        </p:nvSpPr>
        <p:spPr>
          <a:xfrm>
            <a:off x="2857500" y="1771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D0BA"/>
                </a:solidFill>
              </a:defRPr>
            </a:pPr>
            <a:r>
              <a:rPr sz="1200" b="1">
                <a:solidFill>
                  <a:srgbClr val="35D0BA"/>
                </a:solidFill>
                <a:latin typeface="Microsoft JhengHei"/>
                <a:ea typeface="Microsoft JhengHei"/>
                <a:cs typeface="Microsoft JhengHei"/>
              </a:rPr>
              <a:t>00:35</a:t>
            </a:r>
          </a:p>
        </p:txBody>
      </p:sp>
      <p:sp>
        <p:nvSpPr>
          <p:cNvPr id="9" name="demo-step-1">
            <a:extLst>
              <a:ext uri="{FF2B5EF4-FFF2-40B4-BE49-F238E27FC236}">
                <a16:creationId xmlns:a16="http://schemas.microsoft.com/office/drawing/2014/main" id="{E7B122CA-7A36-42DA-ABB7-267666C15B81}"/>
              </a:ext>
            </a:extLst>
          </p:cNvPr>
          <p:cNvSpPr>
            <a:spLocks noGrp="1"/>
          </p:cNvSpPr>
          <p:nvPr/>
        </p:nvSpPr>
        <p:spPr>
          <a:xfrm>
            <a:off x="2857500" y="2076450"/>
            <a:ext cx="1885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HyVue preview</a:t>
            </a:r>
          </a:p>
        </p:txBody>
      </p:sp>
      <p:sp>
        <p:nvSpPr>
          <p:cNvPr id="10" name="demo-desc-1">
            <a:extLst>
              <a:ext uri="{FF2B5EF4-FFF2-40B4-BE49-F238E27FC236}">
                <a16:creationId xmlns:a16="http://schemas.microsoft.com/office/drawing/2014/main" id="{80B15C0F-80AB-45AD-9C24-AE54A5B857E3}"/>
              </a:ext>
            </a:extLst>
          </p:cNvPr>
          <p:cNvSpPr>
            <a:spLocks noGrp="1"/>
          </p:cNvSpPr>
          <p:nvPr/>
        </p:nvSpPr>
        <p:spPr>
          <a:xfrm>
            <a:off x="2857500" y="24574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7B7C7"/>
                </a:solidFill>
              </a:defRPr>
            </a:pPr>
            <a:r>
              <a:rPr sz="1200" b="0">
                <a:solidFill>
                  <a:srgbClr val="A7B7C7"/>
                </a:solidFill>
                <a:latin typeface="Microsoft JhengHei"/>
                <a:ea typeface="Microsoft JhengHei"/>
                <a:cs typeface="Microsoft JhengHei"/>
              </a:rPr>
              <a:t>Vue page · mock · service · route</a:t>
            </a:r>
          </a:p>
        </p:txBody>
      </p:sp>
      <p:sp>
        <p:nvSpPr>
          <p:cNvPr id="11" name="demo-link-1">
            <a:extLst>
              <a:ext uri="{FF2B5EF4-FFF2-40B4-BE49-F238E27FC236}">
                <a16:creationId xmlns:a16="http://schemas.microsoft.com/office/drawing/2014/main" id="{15E77748-F6B6-4BDD-89DA-F7538E66390E}"/>
              </a:ext>
            </a:extLst>
          </p:cNvPr>
          <p:cNvSpPr>
            <a:spLocks noGrp="1"/>
          </p:cNvSpPr>
          <p:nvPr/>
        </p:nvSpPr>
        <p:spPr>
          <a:xfrm>
            <a:off x="4476750" y="1943100"/>
            <a:ext cx="53340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demo-time-2">
            <a:extLst>
              <a:ext uri="{FF2B5EF4-FFF2-40B4-BE49-F238E27FC236}">
                <a16:creationId xmlns:a16="http://schemas.microsoft.com/office/drawing/2014/main" id="{C2EBFF32-AF88-4783-B1EB-5D2E5E9814D1}"/>
              </a:ext>
            </a:extLst>
          </p:cNvPr>
          <p:cNvSpPr>
            <a:spLocks noGrp="1"/>
          </p:cNvSpPr>
          <p:nvPr/>
        </p:nvSpPr>
        <p:spPr>
          <a:xfrm>
            <a:off x="5029200" y="1771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D0BA"/>
                </a:solidFill>
              </a:defRPr>
            </a:pPr>
            <a:r>
              <a:rPr sz="1200" b="1">
                <a:solidFill>
                  <a:srgbClr val="35D0BA"/>
                </a:solidFill>
                <a:latin typeface="Microsoft JhengHei"/>
                <a:ea typeface="Microsoft JhengHei"/>
                <a:cs typeface="Microsoft JhengHei"/>
              </a:rPr>
              <a:t>01:25</a:t>
            </a:r>
          </a:p>
        </p:txBody>
      </p:sp>
      <p:sp>
        <p:nvSpPr>
          <p:cNvPr id="13" name="demo-step-2">
            <a:extLst>
              <a:ext uri="{FF2B5EF4-FFF2-40B4-BE49-F238E27FC236}">
                <a16:creationId xmlns:a16="http://schemas.microsoft.com/office/drawing/2014/main" id="{66BD1238-FEC8-46A5-8DF0-B211702C76D0}"/>
              </a:ext>
            </a:extLst>
          </p:cNvPr>
          <p:cNvSpPr>
            <a:spLocks noGrp="1"/>
          </p:cNvSpPr>
          <p:nvPr/>
        </p:nvSpPr>
        <p:spPr>
          <a:xfrm>
            <a:off x="5029200" y="2076450"/>
            <a:ext cx="1885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Lo-Fi</a:t>
            </a:r>
          </a:p>
        </p:txBody>
      </p:sp>
      <p:sp>
        <p:nvSpPr>
          <p:cNvPr id="14" name="demo-desc-2">
            <a:extLst>
              <a:ext uri="{FF2B5EF4-FFF2-40B4-BE49-F238E27FC236}">
                <a16:creationId xmlns:a16="http://schemas.microsoft.com/office/drawing/2014/main" id="{0BF3DA52-A4FF-40D2-AFE4-E2436D36DA21}"/>
              </a:ext>
            </a:extLst>
          </p:cNvPr>
          <p:cNvSpPr>
            <a:spLocks noGrp="1"/>
          </p:cNvSpPr>
          <p:nvPr/>
        </p:nvSpPr>
        <p:spPr>
          <a:xfrm>
            <a:off x="5029200" y="24574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7B7C7"/>
                </a:solidFill>
              </a:defRPr>
            </a:pPr>
            <a:r>
              <a:rPr sz="1200" b="0">
                <a:solidFill>
                  <a:srgbClr val="A7B7C7"/>
                </a:solidFill>
                <a:latin typeface="Microsoft JhengHei"/>
                <a:ea typeface="Microsoft JhengHei"/>
                <a:cs typeface="Microsoft JhengHei"/>
              </a:rPr>
              <a:t>registration-list 頁面意圖</a:t>
            </a:r>
          </a:p>
        </p:txBody>
      </p:sp>
      <p:sp>
        <p:nvSpPr>
          <p:cNvPr id="15" name="demo-link-2">
            <a:extLst>
              <a:ext uri="{FF2B5EF4-FFF2-40B4-BE49-F238E27FC236}">
                <a16:creationId xmlns:a16="http://schemas.microsoft.com/office/drawing/2014/main" id="{7EBA51B3-9530-482F-87C1-7272E61B2EFD}"/>
              </a:ext>
            </a:extLst>
          </p:cNvPr>
          <p:cNvSpPr>
            <a:spLocks noGrp="1"/>
          </p:cNvSpPr>
          <p:nvPr/>
        </p:nvSpPr>
        <p:spPr>
          <a:xfrm>
            <a:off x="6648450" y="1943100"/>
            <a:ext cx="53340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demo-time-3">
            <a:extLst>
              <a:ext uri="{FF2B5EF4-FFF2-40B4-BE49-F238E27FC236}">
                <a16:creationId xmlns:a16="http://schemas.microsoft.com/office/drawing/2014/main" id="{299D020A-A064-43B9-B1D0-03C6E40D05E0}"/>
              </a:ext>
            </a:extLst>
          </p:cNvPr>
          <p:cNvSpPr>
            <a:spLocks noGrp="1"/>
          </p:cNvSpPr>
          <p:nvPr/>
        </p:nvSpPr>
        <p:spPr>
          <a:xfrm>
            <a:off x="7200900" y="1771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D0BA"/>
                </a:solidFill>
              </a:defRPr>
            </a:pPr>
            <a:r>
              <a:rPr sz="1200" b="1">
                <a:solidFill>
                  <a:srgbClr val="35D0BA"/>
                </a:solidFill>
                <a:latin typeface="Microsoft JhengHei"/>
                <a:ea typeface="Microsoft JhengHei"/>
                <a:cs typeface="Microsoft JhengHei"/>
              </a:rPr>
              <a:t>02:10</a:t>
            </a:r>
          </a:p>
        </p:txBody>
      </p:sp>
      <p:sp>
        <p:nvSpPr>
          <p:cNvPr id="17" name="demo-step-3">
            <a:extLst>
              <a:ext uri="{FF2B5EF4-FFF2-40B4-BE49-F238E27FC236}">
                <a16:creationId xmlns:a16="http://schemas.microsoft.com/office/drawing/2014/main" id="{C9F3F2B4-06FD-4CC6-8607-92B2BAFF1AA3}"/>
              </a:ext>
            </a:extLst>
          </p:cNvPr>
          <p:cNvSpPr>
            <a:spLocks noGrp="1"/>
          </p:cNvSpPr>
          <p:nvPr/>
        </p:nvSpPr>
        <p:spPr>
          <a:xfrm>
            <a:off x="7200900" y="2076450"/>
            <a:ext cx="1885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OpenAPI</a:t>
            </a:r>
          </a:p>
        </p:txBody>
      </p:sp>
      <p:sp>
        <p:nvSpPr>
          <p:cNvPr id="18" name="demo-desc-3">
            <a:extLst>
              <a:ext uri="{FF2B5EF4-FFF2-40B4-BE49-F238E27FC236}">
                <a16:creationId xmlns:a16="http://schemas.microsoft.com/office/drawing/2014/main" id="{B3B6699D-364D-43CB-ABF7-3872B2977A8E}"/>
              </a:ext>
            </a:extLst>
          </p:cNvPr>
          <p:cNvSpPr>
            <a:spLocks noGrp="1"/>
          </p:cNvSpPr>
          <p:nvPr/>
        </p:nvSpPr>
        <p:spPr>
          <a:xfrm>
            <a:off x="7200900" y="24574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7B7C7"/>
                </a:solidFill>
              </a:defRPr>
            </a:pPr>
            <a:r>
              <a:rPr sz="1200" b="0">
                <a:solidFill>
                  <a:srgbClr val="A7B7C7"/>
                </a:solidFill>
                <a:latin typeface="Microsoft JhengHei"/>
                <a:ea typeface="Microsoft JhengHei"/>
                <a:cs typeface="Microsoft JhengHei"/>
              </a:rPr>
              <a:t>POST /registration/{id}/promote</a:t>
            </a:r>
          </a:p>
        </p:txBody>
      </p:sp>
      <p:sp>
        <p:nvSpPr>
          <p:cNvPr id="19" name="demo-link-3">
            <a:extLst>
              <a:ext uri="{FF2B5EF4-FFF2-40B4-BE49-F238E27FC236}">
                <a16:creationId xmlns:a16="http://schemas.microsoft.com/office/drawing/2014/main" id="{F10FE273-3748-4239-994F-5F41CAD1539F}"/>
              </a:ext>
            </a:extLst>
          </p:cNvPr>
          <p:cNvSpPr>
            <a:spLocks noGrp="1"/>
          </p:cNvSpPr>
          <p:nvPr/>
        </p:nvSpPr>
        <p:spPr>
          <a:xfrm>
            <a:off x="8820150" y="1943100"/>
            <a:ext cx="53340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demo-time-4">
            <a:extLst>
              <a:ext uri="{FF2B5EF4-FFF2-40B4-BE49-F238E27FC236}">
                <a16:creationId xmlns:a16="http://schemas.microsoft.com/office/drawing/2014/main" id="{18F262B1-A4BC-4F3C-B68D-E10394AB02E5}"/>
              </a:ext>
            </a:extLst>
          </p:cNvPr>
          <p:cNvSpPr>
            <a:spLocks noGrp="1"/>
          </p:cNvSpPr>
          <p:nvPr/>
        </p:nvSpPr>
        <p:spPr>
          <a:xfrm>
            <a:off x="9372600" y="1771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5B84B"/>
                </a:solidFill>
              </a:defRPr>
            </a:pPr>
            <a:r>
              <a:rPr sz="1200" b="1">
                <a:solidFill>
                  <a:srgbClr val="F5B84B"/>
                </a:solidFill>
                <a:latin typeface="Microsoft JhengHei"/>
                <a:ea typeface="Microsoft JhengHei"/>
                <a:cs typeface="Microsoft JhengHei"/>
              </a:rPr>
              <a:t>02:55</a:t>
            </a:r>
          </a:p>
        </p:txBody>
      </p:sp>
      <p:sp>
        <p:nvSpPr>
          <p:cNvPr id="21" name="demo-step-4">
            <a:extLst>
              <a:ext uri="{FF2B5EF4-FFF2-40B4-BE49-F238E27FC236}">
                <a16:creationId xmlns:a16="http://schemas.microsoft.com/office/drawing/2014/main" id="{9CD6958B-1239-433E-93ED-4391800689A3}"/>
              </a:ext>
            </a:extLst>
          </p:cNvPr>
          <p:cNvSpPr>
            <a:spLocks noGrp="1"/>
          </p:cNvSpPr>
          <p:nvPr/>
        </p:nvSpPr>
        <p:spPr>
          <a:xfrm>
            <a:off x="9372600" y="2076450"/>
            <a:ext cx="1885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Verify</a:t>
            </a:r>
          </a:p>
        </p:txBody>
      </p:sp>
      <p:sp>
        <p:nvSpPr>
          <p:cNvPr id="22" name="demo-desc-4">
            <a:extLst>
              <a:ext uri="{FF2B5EF4-FFF2-40B4-BE49-F238E27FC236}">
                <a16:creationId xmlns:a16="http://schemas.microsoft.com/office/drawing/2014/main" id="{5B38C29A-48D1-4552-BF90-6EB5B77AF43B}"/>
              </a:ext>
            </a:extLst>
          </p:cNvPr>
          <p:cNvSpPr>
            <a:spLocks noGrp="1"/>
          </p:cNvSpPr>
          <p:nvPr/>
        </p:nvSpPr>
        <p:spPr>
          <a:xfrm>
            <a:off x="9372600" y="24574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7B7C7"/>
                </a:solidFill>
              </a:defRPr>
            </a:pPr>
            <a:r>
              <a:rPr sz="1200" b="0">
                <a:solidFill>
                  <a:srgbClr val="A7B7C7"/>
                </a:solidFill>
                <a:latin typeface="Microsoft JhengHei"/>
                <a:ea typeface="Microsoft JhengHei"/>
                <a:cs typeface="Microsoft JhengHei"/>
              </a:rPr>
              <a:t>核心 PASS，overall PARTIAL</a:t>
            </a:r>
          </a:p>
        </p:txBody>
      </p:sp>
      <p:sp>
        <p:nvSpPr>
          <p:cNvPr id="23" name="demo-command-frame">
            <a:extLst>
              <a:ext uri="{FF2B5EF4-FFF2-40B4-BE49-F238E27FC236}">
                <a16:creationId xmlns:a16="http://schemas.microsoft.com/office/drawing/2014/main" id="{8D564EDB-2F59-4BEE-B3F0-C07C156A47DB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7239000" cy="1847850"/>
          </a:xfrm>
          <a:prstGeom prst="roundRect">
            <a:avLst>
              <a:gd name="adj" fmla="val 4124"/>
            </a:avLst>
          </a:prstGeom>
          <a:solidFill>
            <a:srgbClr val="0B1C2A"/>
          </a:solidFill>
          <a:ln w="9525">
            <a:solidFill>
              <a:srgbClr val="24475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TW" altLang="en-US"/>
          </a:p>
        </p:txBody>
      </p:sp>
      <p:sp>
        <p:nvSpPr>
          <p:cNvPr id="24" name="demo-command-label">
            <a:extLst>
              <a:ext uri="{FF2B5EF4-FFF2-40B4-BE49-F238E27FC236}">
                <a16:creationId xmlns:a16="http://schemas.microsoft.com/office/drawing/2014/main" id="{02277D5C-1B7B-4953-ACB1-AB66C197F7A5}"/>
              </a:ext>
            </a:extLst>
          </p:cNvPr>
          <p:cNvSpPr>
            <a:spLocks noGrp="1"/>
          </p:cNvSpPr>
          <p:nvPr/>
        </p:nvSpPr>
        <p:spPr>
          <a:xfrm>
            <a:off x="857250" y="3429000"/>
            <a:ext cx="6896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5B84B"/>
                </a:solidFill>
              </a:defRPr>
            </a:pPr>
            <a:r>
              <a:rPr sz="1050" b="1">
                <a:solidFill>
                  <a:srgbClr val="F5B84B"/>
                </a:solidFill>
                <a:latin typeface="Microsoft JhengHei"/>
                <a:ea typeface="Microsoft JhengHei"/>
                <a:cs typeface="Microsoft JhengHei"/>
              </a:rPr>
              <a:t>現場指令 · cwd = Projects/hcplAct</a:t>
            </a:r>
          </a:p>
        </p:txBody>
      </p:sp>
      <p:sp>
        <p:nvSpPr>
          <p:cNvPr id="25" name="demo-command-text">
            <a:extLst>
              <a:ext uri="{FF2B5EF4-FFF2-40B4-BE49-F238E27FC236}">
                <a16:creationId xmlns:a16="http://schemas.microsoft.com/office/drawing/2014/main" id="{33791AFF-88B2-41F9-854C-2DEA330369E2}"/>
              </a:ext>
            </a:extLst>
          </p:cNvPr>
          <p:cNvSpPr>
            <a:spLocks noGrp="1"/>
          </p:cNvSpPr>
          <p:nvPr/>
        </p:nvSpPr>
        <p:spPr>
          <a:xfrm>
            <a:off x="857250" y="3724275"/>
            <a:ext cx="6896100" cy="1285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5F3EA"/>
                </a:solidFill>
              </a:defRPr>
            </a:pPr>
            <a:r>
              <a:rPr sz="1350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node ..\..\RAPTor\8codeGens\tool-hyVuePrototype\dist\cli.js preview `</a:t>
            </a:r>
          </a:p>
          <a:p>
            <a:pPr algn="l">
              <a:defRPr sz="1350" b="0">
                <a:solidFill>
                  <a:srgbClr val="F5F3EA"/>
                </a:solidFill>
              </a:defRPr>
            </a:pPr>
            <a:r>
              <a:rPr sz="1350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  --ssot docs\ssot `</a:t>
            </a:r>
          </a:p>
          <a:p>
            <a:pPr algn="l">
              <a:defRPr sz="1350" b="0">
                <a:solidFill>
                  <a:srgbClr val="F5F3EA"/>
                </a:solidFill>
              </a:defRPr>
            </a:pPr>
            <a:r>
              <a:rPr sz="1350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  --pages registration-list `</a:t>
            </a:r>
          </a:p>
          <a:p>
            <a:pPr algn="l">
              <a:defRPr sz="1350" b="0">
                <a:solidFill>
                  <a:srgbClr val="F5F3EA"/>
                </a:solidFill>
              </a:defRPr>
            </a:pPr>
            <a:r>
              <a:rPr sz="1350" b="0">
                <a:solidFill>
                  <a:srgbClr val="F5F3EA"/>
                </a:solidFill>
                <a:latin typeface="Cascadia Mono"/>
                <a:ea typeface="Cascadia Mono"/>
                <a:cs typeface="Cascadia Mono"/>
              </a:rPr>
              <a:t>  --with-haarm false</a:t>
            </a:r>
          </a:p>
        </p:txBody>
      </p:sp>
      <p:sp>
        <p:nvSpPr>
          <p:cNvPr id="26" name="demo-rule">
            <a:extLst>
              <a:ext uri="{FF2B5EF4-FFF2-40B4-BE49-F238E27FC236}">
                <a16:creationId xmlns:a16="http://schemas.microsoft.com/office/drawing/2014/main" id="{4132C807-8C71-4122-950A-568A11EE4BC2}"/>
              </a:ext>
            </a:extLst>
          </p:cNvPr>
          <p:cNvSpPr>
            <a:spLocks noGrp="1"/>
          </p:cNvSpPr>
          <p:nvPr/>
        </p:nvSpPr>
        <p:spPr>
          <a:xfrm>
            <a:off x="8305800" y="3295650"/>
            <a:ext cx="3200400" cy="1847850"/>
          </a:xfrm>
          <a:prstGeom prst="roundRect">
            <a:avLst>
              <a:gd name="adj" fmla="val 6186"/>
            </a:avLst>
          </a:prstGeom>
          <a:solidFill>
            <a:srgbClr val="102638"/>
          </a:solidFill>
          <a:ln w="9525">
            <a:solidFill>
              <a:srgbClr val="F5B8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demo-rule-title">
            <a:extLst>
              <a:ext uri="{FF2B5EF4-FFF2-40B4-BE49-F238E27FC236}">
                <a16:creationId xmlns:a16="http://schemas.microsoft.com/office/drawing/2014/main" id="{513579EA-0F2B-496A-9638-D34D2726DC45}"/>
              </a:ext>
            </a:extLst>
          </p:cNvPr>
          <p:cNvSpPr>
            <a:spLocks noGrp="1"/>
          </p:cNvSpPr>
          <p:nvPr/>
        </p:nvSpPr>
        <p:spPr>
          <a:xfrm>
            <a:off x="8591550" y="3562350"/>
            <a:ext cx="2628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5B84B"/>
                </a:solidFill>
              </a:defRPr>
            </a:pPr>
            <a:r>
              <a:rPr sz="1350" b="1">
                <a:solidFill>
                  <a:srgbClr val="F5B84B"/>
                </a:solidFill>
                <a:latin typeface="Microsoft JhengHei"/>
                <a:ea typeface="Microsoft JhengHei"/>
                <a:cs typeface="Microsoft JhengHei"/>
              </a:rPr>
              <a:t>最重要的一幕</a:t>
            </a:r>
          </a:p>
        </p:txBody>
      </p:sp>
      <p:sp>
        <p:nvSpPr>
          <p:cNvPr id="28" name="demo-rule-text">
            <a:extLst>
              <a:ext uri="{FF2B5EF4-FFF2-40B4-BE49-F238E27FC236}">
                <a16:creationId xmlns:a16="http://schemas.microsoft.com/office/drawing/2014/main" id="{323A7437-225A-46C9-BBEE-CB0B6A5D3535}"/>
              </a:ext>
            </a:extLst>
          </p:cNvPr>
          <p:cNvSpPr>
            <a:spLocks noGrp="1"/>
          </p:cNvSpPr>
          <p:nvPr/>
        </p:nvSpPr>
        <p:spPr>
          <a:xfrm>
            <a:off x="8591550" y="4038600"/>
            <a:ext cx="26289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工具可以生成，</a:t>
            </a:r>
          </a:p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gate 仍可以說：</a:t>
            </a:r>
          </a:p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「先別假裝完成。」</a:t>
            </a:r>
          </a:p>
        </p:txBody>
      </p:sp>
      <p:sp>
        <p:nvSpPr>
          <p:cNvPr id="29" name="demo-boundary">
            <a:extLst>
              <a:ext uri="{FF2B5EF4-FFF2-40B4-BE49-F238E27FC236}">
                <a16:creationId xmlns:a16="http://schemas.microsoft.com/office/drawing/2014/main" id="{86FBCF83-9BA8-4260-AC4E-E3540F677250}"/>
              </a:ext>
            </a:extLst>
          </p:cNvPr>
          <p:cNvSpPr>
            <a:spLocks noGrp="1"/>
          </p:cNvSpPr>
          <p:nvPr/>
        </p:nvSpPr>
        <p:spPr>
          <a:xfrm>
            <a:off x="1066800" y="5619750"/>
            <a:ext cx="10058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5B84B"/>
                </a:solidFill>
              </a:defRPr>
            </a:pPr>
            <a:r>
              <a:rPr sz="1500" b="1">
                <a:solidFill>
                  <a:srgbClr val="F5B84B"/>
                </a:solidFill>
                <a:latin typeface="Microsoft JhengHei"/>
                <a:ea typeface="Microsoft JhengHei"/>
                <a:cs typeface="Microsoft JhengHei"/>
              </a:rPr>
              <a:t>Demo 邊界：OpenAPI／Lo-Fi 目前是 preview、not-approved-spec；正式 codegen 前必須重新 verify。</a:t>
            </a:r>
          </a:p>
        </p:txBody>
      </p:sp>
      <p:sp>
        <p:nvSpPr>
          <p:cNvPr id="30" name="source-13">
            <a:extLst>
              <a:ext uri="{FF2B5EF4-FFF2-40B4-BE49-F238E27FC236}">
                <a16:creationId xmlns:a16="http://schemas.microsoft.com/office/drawing/2014/main" id="{8DC35260-2432-4151-BED9-08EB50C9C339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904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F8798"/>
                </a:solidFill>
              </a:defRPr>
            </a:pPr>
            <a:r>
              <a:rPr sz="975" b="0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備援：直接展示既有 Lo-Fi、OpenAPI YAML 與 verify-report.yml，不在台上除錯</a:t>
            </a:r>
          </a:p>
        </p:txBody>
      </p:sp>
      <p:sp>
        <p:nvSpPr>
          <p:cNvPr id="31" name="footer-13">
            <a:extLst>
              <a:ext uri="{FF2B5EF4-FFF2-40B4-BE49-F238E27FC236}">
                <a16:creationId xmlns:a16="http://schemas.microsoft.com/office/drawing/2014/main" id="{99CF0EA4-7423-4C5C-9540-EFE36ED71B78}"/>
              </a:ext>
            </a:extLst>
          </p:cNvPr>
          <p:cNvSpPr>
            <a:spLocks noGrp="1"/>
          </p:cNvSpPr>
          <p:nvPr/>
        </p:nvSpPr>
        <p:spPr>
          <a:xfrm>
            <a:off x="10096500" y="6362700"/>
            <a:ext cx="140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F8798"/>
                </a:solidFill>
              </a:defRPr>
            </a:pPr>
            <a:r>
              <a:rPr sz="1050" b="1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13  /  14</a:t>
            </a:r>
          </a:p>
        </p:txBody>
      </p:sp>
    </p:spTree>
    <p:extLst>
      <p:ext uri="{BB962C8B-B14F-4D97-AF65-F5344CB8AC3E}">
        <p14:creationId xmlns:p14="http://schemas.microsoft.com/office/powerpoint/2010/main" val="475656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111F"/>
            </a:gs>
            <a:gs pos="100000">
              <a:srgbClr val="0B2135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yebrow-14">
            <a:extLst>
              <a:ext uri="{FF2B5EF4-FFF2-40B4-BE49-F238E27FC236}">
                <a16:creationId xmlns:a16="http://schemas.microsoft.com/office/drawing/2014/main" id="{F242E031-E290-4827-9188-CCDE103A940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5D0BA"/>
                </a:solidFill>
              </a:defRPr>
            </a:pPr>
            <a:r>
              <a:rPr sz="1200" b="1">
                <a:solidFill>
                  <a:srgbClr val="35D0BA"/>
                </a:solidFill>
                <a:latin typeface="Microsoft JhengHei"/>
                <a:ea typeface="Microsoft JhengHei"/>
                <a:cs typeface="Microsoft JhengHei"/>
              </a:rPr>
              <a:t>hyrapt × T00</a:t>
            </a:r>
          </a:p>
        </p:txBody>
      </p:sp>
      <p:sp>
        <p:nvSpPr>
          <p:cNvPr id="2" name="title-14">
            <a:extLst>
              <a:ext uri="{FF2B5EF4-FFF2-40B4-BE49-F238E27FC236}">
                <a16:creationId xmlns:a16="http://schemas.microsoft.com/office/drawing/2014/main" id="{8F216514-6B2C-4629-B4EB-981149A116E8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525" b="1">
                <a:solidFill>
                  <a:srgbClr val="F5F3EA"/>
                </a:solidFill>
              </a:defRPr>
            </a:pPr>
            <a:r>
              <a:rPr sz="3525" b="1">
                <a:solidFill>
                  <a:srgbClr val="F5F3EA"/>
                </a:solidFill>
                <a:latin typeface="Microsoft JhengHei"/>
                <a:ea typeface="Microsoft JhengHei"/>
                <a:cs typeface="Microsoft JhengHei"/>
              </a:rPr>
              <a:t>T00 接下來，就是你們走一次這條路</a:t>
            </a:r>
          </a:p>
        </p:txBody>
      </p:sp>
      <p:sp>
        <p:nvSpPr>
          <p:cNvPr id="3" name="header-rule-14">
            <a:extLst>
              <a:ext uri="{FF2B5EF4-FFF2-40B4-BE49-F238E27FC236}">
                <a16:creationId xmlns:a16="http://schemas.microsoft.com/office/drawing/2014/main" id="{A7D482C0-E7A9-4541-9326-75076A1073CA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2447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6300" y="2741742"/>
            <a:ext cx="10439400" cy="612516"/>
          </a:xfrm>
          <a:prstGeom prst="rect">
            <a:avLst/>
          </a:prstGeom>
        </p:spPr>
      </p:pic>
      <p:sp>
        <p:nvSpPr>
          <p:cNvPr id="5" name="close-rule">
            <a:extLst>
              <a:ext uri="{FF2B5EF4-FFF2-40B4-BE49-F238E27FC236}">
                <a16:creationId xmlns:a16="http://schemas.microsoft.com/office/drawing/2014/main" id="{9BDE558B-6FA2-4570-83F4-F4D6640C4CC9}"/>
              </a:ext>
            </a:extLst>
          </p:cNvPr>
          <p:cNvSpPr>
            <a:spLocks noGrp="1"/>
          </p:cNvSpPr>
          <p:nvPr/>
        </p:nvSpPr>
        <p:spPr>
          <a:xfrm>
            <a:off x="2209800" y="4629150"/>
            <a:ext cx="7772400" cy="0"/>
          </a:xfrm>
          <a:prstGeom prst="line">
            <a:avLst/>
          </a:prstGeom>
          <a:solidFill>
            <a:srgbClr val="000000">
              <a:alpha val="0"/>
            </a:srgbClr>
          </a:solidFill>
          <a:ln w="28575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close-quote">
            <a:extLst>
              <a:ext uri="{FF2B5EF4-FFF2-40B4-BE49-F238E27FC236}">
                <a16:creationId xmlns:a16="http://schemas.microsoft.com/office/drawing/2014/main" id="{9D22EB91-8567-4E9F-BD3E-BE9FA90FD6C3}"/>
              </a:ext>
            </a:extLst>
          </p:cNvPr>
          <p:cNvSpPr>
            <a:spLocks noGrp="1"/>
          </p:cNvSpPr>
          <p:nvPr/>
        </p:nvSpPr>
        <p:spPr>
          <a:xfrm>
            <a:off x="1466850" y="4914900"/>
            <a:ext cx="92583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今天不要問 AI 寫了多少。</a:t>
            </a:r>
          </a:p>
          <a:p>
            <a:pPr algn="ctr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要問：每個承諾有沒有來源、能不能追、驗不驗得過、能不能重生。</a:t>
            </a:r>
          </a:p>
        </p:txBody>
      </p:sp>
      <p:sp>
        <p:nvSpPr>
          <p:cNvPr id="7" name="close-final">
            <a:extLst>
              <a:ext uri="{FF2B5EF4-FFF2-40B4-BE49-F238E27FC236}">
                <a16:creationId xmlns:a16="http://schemas.microsoft.com/office/drawing/2014/main" id="{939030D1-1038-491D-A9EB-61FBAF51913A}"/>
              </a:ext>
            </a:extLst>
          </p:cNvPr>
          <p:cNvSpPr>
            <a:spLocks noGrp="1"/>
          </p:cNvSpPr>
          <p:nvPr/>
        </p:nvSpPr>
        <p:spPr>
          <a:xfrm>
            <a:off x="3924300" y="6096000"/>
            <a:ext cx="4343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F5B84B"/>
                </a:solidFill>
              </a:defRPr>
            </a:pPr>
            <a:r>
              <a:rPr sz="1875" b="1">
                <a:solidFill>
                  <a:srgbClr val="F5B84B"/>
                </a:solidFill>
                <a:latin typeface="Microsoft JhengHei"/>
                <a:ea typeface="Microsoft JhengHei"/>
                <a:cs typeface="Microsoft JhengHei"/>
              </a:rPr>
              <a:t>現在，我們來走第一次。</a:t>
            </a:r>
          </a:p>
        </p:txBody>
      </p:sp>
      <p:sp>
        <p:nvSpPr>
          <p:cNvPr id="8" name="footer-14">
            <a:extLst>
              <a:ext uri="{FF2B5EF4-FFF2-40B4-BE49-F238E27FC236}">
                <a16:creationId xmlns:a16="http://schemas.microsoft.com/office/drawing/2014/main" id="{7CB6C938-A5B5-4EA8-8F0F-AB060D9A9A23}"/>
              </a:ext>
            </a:extLst>
          </p:cNvPr>
          <p:cNvSpPr>
            <a:spLocks noGrp="1"/>
          </p:cNvSpPr>
          <p:nvPr/>
        </p:nvSpPr>
        <p:spPr>
          <a:xfrm>
            <a:off x="10096500" y="6362700"/>
            <a:ext cx="140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F8798"/>
                </a:solidFill>
              </a:defRPr>
            </a:pPr>
            <a:r>
              <a:rPr sz="1050" b="1">
                <a:solidFill>
                  <a:srgbClr val="6F8798"/>
                </a:solidFill>
                <a:latin typeface="Microsoft JhengHei"/>
                <a:ea typeface="Microsoft JhengHei"/>
                <a:cs typeface="Microsoft JhengHei"/>
              </a:rPr>
              <a:t>14  /  14</a:t>
            </a:r>
          </a:p>
        </p:txBody>
      </p:sp>
    </p:spTree>
    <p:extLst>
      <p:ext uri="{BB962C8B-B14F-4D97-AF65-F5344CB8AC3E}">
        <p14:creationId xmlns:p14="http://schemas.microsoft.com/office/powerpoint/2010/main" val="11593150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1631</Words>
  <Application>Microsoft Office PowerPoint</Application>
  <DocSecurity>0</DocSecurity>
  <PresentationFormat>寬螢幕</PresentationFormat>
  <Paragraphs>254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8" baseType="lpstr">
      <vt:lpstr>Microsoft JhengHei</vt:lpstr>
      <vt:lpstr>Calibri</vt:lpstr>
      <vt:lpstr>Cascadia Mono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A08陳建維</cp:lastModifiedBy>
  <cp:revision>1</cp:revision>
  <dcterms:created xsi:type="dcterms:W3CDTF">2026-07-15T01:40:39Z</dcterms:created>
  <dcterms:modified xsi:type="dcterms:W3CDTF">2026-07-16T01:13:42Z</dcterms:modified>
</cp:coreProperties>
</file>