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先點痛。RAPTor 的五份 SSoT 由 skill 產生時都帶 source_evidence 與 traceability，唯獨「人親手改」這條路徑是個黑洞。這頁要讓聽眾認同「人工改動需要一道登錄關卡」，而不是預設大家都會乖乖手寫 impact-matrix。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全段核心。強調「少發明、多接線」——RAPTor 已有完整驗證迴圈，human-sync 不重造輪子，只補上 verify 之前缺的「人工變更事件登錄」。第四點是最大好用度賣點：使用者不需要懂 git、不必事先 commit，跑一個指令就好。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呼應討論裡使用者問的「改前改後要下什麼 git 命令」。給兩種人兩條路：重視 provenance 的人走兩條 commit；不想記指令的人零設定直接跑。不要把「先 commit」當硬性前置，那是最大採用門檻。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強調三件落地保證：(1) 全程不寫任何 SSoT 檔，只寫 .raptor/ 追蹤檔；(2) impact-matrix 一律透過既有 manage_impact_matrix.py 寫入並 validate，格式不會跑掉；(3) 同樣狀態重跑用內容決定性 id 去重，不產生重複。這頁回答「它到底動了我什麼」——只動追蹤檔，規格一字不改。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收尾定錨。最後可帶到實作計畫 0613plan-rapt-human-sync_cc-Opus48.md 供想深入的人參考。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72784"/>
            <a:ext cx="12192609" cy="585216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27632"/>
            <a:ext cx="128016" cy="14813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81328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人工改了規格之後，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流程怎麼接？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0156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lang="zh-TW">
                <a:solidFill>
                  <a:srgbClr val="E8A33D"/>
                </a:solidFill>
                <a:latin typeface="Microsoft JhengHei"/>
                <a:ea typeface="Microsoft JhengHei"/>
              </a:rPr>
              <a:t>rapt-human-sync — 把人工改動納入 RAPTor 的追蹤體系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041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lang="zh-TW">
                <a:solidFill>
                  <a:srgbClr val="C9D3E0"/>
                </a:solidFill>
                <a:latin typeface="Microsoft JhengHei"/>
                <a:ea typeface="Microsoft JhengHei"/>
              </a:rPr>
              <a:t>你照樣用 VSCode 改 SSoT，AI 負責登錄「誰、何時、改了什麼、為什麼」並接回驗證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4800600"/>
            <a:ext cx="9921240" cy="1078992"/>
          </a:xfrm>
          <a:prstGeom prst="roundRect">
            <a:avLst>
              <a:gd name="adj" fmla="val 8000"/>
            </a:avLst>
          </a:prstGeom>
          <a:solidFill>
            <a:srgbClr val="2A3D5C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4800600"/>
            <a:ext cx="91440" cy="10789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800600"/>
            <a:ext cx="941832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lang="zh-TW">
                <a:solidFill>
                  <a:srgbClr val="E8EEF6"/>
                </a:solidFill>
                <a:latin typeface="Microsoft JhengHei"/>
                <a:ea typeface="Microsoft JhengHei"/>
              </a:rPr>
              <a:t>Phase 跑完，你打開 </a:t>
            </a:r>
            <a:r>
              <a:rPr sz="1400" b="0" i="0" lang="zh-TW">
                <a:solidFill>
                  <a:srgbClr val="5FD3C4"/>
                </a:solidFill>
                <a:latin typeface="Consolas"/>
                <a:ea typeface="Microsoft JhengHei"/>
              </a:rPr>
              <a:t>schema.dbml</a:t>
            </a:r>
            <a:r>
              <a:rPr sz="1400" b="0" i="0" lang="zh-TW">
                <a:solidFill>
                  <a:srgbClr val="E8EEF6"/>
                </a:solidFill>
                <a:latin typeface="Microsoft JhengHei"/>
                <a:ea typeface="Microsoft JhengHei"/>
              </a:rPr>
              <a:t> 手動加了兩個欄位——這時 RAPTor 不知道你改了什麼、影響哪些下游、為什麼改。</a:t>
            </a:r>
            <a:r>
              <a:rPr sz="1400" b="1" i="0" lang="zh-TW">
                <a:solidFill>
                  <a:srgbClr val="E8A33D"/>
                </a:solidFill>
                <a:latin typeface="Microsoft JhengHei"/>
                <a:ea typeface="Microsoft JhengHei"/>
              </a:rPr>
              <a:t>traceability 就在這裡斷鏈。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91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zh-TW">
                <a:solidFill>
                  <a:srgbClr val="9AA7B8"/>
                </a:solidFill>
                <a:latin typeface="Microsoft JhengHei"/>
                <a:ea typeface="Microsoft JhengHei"/>
              </a:rPr>
              <a:t>RAPTor 流程的一道新關卡　・　設計導覽（5 頁）　・　對應實作計畫 0613plan-rapt-human-sync_cc-Opus48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設計理念：做得少，接得準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設計理念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530352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91440" cy="1517904"/>
          </a:xfrm>
          <a:prstGeom prst="rect">
            <a:avLst/>
          </a:prstGeom>
          <a:solidFill>
            <a:srgbClr val="0F7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2763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海關，不是修復器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4825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只負責</a:t>
            </a:r>
            <a:r>
              <a:rPr sz="1200" b="1" i="0" lang="zh-TW">
                <a:solidFill>
                  <a:srgbClr val="0F776C"/>
                </a:solidFill>
                <a:latin typeface="Microsoft JhengHei"/>
                <a:ea typeface="Microsoft JhengHei"/>
              </a:rPr>
              <a:t>登錄</a:t>
            </a: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人工改動；絕不改 SSoT、不自動 reconcile、不重產下游。判斷對錯交給既有的 verify → reconcile → clarify 迴圈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530352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91440" cy="151790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62763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Git 是唯一事實來源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04825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Who / When / What 全部從 </a:t>
            </a:r>
            <a:r>
              <a:rPr sz="1200" b="0" i="0" lang="zh-TW">
                <a:solidFill>
                  <a:srgbClr val="0F776C"/>
                </a:solidFill>
                <a:latin typeface="Consolas"/>
                <a:ea typeface="Microsoft JhengHei"/>
              </a:rPr>
              <a:t>git diff</a:t>
            </a: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 / </a:t>
            </a:r>
            <a:r>
              <a:rPr sz="1200" b="0" i="0" lang="zh-TW">
                <a:solidFill>
                  <a:srgbClr val="0F776C"/>
                </a:solidFill>
                <a:latin typeface="Consolas"/>
                <a:ea typeface="Microsoft JhengHei"/>
              </a:rPr>
              <a:t>git log</a:t>
            </a: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 拿，不另造追蹤機制，避免雙重真相來源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27248"/>
            <a:ext cx="530352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27248"/>
            <a:ext cx="91440" cy="15179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27355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Why 用問的，不用猜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69417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Git 答得了「改什麼」，答不了「為什麼」——用 ASK 補 </a:t>
            </a:r>
            <a:r>
              <a:rPr sz="1200" b="0" i="0" lang="zh-TW">
                <a:solidFill>
                  <a:srgbClr val="0F776C"/>
                </a:solidFill>
                <a:latin typeface="Consolas"/>
                <a:ea typeface="Microsoft JhengHei"/>
              </a:rPr>
              <a:t>human_note</a:t>
            </a: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 / </a:t>
            </a:r>
            <a:r>
              <a:rPr sz="1200" b="0" i="0" lang="zh-TW">
                <a:solidFill>
                  <a:srgbClr val="0F776C"/>
                </a:solidFill>
                <a:latin typeface="Consolas"/>
                <a:ea typeface="Microsoft JhengHei"/>
              </a:rPr>
              <a:t>decision_ref</a:t>
            </a: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，才不會 traceability 斷鏈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27248"/>
            <a:ext cx="5303520" cy="15179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27248"/>
            <a:ext cx="91440" cy="1517904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273552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零設定、不依賴紀律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69417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預設支援</a:t>
            </a:r>
            <a:r>
              <a:rPr sz="1200" b="1" i="0" lang="zh-TW">
                <a:solidFill>
                  <a:srgbClr val="2A3D5C"/>
                </a:solidFill>
                <a:latin typeface="Microsoft JhengHei"/>
                <a:ea typeface="Microsoft JhengHei"/>
              </a:rPr>
              <a:t>還沒 commit</a:t>
            </a:r>
            <a:r>
              <a:rPr sz="12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 就能跑；baseline 自動從 git 推導，</a:t>
            </a:r>
            <a:r>
              <a:rPr sz="1200" b="1" i="0" lang="zh-TW">
                <a:solidFill>
                  <a:srgbClr val="2A3D5C"/>
                </a:solidFill>
                <a:latin typeface="Microsoft JhengHei"/>
                <a:ea typeface="Microsoft JhengHei"/>
              </a:rPr>
              <a:t>不必改任何既有 skill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73168"/>
            <a:ext cx="10927080" cy="1481328"/>
          </a:xfrm>
          <a:prstGeom prst="roundRect">
            <a:avLst>
              <a:gd name="adj" fmla="val 4500"/>
            </a:avLst>
          </a:prstGeom>
          <a:solidFill>
            <a:srgbClr val="20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937759"/>
            <a:ext cx="10415015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8A94A6"/>
                </a:solidFill>
                <a:latin typeface="Consolas"/>
                <a:ea typeface="Microsoft JhengHei"/>
              </a:rPr>
              <a:t>人工修改 SSoT（VSCode 手改）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8A94A6"/>
                </a:solidFill>
                <a:latin typeface="Consolas"/>
                <a:ea typeface="Microsoft JhengHei"/>
              </a:rPr>
              <a:t>        │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8A94A6"/>
                </a:solidFill>
                <a:latin typeface="Consolas"/>
                <a:ea typeface="Microsoft JhengHei"/>
              </a:rPr>
              <a:t>        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zh-TW">
                <a:solidFill>
                  <a:srgbClr val="5FD3C4"/>
                </a:solidFill>
                <a:latin typeface="Consolas"/>
                <a:ea typeface="Microsoft JhengHei"/>
              </a:rPr>
              <a:t>/rapt-human-sync   ← 新增「海關」：偵測 diff → 問原因 → 寫登錄紀錄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8A94A6"/>
                </a:solidFill>
                <a:latin typeface="Consolas"/>
                <a:ea typeface="Microsoft JhengHei"/>
              </a:rPr>
              <a:t>        │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8A94A6"/>
                </a:solidFill>
                <a:latin typeface="Consolas"/>
                <a:ea typeface="Microsoft JhengHei"/>
              </a:rPr>
              <a:t>        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DDE4EE"/>
                </a:solidFill>
                <a:latin typeface="Consolas"/>
                <a:ea typeface="Microsoft JhengHei"/>
              </a:rPr>
              <a:t>/rapt-verify       ← 既有：重跑驗證（只讀、出報告）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8A94A6"/>
                </a:solidFill>
                <a:latin typeface="Consolas"/>
                <a:ea typeface="Microsoft JhengHei"/>
              </a:rPr>
              <a:t>   ┌────┴─────┐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8A94A6"/>
                </a:solidFill>
                <a:latin typeface="Consolas"/>
                <a:ea typeface="Microsoft JhengHei"/>
              </a:rPr>
              <a:t>   ▼          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lang="zh-TW">
                <a:solidFill>
                  <a:srgbClr val="F0C277"/>
                </a:solidFill>
                <a:latin typeface="Consolas"/>
                <a:ea typeface="Microsoft JhengHei"/>
              </a:rPr>
              <a:t>/rapt-reconcile   /rapt-clarify   ← 機械性自動修 / 語意性退給人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RAPTor｜rapt-human-sync 設計導覽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使用情境：三個時間點，兩條 git 命令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使用情境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4728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3447288" cy="566928"/>
          </a:xfrm>
          <a:prstGeom prst="roundRect">
            <a:avLst>
              <a:gd name="adj" fmla="val 7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①  Phase 結束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2926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skill 收手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session.md 已記錄收手點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81328"/>
            <a:ext cx="344728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0832" y="1481328"/>
            <a:ext cx="3447288" cy="566928"/>
          </a:xfrm>
          <a:prstGeom prst="roundRect">
            <a:avLst>
              <a:gd name="adj" fmla="val 7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②  人工修改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212848"/>
            <a:ext cx="2926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用 VSCode 手改 SSoT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例：Order 加 totalWeight、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shippingMethod 兩個欄位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481328"/>
            <a:ext cx="3447288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01583" y="1481328"/>
            <a:ext cx="3447288" cy="566928"/>
          </a:xfrm>
          <a:prstGeom prst="roundRect">
            <a:avLst>
              <a:gd name="adj" fmla="val 7000"/>
            </a:avLst>
          </a:prstGeom>
          <a:solidFill>
            <a:srgbClr val="0F7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lang="zh-TW">
                <a:solidFill>
                  <a:srgbClr val="FFFFFF"/>
                </a:solidFill>
                <a:latin typeface="Microsoft JhengHei"/>
                <a:ea typeface="Microsoft JhengHei"/>
              </a:rPr>
              <a:t>③  接回 RAPTor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212848"/>
            <a:ext cx="2926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/rapt-human-sync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→ 偵測 diff → 問原因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→ 寫登錄紀錄 + impact-matrix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→ /rapt-verify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23944" y="2395728"/>
            <a:ext cx="246888" cy="274320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854696" y="2395728"/>
            <a:ext cx="246888" cy="274320"/>
          </a:xfrm>
          <a:prstGeom prst="rightArrow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1363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最精簡：只要記兩條 git 命令</a:t>
            </a:r>
            <a:r>
              <a:rPr sz="14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（進階者用；新手可全部略過，直接跑 skill）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4315968"/>
          <a:ext cx="1092708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846320"/>
                <a:gridCol w="4709160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時機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命令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為什麼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改之前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git commit -m "raptor: Phase N done"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畫一條 baseline 線，讓 diff 知道從哪裡算起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改之後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git commit -m "human: 加入物流欄位"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記下 who / when；</a:t>
                      </a:r>
                      <a:r>
                        <a:rPr sz="12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human:</a:t>
                      </a: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前綴方便區分人工 vs skill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40080" y="5650992"/>
            <a:ext cx="10927080" cy="603504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650992"/>
            <a:ext cx="82296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50992"/>
            <a:ext cx="10469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也可以</a:t>
            </a:r>
            <a:r>
              <a:rPr sz="125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什麼都不記</a:t>
            </a: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：直接改、直接 </a:t>
            </a:r>
            <a:r>
              <a:rPr sz="1250" b="0" i="0" lang="zh-TW">
                <a:solidFill>
                  <a:srgbClr val="0F776C"/>
                </a:solidFill>
                <a:latin typeface="Consolas"/>
                <a:ea typeface="Microsoft JhengHei"/>
              </a:rPr>
              <a:t>/rapt-human-sync</a:t>
            </a: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——它會偵測未 commit 的變更，提醒 who/when 只能記成「操作者 + 掃描時間」，仍照常登錄。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RAPTor｜rapt-human-sync 設計導覽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操作步驟：跑 /rapt-human-sync 發生了什麼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操作步驟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27080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5486400"/>
                <a:gridCol w="3337560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步驟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產出 / 行為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0</a:t>
                      </a:r>
                      <a:r>
                        <a:rPr sz="11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 解析 baseline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自動從 git 推導上次 skill 收手點（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--baseline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可手動指定）；找不到就</a:t>
                      </a: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停下來問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，絕不亂猜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確定「從哪裡開始算人工改動」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  <a:r>
                        <a:rPr sz="11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 掃描變更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git diff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找出 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docs/ssot/**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改了哪些檔（排除 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.raptor/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generate/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）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結構化變更清單（檔案、hunk、entity）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  <a:r>
                        <a:rPr sz="11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 問原因 ASK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先問這批改動</a:t>
                      </a: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共同原因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，再只針對高風險變更追問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填入 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human_note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decision_ref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  <a:r>
                        <a:rPr sz="11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 評估影響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依 DSL 推下游：改 DBML → 需驗 haAPI / haPDL / haARM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標記 affected_dsls、風險（刪除/改名→高）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  <a:r>
                        <a:rPr sz="11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 寫登錄紀錄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產 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HSYNC-*.yml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；用既有工具寫 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impact-matrix.yml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（status: open）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人工改動正式進入追蹤檔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  <a:r>
                        <a:rPr sz="11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 接回流程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在 traceability 加一筆；EMIT 建議下一步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「建議執行 </a:t>
                      </a:r>
                      <a:r>
                        <a:rPr sz="11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/rapt-verify</a:t>
                      </a:r>
                      <a:r>
                        <a:rPr sz="11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」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927080" cy="603504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669280"/>
            <a:ext cx="82296" cy="60350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469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只動追蹤檔，不碰你的 SSoT</a:t>
            </a: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：產出全在 </a:t>
            </a:r>
            <a:r>
              <a:rPr sz="1250" b="0" i="0" lang="zh-TW">
                <a:solidFill>
                  <a:srgbClr val="0F776C"/>
                </a:solidFill>
                <a:latin typeface="Consolas"/>
                <a:ea typeface="Microsoft JhengHei"/>
              </a:rPr>
              <a:t>.raptor/</a:t>
            </a: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（human-sync/、impact-matrix.yml、traceability.md、session.md）；重跑不產生重複紀錄。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RAPTor｜rapt-human-sync 設計導覽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91440" cy="47548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420624"/>
            <a:ext cx="8869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邊界與常見疑問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74320"/>
            <a:ext cx="1536192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邊界 / FAQ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27080" cy="950976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2700">
            <a:solidFill>
              <a:srgbClr val="C05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91440" cy="950976"/>
          </a:xfrm>
          <a:prstGeom prst="rect">
            <a:avLst/>
          </a:prstGeom>
          <a:solidFill>
            <a:srgbClr val="C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17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zh-TW">
                <a:solidFill>
                  <a:srgbClr val="C05A4E"/>
                </a:solidFill>
                <a:latin typeface="Microsoft JhengHei"/>
                <a:ea typeface="Microsoft JhengHei"/>
              </a:rPr>
              <a:t>human-sync 不做的事（白紙黑字的不變式）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104241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❌ 不改任何 SSoT　❌ 不重產下游　❌ 不自動 reconcile　❌ 不替你做語意決策　❌ baseline 不明就停下來問、不亂猜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542032"/>
          <a:ext cx="109270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635240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疑問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回答</a:t>
                      </a:r>
                    </a:p>
                  </a:txBody>
                  <a:tcPr marL="91440" marR="91440" marT="41148" marB="41148" anchor="ctr"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一定要先 commit 才能用嗎？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不用。working-tree 模式可掃未 commit 的改動，who/when 標成「操作者 + 掃描時間」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它會把我的規格改壞嗎？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不會。只寫 </a:t>
                      </a:r>
                      <a:r>
                        <a:rPr sz="12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.raptor/</a:t>
                      </a: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下的追蹤檔，對 SSoT 唯讀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「為什麼改」一定要填嗎？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建議填（進 traceability）；可 skip，但該筆可追溯性會降低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多人改怎麼辦？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git author 記真實改動者，operator 記執行登錄的人，兩者分開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1" i="0" lang="zh-TW">
                          <a:solidFill>
                            <a:srgbClr val="1B2A41"/>
                          </a:solidFill>
                          <a:latin typeface="Microsoft JhengHei"/>
                          <a:ea typeface="Microsoft JhengHei"/>
                        </a:rPr>
                        <a:t>下游文件過期了？</a:t>
                      </a:r>
                    </a:p>
                  </a:txBody>
                  <a:tcPr marL="91440" marR="91440" marT="41148" marB="41148" anchor="ctr">
                    <a:solidFill>
                      <a:srgbClr val="E9EF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只</a:t>
                      </a:r>
                      <a:r>
                        <a:rPr sz="1250" b="1" i="0" lang="zh-TW">
                          <a:solidFill>
                            <a:srgbClr val="0F776C"/>
                          </a:solidFill>
                          <a:latin typeface="Microsoft JhengHei"/>
                          <a:ea typeface="Microsoft JhengHei"/>
                        </a:rPr>
                        <a:t>提示</a:t>
                      </a: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哪些下游 stale，重產仍由 </a:t>
                      </a:r>
                      <a:r>
                        <a:rPr sz="12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/rapt-openapi</a:t>
                      </a: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、</a:t>
                      </a:r>
                      <a:r>
                        <a:rPr sz="1250" b="0" i="0" lang="zh-TW">
                          <a:solidFill>
                            <a:srgbClr val="0F776C"/>
                          </a:solidFill>
                          <a:latin typeface="Consolas"/>
                          <a:ea typeface="Microsoft JhengHei"/>
                        </a:rPr>
                        <a:t>/rapt-lofi</a:t>
                      </a:r>
                      <a:r>
                        <a:rPr sz="1250" b="0" i="0" lang="zh-TW">
                          <a:solidFill>
                            <a:srgbClr val="262E3A"/>
                          </a:solidFill>
                          <a:latin typeface="Microsoft JhengHei"/>
                          <a:ea typeface="Microsoft JhengHei"/>
                        </a:rPr>
                        <a:t> 負責</a:t>
                      </a:r>
                    </a:p>
                  </a:txBody>
                  <a:tcPr marL="91440" marR="91440" marT="41148" marB="4114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742432"/>
            <a:ext cx="10927080" cy="548640"/>
          </a:xfrm>
          <a:prstGeom prst="roundRect">
            <a:avLst>
              <a:gd name="adj" fmla="val 12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742432"/>
            <a:ext cx="82296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42432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一句話定錨：human-sync 做得少，但每筆紀錄都</a:t>
            </a:r>
            <a:r>
              <a:rPr sz="1300" b="1" i="0" lang="zh-TW">
                <a:solidFill>
                  <a:srgbClr val="1B2A41"/>
                </a:solidFill>
                <a:latin typeface="Microsoft JhengHei"/>
                <a:ea typeface="Microsoft JhengHei"/>
              </a:rPr>
              <a:t>可重跑、可追溯、可被 verify/reconcile 穩定消費</a:t>
            </a:r>
            <a:r>
              <a:rPr sz="1300" b="0" i="0" lang="zh-TW">
                <a:solidFill>
                  <a:srgbClr val="262E3A"/>
                </a:solidFill>
                <a:latin typeface="Microsoft JhengHei"/>
                <a:ea typeface="Microsoft JhengHei"/>
              </a:rPr>
              <a:t>——它是海關，不是修復器。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64808"/>
            <a:ext cx="11091672" cy="10972"/>
          </a:xfrm>
          <a:prstGeom prst="rect">
            <a:avLst/>
          </a:prstGeom>
          <a:solidFill>
            <a:srgbClr val="DC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RAPTor｜rapt-human-sync 設計導覽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zh-TW">
                <a:solidFill>
                  <a:srgbClr val="6B7480"/>
                </a:solidFill>
                <a:latin typeface="Microsoft JhengHei"/>
                <a:ea typeface="Microsoft JhengHe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