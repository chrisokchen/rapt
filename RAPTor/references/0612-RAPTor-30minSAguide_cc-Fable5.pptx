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6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371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開場一句話定調——RAPTor 不是「AI 幫你寫文件」，而是「一條有品質閘門的需求生產線，人負責決策、AI 負責生產與驗證」。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用提問互動：「在座誰的專案規格只有一份 Word？改版時誰負責同步？」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這三點就是全場主軸，後面每一頁都在展開這三件事。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先給終點再講路徑。強調兩層：ssot/ 是人簽核的資產，generate/ 是隨時可丟掉重生的投影。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這頁是術語防火牆。之後出現 habdd/haARM 等縮寫，聽眾已有掛勾。不要在這頁展開語法。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強調每個 phase 有「品質閘門」，沒過就不建議往下走；session.md 隨時記錄你走到哪。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這頁回應 PM 最大的疑慮——導入後專家負擔是降低不是增加。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 RAPTor 與「直接叫 ChatGPT 寫規格」最大的差異——模糊處不會被一個看似合理的幻覺蓋掉。決策有 decision log，半年後還查得到「為什麼當初選 A」。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回答「AI 會不會亂改我的文件」。每張階段卡的產出物範圍都是白紙黑字的合約，超出範圍直接 DENY。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快速帶過，重點只有一個：跑一次，之後不用管。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強調「材料給越齊，後面的澄清問題越少」。閘門沒過不會硬往下走。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兩個重點：(1) 客戶看得懂、可以直接拿去簽核；(2)「Then 不准有替代策略」就是強迫在規格期把決策做掉，而不是留給工程師猜。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這是便條產量最大的階段，剛好示範「AI 起草 + 人定奪」的節奏。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三個賣點講滿：(1) 問題已排好優先級，專家一場 session 集中解決；(2) 每個答案直接改寫規格，不會開完會沒下文；(3) decision log 讓「當初為什麼這樣決定」永遠可查。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點出前期投資在這裡回收：上游夠乾淨，這一步幾乎全自動。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類比 CI/CD 給 PM 聽：規格也有自動化測試，改完重跑、綠了才出貨。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強調分流邏輯就是第 9 頁合約的落實——AI 永遠不替你做語意決策。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這是對 PO 最有感的一頁：規格期就有可以拿給客戶確認的東西，而且回饋有明確的回流路徑（下一頁）。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PM 視角——這是可以放進管理報告的數字。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收束第 3 頁的三個承諾，首尾呼應。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九個步驟其實只有三個需要人花時間。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保留給 Q&amp;A，照表回答即可。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 CTA：邀請聽眾拿真實 RFP 試跑。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risokchen/ra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72784"/>
            <a:ext cx="12192609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128016" cy="14813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700784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>
                <a:solidFill>
                  <a:srgbClr val="FFFFFF"/>
                </a:solidFill>
                <a:latin typeface="Microsoft JhengHei"/>
                <a:ea typeface="Microsoft JhengHei"/>
              </a:rPr>
              <a:t>從一份 RFP，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>
                <a:solidFill>
                  <a:srgbClr val="FFFFFF"/>
                </a:solidFill>
                <a:latin typeface="Microsoft JhengHei"/>
                <a:ea typeface="Microsoft JhengHei"/>
              </a:rPr>
              <a:t>到一整套可驗證的規格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033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 i="0">
                <a:solidFill>
                  <a:srgbClr val="E8A33D"/>
                </a:solidFill>
                <a:latin typeface="Microsoft JhengHei"/>
                <a:ea typeface="Microsoft JhengHei"/>
              </a:rPr>
              <a:t>RAPTor — AI 協作的需求分析流程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7083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0" i="0">
                <a:solidFill>
                  <a:srgbClr val="C9D3E0"/>
                </a:solidFill>
                <a:latin typeface="Microsoft JhengHei"/>
                <a:ea typeface="Microsoft JhengHei"/>
              </a:rPr>
              <a:t>你提供領域知識，AI 負責結構化、一致性與苦工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39165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>
                <a:solidFill>
                  <a:srgbClr val="9AA7B8"/>
                </a:solidFill>
                <a:latin typeface="Microsoft JhengHei"/>
                <a:ea typeface="Microsoft JhengHei"/>
              </a:rPr>
              <a:t>受眾：BA / PO / PM　・　30 分鐘導覽　・　貫穿案例：電商平台 RFP</a:t>
            </a:r>
          </a:p>
        </p:txBody>
      </p:sp>
      <p:sp>
        <p:nvSpPr>
          <p:cNvPr id="10" name="GitHubLink">
            <a:extLst>
              <a:ext uri="{FF2B5EF4-FFF2-40B4-BE49-F238E27FC236}">
                <a16:creationId xmlns:a16="http://schemas.microsoft.com/office/drawing/2014/main" id="{E526DA89-99A2-4CF2-A8F5-96BC385B0155}"/>
              </a:ext>
            </a:extLst>
          </p:cNvPr>
          <p:cNvSpPr txBox="1"/>
          <p:nvPr/>
        </p:nvSpPr>
        <p:spPr>
          <a:xfrm>
            <a:off x="1143000" y="5257800"/>
            <a:ext cx="7620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>
              <a:buNone/>
            </a:pPr>
            <a:r>
              <a:rPr lang="en-US" sz="1500" b="1" i="0" dirty="0">
                <a:solidFill>
                  <a:srgbClr val="E8A33D"/>
                </a:solidFill>
                <a:latin typeface="Microsoft JhengHei"/>
                <a:ea typeface="Microsoft JhengHei"/>
              </a:rPr>
              <a:t>Open Source　・　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US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chrisokchen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/rapt</a:t>
            </a:r>
            <a:endParaRPr lang="en-US" sz="1500" b="0" i="0" u="sng" dirty="0">
              <a:solidFill>
                <a:schemeClr val="bg1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4234986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我們都遇過的需求災難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開場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035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91440" cy="17830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19" y="181965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>
                <a:solidFill>
                  <a:srgbClr val="1B2A41"/>
                </a:solidFill>
                <a:latin typeface="Microsoft JhengHei"/>
                <a:ea typeface="Microsoft JhengHei"/>
              </a:rPr>
              <a:t>散落的需求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313432"/>
            <a:ext cx="4754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RFP 一百頁，真正的需求散落在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第 37 頁的一句話裡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035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91440" cy="17830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79" y="181965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>
                <a:solidFill>
                  <a:srgbClr val="1B2A41"/>
                </a:solidFill>
                <a:latin typeface="Microsoft JhengHei"/>
                <a:ea typeface="Microsoft JhengHei"/>
              </a:rPr>
              <a:t>打架的定義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313432"/>
            <a:ext cx="4754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規格寫完三個月後，沒人知道「會員等級」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在三份文件裡的定義是否一致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3035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91440" cy="17830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19" y="392277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>
                <a:solidFill>
                  <a:srgbClr val="1B2A41"/>
                </a:solidFill>
                <a:latin typeface="Microsoft JhengHei"/>
                <a:ea typeface="Microsoft JhengHei"/>
              </a:rPr>
              <a:t>沒問的問題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4416552"/>
            <a:ext cx="4754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開發問「庫存不足時訂單怎麼辦？」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——當初沒人問過客戶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03320"/>
            <a:ext cx="530352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91440" cy="17830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79" y="392277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>
                <a:solidFill>
                  <a:srgbClr val="1B2A41"/>
                </a:solidFill>
                <a:latin typeface="Microsoft JhengHei"/>
                <a:ea typeface="Microsoft JhengHei"/>
              </a:rPr>
              <a:t>失控的變更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16552"/>
            <a:ext cx="4754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需求改了一條，沒人說得出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影響哪些 API、哪些頁面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RAPTor 的三個回答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開場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27079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災難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RAPTor 的回答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5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定義不一致、文件互相打架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5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SSoT</a:t>
                      </a:r>
                      <a:r>
                        <a:rPr lang="zh-TW" sz="15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：五份規格是唯一事實來源，下游全部自動生成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5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該問的沒問、AI 又自作主張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5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CiC 便條 + Clarify</a:t>
                      </a:r>
                      <a:r>
                        <a:rPr lang="zh-TW" sz="15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：AI 遇到模糊處不擅自決定，留便條請人定奪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5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改一條不知道影響什麼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5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可追溯矩陣 + 影響矩陣</a:t>
                      </a:r>
                      <a:r>
                        <a:rPr lang="zh-TW" sz="15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：從 RFP 到 API / 頁面的雙向追溯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532120"/>
            <a:ext cx="8229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469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這三件事就是全場主軸——接下來每一頁都在展開它們。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先看成品：跑完一輪你會得到什麼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全貌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27080" cy="4892040"/>
          </a:xfrm>
          <a:prstGeom prst="roundRect">
            <a:avLst>
              <a:gd name="adj" fmla="val 4500"/>
            </a:avLst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0415015" cy="4562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DDE4EE"/>
                </a:solidFill>
                <a:latin typeface="Consolas"/>
                <a:ea typeface="Microsoft JhengHei"/>
              </a:rPr>
              <a:t>docs/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DDE4EE"/>
                </a:solidFill>
                <a:latin typeface="Consolas"/>
                <a:ea typeface="Microsoft JhengHei"/>
              </a:rPr>
              <a:t>├─ discovery/              Phase 1 業務探索摘要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00-source-inventory.md     RFP / 會議記錄盤點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01-stakeholders.md         利害關係人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02-user-journeys.md        使用者旅程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├─ 03-event-timeline.md       業務事件時間線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│   └─ 04-vision-kpi-scope.md     願景 / KPI / 範圍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5FD3C4"/>
                </a:solidFill>
                <a:latin typeface="Consolas"/>
                <a:ea typeface="Microsoft JhengHei"/>
              </a:rPr>
              <a:t>├─ ssot/                   ★ 五份規格 SSoT（唯一事實來源，人簽核的資產）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habdd/   *.feature           高階 Gherkin：行為規則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dbml/    schema + glossary/seeds/constraints   資料模型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haarm/   *.haarm.yaml        角色與權限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├─ haapi/   *.haapi.yaml        API 意圖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5FD3C4"/>
                </a:solidFill>
                <a:latin typeface="Consolas"/>
                <a:ea typeface="Microsoft JhengHei"/>
              </a:rPr>
              <a:t>│   └─ hapdl/   *.hapdl.yaml        頁面意圖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F0C277"/>
                </a:solidFill>
                <a:latin typeface="Consolas"/>
                <a:ea typeface="Microsoft JhengHei"/>
              </a:rPr>
              <a:t>├─ generate/               下游生成物（隨時可刪掉重生）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F0C277"/>
                </a:solidFill>
                <a:latin typeface="Consolas"/>
                <a:ea typeface="Microsoft JhengHei"/>
              </a:rPr>
              <a:t>│   ├─ openapi/   Swagger 可瀏覽的 API 文件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F0C277"/>
                </a:solidFill>
                <a:latin typeface="Consolas"/>
                <a:ea typeface="Microsoft JhengHei"/>
              </a:rPr>
              <a:t>│   ├─ lofi/      可開啟的 Lo-Fi wireframe HTML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F0C277"/>
                </a:solidFill>
                <a:latin typeface="Consolas"/>
                <a:ea typeface="Microsoft JhengHei"/>
              </a:rPr>
              <a:t>│   └─ designbrief/   餵給 AI 設計工具的 Design Brief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DDE4EE"/>
                </a:solidFill>
                <a:latin typeface="Consolas"/>
                <a:ea typeface="Microsoft JhengHei"/>
              </a:rPr>
              <a:t>└─ reports/                驗證報告 + RAscore 品質計分卡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.clarify/                  澄清問題 backlog 與決策記錄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8A94A6"/>
                </a:solidFill>
                <a:latin typeface="Consolas"/>
                <a:ea typeface="Microsoft JhengHei"/>
              </a:rPr>
              <a:t>.raptor/                   session 狀態、可追溯矩陣、影響矩陣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五份規格，各回答一個問題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全貌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10927080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規格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回答的問題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給誰看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高階 Gherkin（habdd）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系統在什麼規則下</a:t>
                      </a:r>
                      <a:r>
                        <a:rPr lang="zh-TW" sz="13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做什麼</a:t>
                      </a: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？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客戶與領域專家都讀得懂
（純業務語言，禁出現按鈕 / URL）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DBML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資料</a:t>
                      </a:r>
                      <a:r>
                        <a:rPr lang="zh-TW" sz="13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長什麼樣</a:t>
                      </a: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？值域、狀態、約束是什麼？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BA + 開發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haARM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誰</a:t>
                      </a: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可以做什麼？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BA + 資安 + 開發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haAPI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後端要</a:t>
                      </a:r>
                      <a:r>
                        <a:rPr lang="zh-TW" sz="13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提供什麼能力</a:t>
                      </a: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？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開發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haPDL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畫面要</a:t>
                      </a:r>
                      <a:r>
                        <a:rPr lang="zh-TW" sz="13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呈現什麼、怎麼互動</a:t>
                      </a: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？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UX + 開發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669280"/>
            <a:ext cx="82296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469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五份互相引用、互相檢查——這就是後面「驗證」階段在驗的東西。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整條生產線：九個指令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全貌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FFFFFF"/>
                </a:solidFill>
                <a:latin typeface="Consolas"/>
                <a:ea typeface="Microsoft JhengHei"/>
              </a:rPr>
              <a:t>/rapt-kickoff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FFFFFF"/>
                </a:solidFill>
                <a:latin typeface="Microsoft JhengHei"/>
                <a:ea typeface="Microsoft JhengHei"/>
              </a:rPr>
              <a:t>初始化（一次性）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4448" y="1481328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FFFFFF"/>
                </a:solidFill>
                <a:latin typeface="Consolas"/>
                <a:ea typeface="Microsoft JhengHei"/>
              </a:rPr>
              <a:t>/rapt-discovery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FFFFFF"/>
                </a:solidFill>
                <a:latin typeface="Microsoft JhengHei"/>
                <a:ea typeface="Microsoft JhengHei"/>
              </a:rPr>
              <a:t>P1 業務探索：消化 RFP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0528" y="1481328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FFFFFF"/>
                </a:solidFill>
                <a:latin typeface="Consolas"/>
                <a:ea typeface="Microsoft JhengHei"/>
              </a:rPr>
              <a:t>/rapt-behavior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FFFFFF"/>
                </a:solidFill>
                <a:latin typeface="Microsoft JhengHei"/>
                <a:ea typeface="Microsoft JhengHei"/>
              </a:rPr>
              <a:t>P1.5 高階 Gherkin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481328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FFFFFF"/>
                </a:solidFill>
                <a:latin typeface="Consolas"/>
                <a:ea typeface="Microsoft JhengHei"/>
              </a:rPr>
              <a:t>/rapt-modeling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FFFFFF"/>
                </a:solidFill>
                <a:latin typeface="Microsoft JhengHei"/>
                <a:ea typeface="Microsoft JhengHei"/>
              </a:rPr>
              <a:t>P2 領域建模 DBML+haARM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1801368"/>
            <a:ext cx="420624" cy="201168"/>
          </a:xfrm>
          <a:prstGeom prst="right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6035040" y="1801368"/>
            <a:ext cx="420624" cy="201168"/>
          </a:xfrm>
          <a:prstGeom prst="right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8961120" y="1801368"/>
            <a:ext cx="420624" cy="201168"/>
          </a:xfrm>
          <a:prstGeom prst="right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10533888" y="2377440"/>
            <a:ext cx="201168" cy="621791"/>
          </a:xfrm>
          <a:prstGeom prst="down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2487168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 b="0" i="0">
                <a:solidFill>
                  <a:srgbClr val="6B7480"/>
                </a:solidFill>
                <a:latin typeface="Microsoft JhengHei"/>
                <a:ea typeface="Microsoft JhengHei"/>
              </a:rPr>
              <a:t>模糊處留 </a:t>
            </a:r>
            <a:r>
              <a:rPr lang="zh-TW" sz="1050" b="1" i="0">
                <a:solidFill>
                  <a:srgbClr val="E8A33D"/>
                </a:solidFill>
                <a:latin typeface="Microsoft JhengHei"/>
                <a:ea typeface="Microsoft JhengHei"/>
              </a:rPr>
              <a:t>CiC 便條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054096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FFFFFF"/>
                </a:solidFill>
                <a:latin typeface="Consolas"/>
                <a:ea typeface="Microsoft JhengHei"/>
              </a:rPr>
              <a:t>/rapt-reconcile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FFFFFF"/>
                </a:solidFill>
                <a:latin typeface="Microsoft JhengHei"/>
                <a:ea typeface="Microsoft JhengHei"/>
              </a:rPr>
              <a:t>P6 調和修復：分流問題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84448" y="3054096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0F7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FFFFFF"/>
                </a:solidFill>
                <a:latin typeface="Consolas"/>
                <a:ea typeface="Microsoft JhengHei"/>
              </a:rPr>
              <a:t>/rapt-verify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FFFFFF"/>
                </a:solidFill>
                <a:latin typeface="Microsoft JhengHei"/>
                <a:ea typeface="Microsoft JhengHei"/>
              </a:rPr>
              <a:t>P5 驗證（只讀、出報告）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3054096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FFFFFF"/>
                </a:solidFill>
                <a:latin typeface="Consolas"/>
                <a:ea typeface="Microsoft JhengHei"/>
              </a:rPr>
              <a:t>/rapt-intent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FFFFFF"/>
                </a:solidFill>
                <a:latin typeface="Microsoft JhengHei"/>
                <a:ea typeface="Microsoft JhengHei"/>
              </a:rPr>
              <a:t>P4 意圖規格 haAPI+haPDL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3054096"/>
            <a:ext cx="2395728" cy="841248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1B2A41"/>
                </a:solidFill>
                <a:latin typeface="Consolas"/>
                <a:ea typeface="Microsoft JhengHei"/>
              </a:rPr>
              <a:t>/rapt-clarify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0" i="0">
                <a:solidFill>
                  <a:srgbClr val="1B2A41"/>
                </a:solidFill>
                <a:latin typeface="Microsoft JhengHei"/>
                <a:ea typeface="Microsoft JhengHei"/>
              </a:rPr>
              <a:t>P3 澄清：人來定奪 ★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3108960" y="3374136"/>
            <a:ext cx="420624" cy="201168"/>
          </a:xfrm>
          <a:prstGeom prst="left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Left Arrow 19"/>
          <p:cNvSpPr/>
          <p:nvPr/>
        </p:nvSpPr>
        <p:spPr>
          <a:xfrm>
            <a:off x="6035040" y="3374136"/>
            <a:ext cx="420624" cy="201168"/>
          </a:xfrm>
          <a:prstGeom prst="left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eft Arrow 20"/>
          <p:cNvSpPr/>
          <p:nvPr/>
        </p:nvSpPr>
        <p:spPr>
          <a:xfrm>
            <a:off x="8961120" y="3374136"/>
            <a:ext cx="420624" cy="201168"/>
          </a:xfrm>
          <a:prstGeom prst="left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1856232" y="4169663"/>
            <a:ext cx="8778240" cy="0"/>
          </a:xfrm>
          <a:prstGeom prst="line">
            <a:avLst/>
          </a:prstGeom>
          <a:ln w="19050">
            <a:solidFill>
              <a:srgbClr val="C05A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84448" y="4215383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 b="0" i="0">
                <a:solidFill>
                  <a:srgbClr val="C05A4E"/>
                </a:solidFill>
                <a:latin typeface="Microsoft JhengHei"/>
                <a:ea typeface="Microsoft JhengHei"/>
              </a:rPr>
              <a:t>語意性問題退回澄清（verify ⇄ reconcile ⇄ clarify 迴圈）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26864"/>
            <a:ext cx="11173968" cy="713232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驗證全綠後 → </a:t>
            </a:r>
            <a:r>
              <a:rPr lang="zh-TW" sz="1250" b="0" i="0">
                <a:solidFill>
                  <a:srgbClr val="0F776C"/>
                </a:solidFill>
                <a:latin typeface="Consolas"/>
                <a:ea typeface="Microsoft JhengHei"/>
              </a:rPr>
              <a:t>/rapt-openapi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　</a:t>
            </a:r>
            <a:r>
              <a:rPr lang="zh-TW" sz="1250" b="0" i="0">
                <a:solidFill>
                  <a:srgbClr val="0F776C"/>
                </a:solidFill>
                <a:latin typeface="Consolas"/>
                <a:ea typeface="Microsoft JhengHei"/>
              </a:rPr>
              <a:t>/rapt-lofi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　</a:t>
            </a:r>
            <a:r>
              <a:rPr lang="zh-TW" sz="1250" b="0" i="0">
                <a:solidFill>
                  <a:srgbClr val="0F776C"/>
                </a:solidFill>
                <a:latin typeface="Consolas"/>
                <a:ea typeface="Microsoft JhengHei"/>
              </a:rPr>
              <a:t>/rapt-design-brief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（預覽生成）　｜　隨時可跑 </a:t>
            </a:r>
            <a:r>
              <a:rPr lang="zh-TW" sz="1250" b="0" i="0">
                <a:solidFill>
                  <a:srgbClr val="0F776C"/>
                </a:solidFill>
                <a:latin typeface="Consolas"/>
                <a:ea typeface="Microsoft JhengHei"/>
              </a:rPr>
              <a:t>/rapt-RAscore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 品質計分卡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477255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不是瀑布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：每個 phase 有品質閘門，沒過就不往下走；</a:t>
            </a:r>
            <a:r>
              <a:rPr lang="zh-TW" sz="1300" b="0" i="0">
                <a:solidFill>
                  <a:srgbClr val="0F776C"/>
                </a:solidFill>
                <a:latin typeface="Consolas"/>
                <a:ea typeface="Microsoft JhengHei"/>
              </a:rPr>
              <a:t>session.md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 隨時記錄你走到哪。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人機分工：誰做什麼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全貌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2708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endParaRPr/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AI（RAPTor skills）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BA / PO / PM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領域專家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探索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讀完所有材料、結構化摘要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備齊 RFP / 會議記錄、補商業脈絡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驗證角色與旅程沒漏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規格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起草 Gherkin / DBML / 權限模型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審 Feature 是否對應目標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驗證規則、值域、狀態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澄清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掃出模糊點、打包成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選擇題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主持 session、記錄取捨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回答問題（主場）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跨文件一致性、覆蓋率、自動修復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評估 WARN 是否接受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預覽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生成 Swagger / wireframe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拿去和客戶確認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看 wireframe 挑錯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596128"/>
            <a:ext cx="10927080" cy="621792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596128"/>
            <a:ext cx="82296" cy="6217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469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1B2A41"/>
                </a:solidFill>
                <a:latin typeface="Microsoft JhengHei"/>
                <a:ea typeface="Microsoft JhengHei"/>
              </a:rPr>
              <a:t>專家的時間花在刀口上</a:t>
            </a: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：不寫文件，只回答排好優先級的選擇題、驗證關鍵產出。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安全機制 1：AI 不確定時，留便條而不是猜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安全機制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CiC 便條</a:t>
            </a: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（Clarification-in-Context）四種型態：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FFFFFF"/>
                </a:solidFill>
                <a:latin typeface="Consolas"/>
                <a:ea typeface="Microsoft JhengHei"/>
              </a:rPr>
              <a:t>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837943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1B2A41"/>
                </a:solidFill>
                <a:latin typeface="Microsoft JhengHei"/>
                <a:ea typeface="Microsoft JhengHei"/>
              </a:rPr>
              <a:t>缺口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：RFP 沒講（「退貨期限是幾天？」）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15768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FFFFFF"/>
                </a:solidFill>
                <a:latin typeface="Consolas"/>
                <a:ea typeface="Microsoft JhengHei"/>
              </a:rPr>
              <a:t>ASM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679191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1B2A41"/>
                </a:solidFill>
                <a:latin typeface="Microsoft JhengHei"/>
                <a:ea typeface="Microsoft JhengHei"/>
              </a:rPr>
              <a:t>假設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：AI 暫時假設，待確認（「假設一個客戶一台購物車」）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57015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0F7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FFFFFF"/>
                </a:solidFill>
                <a:latin typeface="Consolas"/>
                <a:ea typeface="Microsoft JhengHei"/>
              </a:rPr>
              <a:t>BDY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520439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1B2A41"/>
                </a:solidFill>
                <a:latin typeface="Microsoft JhengHei"/>
                <a:ea typeface="Microsoft JhengHei"/>
              </a:rPr>
              <a:t>邊界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：邊界條件未定（「金額剛好為 0 算不算有效訂單？」）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98264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FFFFFF"/>
                </a:solidFill>
                <a:latin typeface="Consolas"/>
                <a:ea typeface="Microsoft JhengHei"/>
              </a:rPr>
              <a:t>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361688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>
                <a:solidFill>
                  <a:srgbClr val="1B2A41"/>
                </a:solidFill>
                <a:latin typeface="Microsoft JhengHei"/>
                <a:ea typeface="Microsoft JhengHei"/>
              </a:rPr>
              <a:t>衝突</a:t>
            </a: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：兩份來源矛盾（「RFP 說 7 天、會議記錄說 14 天」）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便條直接嵌在規格旁邊，</a:t>
            </a:r>
            <a:r>
              <a:rPr lang="zh-TW" sz="1300" b="0" i="0">
                <a:solidFill>
                  <a:srgbClr val="0F776C"/>
                </a:solidFill>
                <a:latin typeface="Consolas"/>
                <a:ea typeface="Microsoft JhengHei"/>
              </a:rPr>
              <a:t>/rapt-clarify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 統一收割成問題集。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371600"/>
            <a:ext cx="52120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371600"/>
            <a:ext cx="5212080" cy="5120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453896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FFFFFF"/>
                </a:solidFill>
                <a:latin typeface="Microsoft JhengHei"/>
                <a:ea typeface="Microsoft JhengHei"/>
              </a:rPr>
              <a:t>澄清問題卡（真實格式）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61320" y="146304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10312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Q：商品庫存不足時，建立訂單應如何處理？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90779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i="0">
                <a:solidFill>
                  <a:srgbClr val="1B2A41"/>
                </a:solidFill>
                <a:latin typeface="Microsoft JhengHei"/>
                <a:ea typeface="Microsoft JhengHei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92150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完全拒絕，顯示錯誤訊息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3832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i="0">
                <a:solidFill>
                  <a:srgbClr val="1B2A41"/>
                </a:solidFill>
                <a:latin typeface="Microsoft JhengHei"/>
                <a:ea typeface="Microsoft JhengHei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39699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允許建立，標記「待補貨」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8587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i="0">
                <a:solidFill>
                  <a:srgbClr val="1B2A41"/>
                </a:solidFill>
                <a:latin typeface="Microsoft JhengHei"/>
                <a:ea typeface="Microsoft JhengHei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72484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部分成立：庫存夠的先成立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3342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i="0">
                <a:solidFill>
                  <a:srgbClr val="1B2A41"/>
                </a:solidFill>
                <a:latin typeface="Microsoft JhengHei"/>
                <a:ea typeface="Microsoft JhengHei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34797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262E3A"/>
                </a:solidFill>
                <a:latin typeface="Microsoft JhengHei"/>
                <a:ea typeface="Microsoft JhengHei"/>
              </a:rPr>
              <a:t>允許超賣，後續通知延遲出貨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4937760"/>
            <a:ext cx="4663440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5047488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6B7480"/>
                </a:solidFill>
                <a:latin typeface="Microsoft JhengHei"/>
                <a:ea typeface="Microsoft JhengHei"/>
              </a:rPr>
              <a:t>影響範圍</a:t>
            </a:r>
            <a:r>
              <a:rPr lang="zh-TW" sz="1150" b="0" i="0">
                <a:solidFill>
                  <a:srgbClr val="6B7480"/>
                </a:solidFill>
                <a:latin typeface="Microsoft JhengHei"/>
                <a:ea typeface="Microsoft JhengHei"/>
              </a:rPr>
              <a:t>：建立訂單 Feature、庫存檢查、訂單狀態定義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安全機制 2：每個 skill 只能寫自己的地盤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Artifact Output Contract（deny-by-default）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安全機制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91440" cy="914400"/>
          </a:xfrm>
          <a:prstGeom prst="rect">
            <a:avLst/>
          </a:prstGeom>
          <a:solidFill>
            <a:srgbClr val="17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1B2A41"/>
                </a:solidFill>
                <a:latin typeface="Microsoft JhengHei"/>
                <a:ea typeface="Microsoft JhengHei"/>
              </a:rPr>
              <a:t>探索不碰規格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01952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探索階段的 skill </a:t>
            </a:r>
            <a:r>
              <a:rPr lang="zh-TW" sz="1350" b="1" i="0">
                <a:solidFill>
                  <a:srgbClr val="1B2A41"/>
                </a:solidFill>
                <a:latin typeface="Microsoft JhengHei"/>
                <a:ea typeface="Microsoft JhengHei"/>
              </a:rPr>
              <a:t>碰不到</a:t>
            </a: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規格檔；驗證階段的 skill </a:t>
            </a:r>
            <a:r>
              <a:rPr lang="zh-TW" sz="1350" b="1" i="0">
                <a:solidFill>
                  <a:srgbClr val="1B2A41"/>
                </a:solidFill>
                <a:latin typeface="Microsoft JhengHei"/>
                <a:ea typeface="Microsoft JhengHei"/>
              </a:rPr>
              <a:t>只能讀、只能出報告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52928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852928"/>
            <a:ext cx="91440" cy="914400"/>
          </a:xfrm>
          <a:prstGeom prst="rect">
            <a:avLst/>
          </a:prstGeom>
          <a:solidFill>
            <a:srgbClr val="17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1B2A41"/>
                </a:solidFill>
                <a:latin typeface="Microsoft JhengHei"/>
                <a:ea typeface="Microsoft JhengHei"/>
              </a:rPr>
              <a:t>修復先備份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71800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修復（reconcile）只准動「機械性問題」（改名、補引用），動手前先建 snapshot、可回滾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22776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922776"/>
            <a:ext cx="91440" cy="914400"/>
          </a:xfrm>
          <a:prstGeom prst="rect">
            <a:avLst/>
          </a:prstGeom>
          <a:solidFill>
            <a:srgbClr val="17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41648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1B2A41"/>
                </a:solidFill>
                <a:latin typeface="Microsoft JhengHei"/>
                <a:ea typeface="Microsoft JhengHei"/>
              </a:rPr>
              <a:t>語意歸人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4164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1" i="0">
                <a:solidFill>
                  <a:srgbClr val="1B2A41"/>
                </a:solidFill>
                <a:latin typeface="Microsoft JhengHei"/>
                <a:ea typeface="Microsoft JhengHei"/>
              </a:rPr>
              <a:t>語意性問題一律不准 AI 自己改</a:t>
            </a: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——退回 clarify 請人決定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92624"/>
            <a:ext cx="10927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992624"/>
            <a:ext cx="91440" cy="914400"/>
          </a:xfrm>
          <a:prstGeom prst="rect">
            <a:avLst/>
          </a:prstGeom>
          <a:solidFill>
            <a:srgbClr val="17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111496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1B2A41"/>
                </a:solidFill>
                <a:latin typeface="Microsoft JhengHei"/>
                <a:ea typeface="Microsoft JhengHei"/>
              </a:rPr>
              <a:t>路徑唯一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11496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所有路徑由 </a:t>
            </a:r>
            <a:r>
              <a:rPr lang="zh-TW" sz="1350" b="0" i="0">
                <a:solidFill>
                  <a:srgbClr val="0F776C"/>
                </a:solidFill>
                <a:latin typeface="Consolas"/>
                <a:ea typeface="Microsoft JhengHei"/>
              </a:rPr>
              <a:t>.raptor/arguments.yml</a:t>
            </a: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 統一管理，skill 不能自創目錄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0｜初始化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/rapt-kickoff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2708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專案開始，repo 第一次跑 RAPTor（一次性）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建立路徑設定與進度追蹤的基礎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你提供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專案名稱、一句話描述、語言、模式、文件根目錄（5 個問題，2 分鐘）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.raptor/arguments.yml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（路徑 SSoT）、</a:t>
                      </a:r>
                      <a:r>
                        <a:rPr lang="zh-TW" sz="13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KICKOFF_PLAN.md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lang="zh-TW" sz="13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session.md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（phase 進度表）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要理解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之後所有產出位置都由這份設定決定；</a:t>
                      </a:r>
                      <a:r>
                        <a:rPr lang="zh-TW" sz="13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session.md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是隨時可看的進度儀表板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28032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828032"/>
            <a:ext cx="82296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重點只有一個：跑一次，之後不用管。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1｜業務探索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/rapt-discovery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2708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收到 RFP / 標書 / 會議記錄之後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把散落的原始材料消化成結構化的業務圖像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你提供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所有拿得到的材料：RFP、訪談記錄、現有系統文件、競品分析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來源盤點、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利害關係人清單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使用者旅程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事件時間線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Vision / KPI / 範圍邊界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範圍邊界（in / out of scope）是否與商業判斷一致；KPI 是否可衡量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專家驗證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角色有沒有漏（隱性角色：客服、稽核）；旅程是否符合實際作業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閘門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≥2 個角色、有 vision、≥2 個 KPI、範圍邊界明確——缺的直接記成 GAP 便條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212080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82296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案例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：電商 RFP 進來，AI 從附錄挖出「加盟主」這個正文沒提的角色。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1.5｜行為規則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/rapt-behavior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92708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探索閘門通過後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把使用者故事寫成</a:t>
                      </a:r>
                      <a:r>
                        <a:rPr lang="zh-TW" sz="12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業務語言</a:t>
                      </a: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的高階 Gherkin——這是第一份 SSoT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*.feature</a:t>
                      </a: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檔、story-index 索引、可追溯矩陣 L1/L2 草稿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每個 Feature 都能對回某個旅程階段或痛點；沒有憑空多出來的功能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專家驗證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規則對不對、Example 的數字是否符合實務、邊界案例有沒有漏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閘門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禁技術語彙（按鈕/URL/HTTP）；每個 Feature 有來源證據；Then 不准寫「阻擋</a:t>
                      </a:r>
                      <a:r>
                        <a:rPr lang="zh-TW" sz="12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或</a:t>
                      </a:r>
                      <a:r>
                        <a:rPr lang="zh-TW" sz="12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警示」這種未決定的替代策略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572000"/>
            <a:ext cx="10927080" cy="1691640"/>
          </a:xfrm>
          <a:prstGeom prst="roundRect">
            <a:avLst>
              <a:gd name="adj" fmla="val 4500"/>
            </a:avLst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4736592"/>
            <a:ext cx="10415015" cy="136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i="0">
                <a:solidFill>
                  <a:srgbClr val="F0C277"/>
                </a:solidFill>
                <a:latin typeface="Consolas"/>
                <a:ea typeface="Microsoft JhengHei"/>
              </a:rPr>
              <a:t>Rule: 訂單商品數量不可超過庫存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>
                <a:solidFill>
                  <a:srgbClr val="5FD3C4"/>
                </a:solidFill>
                <a:latin typeface="Consolas"/>
                <a:ea typeface="Microsoft JhengHei"/>
              </a:rPr>
              <a:t>  Example: 剛好等於庫存數量應成功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>
                <a:solidFill>
                  <a:srgbClr val="DDE4EE"/>
                </a:solidFill>
                <a:latin typeface="Consolas"/>
                <a:ea typeface="Microsoft JhengHei"/>
              </a:rPr>
              <a:t>    Given 商品 "iPhone 15" 庫存為 10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>
                <a:solidFill>
                  <a:srgbClr val="DDE4EE"/>
                </a:solidFill>
                <a:latin typeface="Consolas"/>
                <a:ea typeface="Microsoft JhengHei"/>
              </a:rPr>
              <a:t>    When 客戶訂購 10 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>
                <a:solidFill>
                  <a:srgbClr val="DDE4EE"/>
                </a:solidFill>
                <a:latin typeface="Consolas"/>
                <a:ea typeface="Microsoft JhengHei"/>
              </a:rPr>
              <a:t>    Then 應成功建立訂單，庫存變為 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2｜領域建模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/rapt-modeling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270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高階 Gherkin 就緒後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建立資料模型與權限模型兩份 SSoT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annotated DBML、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詞彙表 glossary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值域 seeds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約束 constraints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、haARM 權限模型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詞彙表——同一個概念全專案只有一個名字（「會員」vs「客戶」二選一）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專家驗證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狀態機（訂單有哪些狀態、怎麼轉）、值域（幣別？稅別？）、誰有權做什麼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閘門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每個代碼欄位有值域或 OPEN 便條；高風險狀態 / 刪除限制有明確約束；權限角色涵蓋所有利害關係人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029200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82296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關鍵行為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：值域、約束查不到時，AI 不編造——記 CiC 便條等下一階段問你。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3｜澄清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/rapt-clarify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53035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1" i="0">
                <a:solidFill>
                  <a:srgbClr val="1B2A41"/>
                </a:solidFill>
                <a:latin typeface="Microsoft JhengHei"/>
                <a:ea typeface="Microsoft JhengHei"/>
              </a:rPr>
              <a:t>★ 專家主場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92708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建模完成後（或任何時候便條累積夠多）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清空所有模糊點，把決策正式寫回規格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流程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掃描全部便條 → 打包成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有優先級的選擇題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→ 澄清 session → 決策套用回 SSoT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要做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主持 session、安排專家、對商業取捨類問題拍板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專家要做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回答問題——High 優先必答，答案多半是 A / B / C / D 一個字母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決策記錄（decision log）、更新後的 SSoT、便條標記 RESOLVED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閘門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無 OPEN 的缺口與衝突；所有假設被確認或否決；暫緩項目有明確狀態（MVP 外 / 待決策 / 接受風險）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12080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82296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每個答案</a:t>
            </a: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直接改寫規格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，不會開完會沒下文；decision log 讓「當初為什麼這樣決定」永遠可查。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4｜意圖規格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/rapt-intent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2708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澄清閘門通過後（規格的模糊點已清空）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從三份上游 SSoT 切出 API 意圖（haAPI）與頁面意圖（haPDL）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輸入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DBML + haARM + Gherkin（自動讀取，只讀不改）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*.haapi.yaml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lang="zh-TW" sz="13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*.hapdl.yaml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、可追溯矩陣補到 Scenario 層級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驗證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頁面意圖是否走得完使用者旅程；每個 Scenario 都有承接的 API / 頁面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專家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此階段幾乎不需出席——素材在前四個階段已備齊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閘門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每個主要資料表有對應 API；每個 API 至少有 list + form 頁面；追溯矩陣完整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212080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82296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「意圖」不是實作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：haAPI 說「需要能查詢訂單、依狀態篩選」，不寫 URL 與 JSON——那些是下游自動生成的事。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5｜驗證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/rapt-verify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27080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五份 SSoT 到齊後；之後每次修改都可重跑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像 CI 一樣檢查整套規格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四項檢查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完整性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（檔案齊不齊）・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跨文件一致性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（haPDL 引用的 API 存在嗎？）・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可追溯性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（每個 Scenario 有承接嗎？）・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覆蓋率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（must-have 100%？）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驗證報告（人讀的 md + 機器讀的 yml），每個 finding 標好：可自動修 / 需要人決定 / 僅備註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要做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看報告首頁的 PASS / PARTIAL / FAIL；決定 WARN 項目「接受」或「要修」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重要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此 skill 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只讀不改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——裁判不下場踢球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138928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138928"/>
            <a:ext cx="82296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報告範例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：「FAIL：3 個 Scenario 無對應 haAPI；覆蓋率 78%（must-have 100%）」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6｜調和修復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475488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>
                <a:solidFill>
                  <a:srgbClr val="FFFFFF"/>
                </a:solidFill>
                <a:latin typeface="Consolas"/>
                <a:ea typeface="Microsoft JhengHei"/>
              </a:rPr>
              <a:t>/rapt-reconcile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27080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驗證報告有 FAIL / WARN 時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把問題分流：機械性自動修，語意性退給人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機械性（AI 修）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命名不一致、引用斷鏈、追溯矩陣缺漏——修之前先建 snapshot，可回滾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語意性（人決定）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「這個 Scenario 沒有 API 承接，是要補 API 還是砍 Scenario？」→ 打包回 clarify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修復 session 記錄、</a:t>
                      </a:r>
                      <a:r>
                        <a:rPr lang="zh-TW" sz="130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影響矩陣更新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（這次修復波及哪些下游）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BA/PO 要理解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修完回去重跑 </a:t>
                      </a:r>
                      <a:r>
                        <a:rPr lang="zh-TW" sz="13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/rapt-verify</a:t>
                      </a:r>
                      <a:r>
                        <a:rPr lang="zh-TW" sz="13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，verify ⇄ reconcile 迴圈跑到全綠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248656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248656"/>
            <a:ext cx="82296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248656"/>
            <a:ext cx="10469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分流邏輯就是「輸出合約」的落實——</a:t>
            </a: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AI 永遠不替你做語意決策</a:t>
            </a: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階段卡 7｜預覽生成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給客戶看得懂的東西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階段走讀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92708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指令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產出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/rapt-openapi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OpenAPI 3.0 YAML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Swagger UI 直接瀏覽，開發團隊 / 外包對接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/rapt-lofi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自包含 wireframe HTML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1" i="0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寄給客戶用瀏覽器打開</a:t>
                      </a: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，走一遍流程挑錯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/rapt-design-brief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結構化 Design Brief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5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餵 AI 設計工具直接出 Hi-Fi 設計稿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846320"/>
            <a:ext cx="10835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00" b="0" i="0">
                <a:solidFill>
                  <a:srgbClr val="262E3A"/>
                </a:solidFill>
                <a:latin typeface="Microsoft JhengHei"/>
                <a:ea typeface="Microsoft JhengHei"/>
              </a:rPr>
              <a:t>全部放在 </a:t>
            </a:r>
            <a:r>
              <a:rPr lang="zh-TW" sz="1400" b="0" i="0">
                <a:solidFill>
                  <a:srgbClr val="0F776C"/>
                </a:solidFill>
                <a:latin typeface="Consolas"/>
                <a:ea typeface="Microsoft JhengHei"/>
              </a:rPr>
              <a:t>docs/generate/</a:t>
            </a:r>
            <a:r>
              <a:rPr lang="zh-TW" sz="1400" b="0" i="0">
                <a:solidFill>
                  <a:srgbClr val="262E3A"/>
                </a:solidFill>
                <a:latin typeface="Microsoft JhengHei"/>
                <a:ea typeface="Microsoft JhengHei"/>
              </a:rPr>
              <a:t>，</a:t>
            </a:r>
            <a:r>
              <a:rPr lang="zh-TW" sz="1400" b="1" i="0">
                <a:solidFill>
                  <a:srgbClr val="1B2A41"/>
                </a:solidFill>
                <a:latin typeface="Microsoft JhengHei"/>
                <a:ea typeface="Microsoft JhengHei"/>
              </a:rPr>
              <a:t>隨時可刪掉重生</a:t>
            </a:r>
            <a:r>
              <a:rPr lang="zh-TW" sz="1400" b="0" i="0">
                <a:solidFill>
                  <a:srgbClr val="262E3A"/>
                </a:solidFill>
                <a:latin typeface="Microsoft JhengHei"/>
                <a:ea typeface="Microsoft JhengHei"/>
              </a:rPr>
              <a:t>——因為源頭是 SSoT。</a:t>
            </a:r>
          </a:p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00" b="0" i="0">
                <a:solidFill>
                  <a:srgbClr val="262E3A"/>
                </a:solidFill>
                <a:latin typeface="Microsoft JhengHei"/>
                <a:ea typeface="Microsoft JhengHei"/>
              </a:rPr>
              <a:t>客戶看了 wireframe 說「這裡不對」→ 改的是 SSoT，再重新生成——永遠不會出現「設計稿和規格不同步」。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品質計分卡 /rapt-RAscore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品質與迭代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9494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隨時可跑、</a:t>
            </a: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advisory-only</a:t>
            </a: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（建議性質，不擋流程）</a:t>
            </a:r>
          </a:p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以 rubric 對整套 Gherkin + DBML 逐準則評分 → 總分 / 等級 / veto 警示</a:t>
            </a:r>
          </a:p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findings 自動分流：可修的進 reconcile、要問的進 clarify</a:t>
            </a:r>
          </a:p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對內</a:t>
            </a: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：規格「夠不夠格當 SSoT」的客觀依據</a:t>
            </a:r>
          </a:p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對外</a:t>
            </a: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：附在交付物上的品質證明</a:t>
            </a:r>
          </a:p>
          <a:p>
            <a:pPr marL="219456" indent="-219456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跨專案</a:t>
            </a: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：不同案子的需求品質可以比較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45920"/>
            <a:ext cx="34747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92440" y="1645920"/>
            <a:ext cx="3474720" cy="47548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719072"/>
            <a:ext cx="3108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RAscore Scorecard（示意）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377440"/>
            <a:ext cx="3474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800" b="1" i="0">
                <a:solidFill>
                  <a:srgbClr val="0F776C"/>
                </a:solidFill>
                <a:latin typeface="Microsoft JhengHei"/>
                <a:ea typeface="Microsoft JhengHei"/>
              </a:rPr>
              <a:t>82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65760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262E3A"/>
                </a:solidFill>
                <a:latin typeface="Microsoft JhengHei"/>
                <a:ea typeface="Microsoft JhengHei"/>
              </a:rPr>
              <a:t>Grade B+　・　Veto 未觸發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605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6B7480"/>
                </a:solidFill>
                <a:latin typeface="Microsoft JhengHei"/>
                <a:ea typeface="Microsoft JhengHei"/>
              </a:rPr>
              <a:t>▸ findings 12 件（3 件可自動修）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50" b="0" i="0">
                <a:solidFill>
                  <a:srgbClr val="6B7480"/>
                </a:solidFill>
                <a:latin typeface="Microsoft JhengHei"/>
                <a:ea typeface="Microsoft JhengHei"/>
              </a:rPr>
              <a:t>▸ 9 件已轉澄清問題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需求變更時：迴圈，不是重做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品質與迭代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675120" cy="566928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FFFFFF"/>
                </a:solidFill>
                <a:latin typeface="Microsoft JhengHei"/>
                <a:ea typeface="Microsoft JhengHei"/>
              </a:rPr>
              <a:t>客戶回饋 / 需求變更</a:t>
            </a:r>
          </a:p>
        </p:txBody>
      </p:sp>
      <p:sp>
        <p:nvSpPr>
          <p:cNvPr id="7" name="Down Arrow 6"/>
          <p:cNvSpPr/>
          <p:nvPr/>
        </p:nvSpPr>
        <p:spPr>
          <a:xfrm>
            <a:off x="3840480" y="2139696"/>
            <a:ext cx="201168" cy="237744"/>
          </a:xfrm>
          <a:prstGeom prst="down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6675120" cy="566928"/>
          </a:xfrm>
          <a:prstGeom prst="roundRect">
            <a:avLst>
              <a:gd name="adj" fmla="val 12000"/>
            </a:avLst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FFFFFF"/>
                </a:solidFill>
                <a:latin typeface="Microsoft JhengHei"/>
                <a:ea typeface="Microsoft JhengHei"/>
              </a:rPr>
              <a:t>影響矩陣查波及範圍（.raptor/impact-matrix.yml）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3840480" y="2980944"/>
            <a:ext cx="201168" cy="237744"/>
          </a:xfrm>
          <a:prstGeom prst="down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236976"/>
            <a:ext cx="6675120" cy="566928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改對應的 SSoT（必要時走一輪 clarify）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840480" y="3822191"/>
            <a:ext cx="201168" cy="237744"/>
          </a:xfrm>
          <a:prstGeom prst="down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4078224"/>
            <a:ext cx="6675120" cy="566928"/>
          </a:xfrm>
          <a:prstGeom prst="roundRect">
            <a:avLst>
              <a:gd name="adj" fmla="val 12000"/>
            </a:avLst>
          </a:prstGeom>
          <a:solidFill>
            <a:srgbClr val="0F7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FFFFFF"/>
                </a:solidFill>
                <a:latin typeface="Microsoft JhengHei"/>
                <a:ea typeface="Microsoft JhengHei"/>
              </a:rPr>
              <a:t>/rapt-verify 重跑 → 有問題 → /rapt-reconcile → 再 verify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840480" y="4663440"/>
            <a:ext cx="201168" cy="237744"/>
          </a:xfrm>
          <a:prstGeom prst="downArrow">
            <a:avLst/>
          </a:prstGeom>
          <a:solidFill>
            <a:srgbClr val="B9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919472"/>
            <a:ext cx="6675120" cy="566928"/>
          </a:xfrm>
          <a:prstGeom prst="roundRect">
            <a:avLst>
              <a:gd name="adj" fmla="val 12000"/>
            </a:avLst>
          </a:prstGeom>
          <a:solidFill>
            <a:srgbClr val="17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FFFFFF"/>
                </a:solidFill>
                <a:latin typeface="Microsoft JhengHei"/>
                <a:ea typeface="Microsoft JhengHei"/>
              </a:rPr>
              <a:t>全綠 → 重新生成 openapi / lofi / design-brief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84048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改的永遠是 SSoT，下游全部重生——</a:t>
            </a: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不存在「忘了同步」</a:t>
            </a:r>
          </a:p>
          <a:p>
            <a:pPr marL="219456" indent="-219456"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  <a:buClr>
                <a:srgbClr val="179C8E"/>
              </a:buClr>
              <a:buFont typeface="Arial"/>
              <a:buChar char="▪"/>
            </a:pPr>
            <a:r>
              <a:rPr lang="zh-TW" sz="1450" b="0" i="0">
                <a:solidFill>
                  <a:srgbClr val="262E3A"/>
                </a:solidFill>
                <a:latin typeface="Microsoft JhengHei"/>
                <a:ea typeface="Microsoft JhengHei"/>
              </a:rPr>
              <a:t>decision log + traceability：每條規格查得到</a:t>
            </a:r>
            <a:r>
              <a:rPr lang="zh-TW" sz="1450" b="1" i="0">
                <a:solidFill>
                  <a:srgbClr val="1B2A41"/>
                </a:solidFill>
                <a:latin typeface="Microsoft JhengHei"/>
                <a:ea typeface="Microsoft JhengHei"/>
              </a:rPr>
              <a:t>「從哪來、為什麼、影響誰」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上手：你的第一個專案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上手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389888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>
                <a:solidFill>
                  <a:srgbClr val="1B2A41"/>
                </a:solidFill>
                <a:latin typeface="Microsoft JhengHei"/>
                <a:ea typeface="Microsoft JhengHei"/>
              </a:rPr>
              <a:t>把 RFP、會議記錄丟進專案資料夾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865376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/rapt-kickoff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83664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2 分鐘，回答 5 個問題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225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40864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59152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產出探索摘要 → 找專家確認角色與範圍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980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816352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高階 Gherkin → 拿去給客戶 / 專家審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735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29184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10128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資料 + 權限模型，便條開始累積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4903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3767327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/rapt-clarify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85615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★ 排一場 1–2 小時的澄清 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2452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242815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/rapt-intent → /rapt-verify ⇄ /rapt-reconcile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61103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跑到全綠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001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718303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/rapt-lofi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36591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寄 wireframe 給客戶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7550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>
                <a:solidFill>
                  <a:srgbClr val="1B2A41"/>
                </a:solidFill>
                <a:latin typeface="Microsoft JhengHei"/>
                <a:ea typeface="Microsoft JhengHe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193791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>
                <a:solidFill>
                  <a:srgbClr val="1B2A41"/>
                </a:solidFill>
                <a:latin typeface="Consolas"/>
                <a:ea typeface="Microsoft JhengHei"/>
              </a:rPr>
              <a:t>/rapt-RAscore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12079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>
                <a:solidFill>
                  <a:srgbClr val="6B7480"/>
                </a:solidFill>
                <a:latin typeface="Microsoft JhengHei"/>
                <a:ea typeface="Microsoft JhengHei"/>
              </a:rPr>
              <a:t>附上品質計分卡，交付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715000"/>
            <a:ext cx="10927080" cy="566928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715000"/>
            <a:ext cx="82296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10469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人的關鍵投入只有三處（橘色標記）：</a:t>
            </a:r>
            <a:r>
              <a:rPr lang="zh-TW" sz="1350" b="1" i="0">
                <a:solidFill>
                  <a:srgbClr val="1B2A41"/>
                </a:solidFill>
                <a:latin typeface="Microsoft JhengHei"/>
                <a:ea typeface="Microsoft JhengHei"/>
              </a:rPr>
              <a:t>備材料（1）、審 Gherkin（4）、澄清 session（6）</a:t>
            </a:r>
            <a:r>
              <a:rPr lang="zh-TW" sz="1350" b="0" i="0">
                <a:solidFill>
                  <a:srgbClr val="262E3A"/>
                </a:solidFill>
                <a:latin typeface="Microsoft JhengHei"/>
                <a:ea typeface="Microsoft JhengHei"/>
              </a:rPr>
              <a:t>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>
                <a:solidFill>
                  <a:srgbClr val="1B2A41"/>
                </a:solidFill>
                <a:latin typeface="Microsoft JhengHei"/>
                <a:ea typeface="Microsoft JhengHei"/>
              </a:rPr>
              <a:t>常見疑問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b="1" i="0">
                <a:solidFill>
                  <a:srgbClr val="6B7480"/>
                </a:solidFill>
                <a:latin typeface="Microsoft JhengHei"/>
                <a:ea typeface="Microsoft JhengHei"/>
              </a:rPr>
              <a:t>上手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927080" cy="4718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疑問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3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回答</a:t>
                      </a:r>
                    </a:p>
                  </a:txBody>
                  <a:tcPr marT="41148" marB="41148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AI 會不會亂改文件？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每個 skill 有白紙黑字的輸出合約（deny-by-default）；修復前自動 snapshot；語意決策一律退回人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專家要花多少時間？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集中在澄清 session 與關鍵驗證點；問題是排好優先級的選擇題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中途可以停嗎？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0" i="0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session.md</a:t>
                      </a:r>
                      <a:r>
                        <a:rPr lang="zh-TW" sz="14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記錄每個 phase 狀態，隨時中斷、隨時續跑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既有專案能用嗎？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可以——把現有文件當 discovery 材料匯入，照樣往下走</a:t>
                      </a:r>
                    </a:p>
                  </a:txBody>
                  <a:tcPr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1" i="0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規格改了下游怎麼辦？</a:t>
                      </a:r>
                    </a:p>
                  </a:txBody>
                  <a:tcPr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lang="zh-TW" sz="1400" b="0" i="0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下游全是生成物，重新生成即可；影響矩陣先告訴你波及範圍</a:t>
                      </a:r>
                    </a:p>
                  </a:txBody>
                  <a:tcPr marT="41148" marB="4114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RAPTor｜從 RFP 到完整規格 — 30 分鐘導覽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0" i="0">
                <a:solidFill>
                  <a:srgbClr val="6B7480"/>
                </a:solidFill>
                <a:latin typeface="Microsoft JhengHei"/>
                <a:ea typeface="Microsoft JhengHe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28016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18872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RAPTor = 一條有品質閘門的需求生產線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74320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29718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 b="1" i="0">
                <a:solidFill>
                  <a:srgbClr val="E8A33D"/>
                </a:solidFill>
                <a:latin typeface="Microsoft JhengHei"/>
                <a:ea typeface="Microsoft JhengHei"/>
              </a:rPr>
              <a:t>AI 做苦工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52044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D5DDE8"/>
                </a:solidFill>
                <a:latin typeface="Microsoft JhengHei"/>
                <a:ea typeface="Microsoft JhengHei"/>
              </a:rPr>
              <a:t>消化材料、起草五份規格、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D5DDE8"/>
                </a:solidFill>
                <a:latin typeface="Microsoft JhengHei"/>
                <a:ea typeface="Microsoft JhengHei"/>
              </a:rPr>
              <a:t>交叉驗證、自動修復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74320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59" y="29718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 b="1" i="0">
                <a:solidFill>
                  <a:srgbClr val="E8A33D"/>
                </a:solidFill>
                <a:latin typeface="Microsoft JhengHei"/>
                <a:ea typeface="Microsoft JhengHei"/>
              </a:rPr>
              <a:t>人做決策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52044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D5DDE8"/>
                </a:solidFill>
                <a:latin typeface="Microsoft JhengHei"/>
                <a:ea typeface="Microsoft JhengHei"/>
              </a:rPr>
              <a:t>商業取捨、領域知識、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D5DDE8"/>
                </a:solidFill>
                <a:latin typeface="Microsoft JhengHei"/>
                <a:ea typeface="Microsoft JhengHei"/>
              </a:rPr>
              <a:t>簽核閘門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743200"/>
            <a:ext cx="3246120" cy="1783080"/>
          </a:xfrm>
          <a:prstGeom prst="roundRect">
            <a:avLst>
              <a:gd name="adj" fmla="val 8000"/>
            </a:avLst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29718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 b="1" i="0">
                <a:solidFill>
                  <a:srgbClr val="E8A33D"/>
                </a:solidFill>
                <a:latin typeface="Microsoft JhengHei"/>
                <a:ea typeface="Microsoft JhengHei"/>
              </a:rPr>
              <a:t>產出可證明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52044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D5DDE8"/>
                </a:solidFill>
                <a:latin typeface="Microsoft JhengHei"/>
                <a:ea typeface="Microsoft JhengHei"/>
              </a:rPr>
              <a:t>可追溯、可評分、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>
                <a:solidFill>
                  <a:srgbClr val="D5DDE8"/>
                </a:solidFill>
                <a:latin typeface="Microsoft JhengHei"/>
                <a:ea typeface="Microsoft JhengHei"/>
              </a:rPr>
              <a:t>可重生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25780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>
                <a:solidFill>
                  <a:srgbClr val="FFFFFF"/>
                </a:solidFill>
                <a:latin typeface="Microsoft JhengHei"/>
                <a:ea typeface="Microsoft JhengHei"/>
              </a:rPr>
              <a:t>下一步：拿你手上的一份 RFP，跑 </a:t>
            </a:r>
            <a:r>
              <a:rPr lang="zh-TW" sz="1800" b="0" i="0">
                <a:solidFill>
                  <a:srgbClr val="E8A33D"/>
                </a:solidFill>
                <a:latin typeface="Consolas"/>
                <a:ea typeface="Microsoft JhengHei"/>
              </a:rPr>
              <a:t>/rapt-kickoff</a:t>
            </a:r>
            <a:r>
              <a:rPr lang="zh-TW" sz="1800" b="0" i="0">
                <a:solidFill>
                  <a:srgbClr val="FFFFFF"/>
                </a:solidFill>
                <a:latin typeface="Microsoft JhengHei"/>
                <a:ea typeface="Microsoft JhengHei"/>
              </a:rPr>
              <a:t> 試一輪。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E057FB-7505-43DC-BD6E-8D36B46BF86D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972d0567-7c56-4f81-acee-2442c9e15b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4592</Words>
  <Application>Microsoft Office PowerPoint</Application>
  <PresentationFormat>寬螢幕</PresentationFormat>
  <Paragraphs>444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A08陳建維</cp:lastModifiedBy>
  <cp:revision>3</cp:revision>
  <dcterms:created xsi:type="dcterms:W3CDTF">2013-01-27T09:14:16Z</dcterms:created>
  <dcterms:modified xsi:type="dcterms:W3CDTF">2026-06-17T08:49:05Z</dcterms:modified>
  <cp:category/>
</cp:coreProperties>
</file>