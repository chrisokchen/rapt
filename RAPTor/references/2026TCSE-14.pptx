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1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1" autoAdjust="0"/>
  </p:normalViewPr>
  <p:slideViewPr>
    <p:cSldViewPr snapToGrid="0" snapToObjects="1">
      <p:cViewPr varScale="1">
        <p:scale>
          <a:sx n="86" d="100"/>
          <a:sy n="86" d="100"/>
        </p:scale>
        <p:origin x="92" y="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11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定調：這篇論文回答一個問題——AI 應該放在軟體生命週期的哪個位置，才能既拿到產能、又不放大隨機性？答案是：左移到規格層，並用一套工程框架把它鎖在那裡。v2 相對 v1 的最大增量是『規格治理閉環』（Slide 14-15）。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冷開場。慢。停頓 2 秒再開口。『商品庫存不足的時候，訂單該怎麼辦？』這個問題小到六個月前寫規格時沒人去問客戶，工程師做了個合理假設繼續寫——半年後一個半夜，這個假設把生產線搞掛了。種下全場回扣的種子，先給人與痛，不給術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把個人事故放大成聽眾的集體經驗——你也有。四個痛點＝後面四個解法的伏筆。這是 R1-4 導入前 Baseline 的人性化版本。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製造希望，準備反轉。語氣輕快、帶點誘惑感。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反轉＋第一次回扣開場問題。最後一句放慢：還記得開場那個庫存的問題嗎？AI 不會問客戶，它會猜。點出 through-line 的反命題『猜』。這是 R1-2 的伏筆。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TED 的 reframe 核心時刻。把全場從『工具優化』抬到『定位問題』。劃掉舊問題、換上新問題——這是動畫重點。R1-1 雙軸左移的入口。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解決頓悟的『怎麼做』。最關鍵：前段機率、後段確定的紅線（R1-2）。並埋下 CTA 早鋪陳——『已經放上 GitHub 了，先記著』，讓聽眾從中段開始用『我能用』的耳朵聽。R1-1+R1-2。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用審查質疑當『擋路的龍』，製造張力。直接把 R1-3 的質疑搬上台、念出來，再化解。停頓後再翻頁。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化解張力。觀念翻轉：不賭 AI 寫得好、只要求護欄攔得住。宣告式、非圖靈完備先壓小幻覺空間，再三道確定性關卡。R1-3；§3.4–3.5、§4.2。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全場最高記憶點之一：系統比我們更懂我們的系統。放慢、留白。結構化回饋循環是 spec-driven 相對純 AI Agent 的核心優勢——AI Agent 不會這樣對你。§5.4 haARM 湧現、§7。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theory→artifact 的轉折。回應『Level 2 模糊』。CTA 微錨點（頁腳徽章）正式登場。語氣轉強：這是真的、可執行的。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先給終點再講路徑。強調兩層：ssot/ 是人簽核的資產，generate/ 是隨時可丟掉重生的投影。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全場情緒最高點之一。痛→解的回扣完成。Q_TEXT 與開場、收尾三次完全一致。放慢最後一句。這就是 AI『幫你猜』和 AI『提醒你還沒決定』的差別。§2.3。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承上啟下。把 v2 的治理閉環包裝成『故事還有第二層』。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痛→進化 回扣收尾。真實數字（IA-20260619-001：287 nodes/256 edges、五層、5 risks、needs_clarification 6 題）證明不是 demo。R2-1 最強回答（前瞻自動化）。誠實：advisory-only、非自動裁決。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補完治理閉環的另一半。強化『可信任、不亂改』。兩 skill 都 advisory-only、deny-by-default。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用『結果』而非『指標表』給信任。保留學術誠實邊界（呼應論文 §6.2）。smallBiz RAscore 2026-06-13；§5.1 aisystem。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把邀請升級成低門檻、高參與的挑戰。用挑戰取代邀請，行動成本更低、參與感更高。明確降低嘗試成本：人只做三件事、一個下午。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首尾閉環。Q_TEXT 第三次、styling 完全一致。把 logline 升華成金句。最後一個畫面就是 CTA。三段停頓：問句 / 不會被略過 / 換你了。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842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素材：0608-rpReview_comm-response_Opus48.md R1-5。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被問操作細節時翻。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被問『驗證鏈會不會過度工程』時翻。§4.2。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被問『AI 會不會亂改我規格』時翻。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28016" cy="1554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627632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AI 產力左移與 Spec-as-Source 工程框架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E8A33D"/>
                </a:solidFill>
                <a:latin typeface="Microsoft JhengHei"/>
              </a:rPr>
              <a:t>以四維意圖規格體系與多層驗證鏈收斂生成式 AI 之隨機性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10424160" cy="898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陳建維（Chris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 Chien-Wen Chen）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C9D3E0"/>
                </a:solidFill>
                <a:latin typeface="Microsoft JhengHei"/>
              </a:rPr>
              <a:t>凌網資訊</a:t>
            </a:r>
            <a:r>
              <a:rPr sz="1400" b="0" dirty="0">
                <a:solidFill>
                  <a:srgbClr val="C9D3E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C9D3E0"/>
                </a:solidFill>
                <a:latin typeface="Microsoft JhengHei"/>
              </a:rPr>
              <a:t>研發營運中心</a:t>
            </a:r>
            <a:r>
              <a:rPr sz="1400" b="0" dirty="0">
                <a:solidFill>
                  <a:srgbClr val="C9D3E0"/>
                </a:solidFill>
                <a:latin typeface="Microsoft JhengHei"/>
              </a:rPr>
              <a:t>　</a:t>
            </a:r>
            <a:r>
              <a:rPr sz="1400" b="0" dirty="0" err="1">
                <a:solidFill>
                  <a:srgbClr val="C9D3E0"/>
                </a:solidFill>
                <a:latin typeface="Microsoft JhengHei"/>
              </a:rPr>
              <a:t>HyWeb</a:t>
            </a:r>
            <a:r>
              <a:rPr sz="1400" b="0" dirty="0">
                <a:solidFill>
                  <a:srgbClr val="C9D3E0"/>
                </a:solidFill>
                <a:latin typeface="Microsoft JhengHei"/>
              </a:rPr>
              <a:t> Technology, R&amp;D Operations Center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dirty="0">
                <a:solidFill>
                  <a:srgbClr val="C9D3E0"/>
                </a:solidFill>
                <a:latin typeface="Microsoft JhengHei"/>
              </a:rPr>
              <a:t>Track 3: AI4SE　・　TCSE </a:t>
            </a:r>
            <a:r>
              <a:rPr lang="en-US" altLang="zh-TW" sz="1400" b="0" dirty="0">
                <a:solidFill>
                  <a:srgbClr val="C9D3E0"/>
                </a:solidFill>
                <a:latin typeface="Microsoft JhengHei"/>
              </a:rPr>
              <a:t>2026</a:t>
            </a:r>
            <a:endParaRPr sz="1400" b="0" dirty="0">
              <a:solidFill>
                <a:srgbClr val="C9D3E0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2148840"/>
            <a:ext cx="1216152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94392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「商品庫存不足時，訂單該怎麼辦？」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60520"/>
            <a:ext cx="99943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EB8C6"/>
                </a:solidFill>
                <a:latin typeface="Microsoft JhengHei"/>
              </a:rPr>
              <a:t>六個月前，沒有人問這個問題。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86868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4124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 err="1">
                <a:solidFill>
                  <a:srgbClr val="FFFFFF"/>
                </a:solidFill>
                <a:latin typeface="Microsoft JhengHei"/>
              </a:rPr>
              <a:t>這不是個案。這是一種病</a:t>
            </a:r>
            <a:r>
              <a:rPr sz="2600" b="1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828800"/>
            <a:ext cx="73152" cy="841248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1828800"/>
            <a:ext cx="3657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散落的需求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828800"/>
            <a:ext cx="5943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AEB8C6"/>
                </a:solidFill>
                <a:latin typeface="Microsoft JhengHei"/>
              </a:rPr>
              <a:t>真正的需求，藏在一百頁 RFP 的第 37 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07791"/>
            <a:ext cx="73152" cy="841248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2907791"/>
            <a:ext cx="3657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打架的定義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07791"/>
            <a:ext cx="5943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AEB8C6"/>
                </a:solidFill>
                <a:latin typeface="Microsoft JhengHei"/>
              </a:rPr>
              <a:t>三個月後，沒人確定『會員等級』是不是同一個東西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986783"/>
            <a:ext cx="73152" cy="841248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3986783"/>
            <a:ext cx="3657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沒被問的問題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297954"/>
            <a:ext cx="5943600" cy="218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AEB8C6"/>
                </a:solidFill>
                <a:latin typeface="Microsoft JhengHei"/>
              </a:rPr>
              <a:t>該問客戶的，當初沒人問</a:t>
            </a:r>
            <a:r>
              <a:rPr lang="en-US" sz="1400" b="0" dirty="0">
                <a:solidFill>
                  <a:srgbClr val="AEB8C6"/>
                </a:solidFill>
                <a:latin typeface="Microsoft JhengHei"/>
              </a:rPr>
              <a:t>99..</a:t>
            </a:r>
            <a:endParaRPr sz="1400" b="0" dirty="0">
              <a:solidFill>
                <a:srgbClr val="AEB8C6"/>
              </a:solidFill>
              <a:latin typeface="Microsoft Jheng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17320" y="5065776"/>
            <a:ext cx="73152" cy="841248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91640" y="5065776"/>
            <a:ext cx="3657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失控的變更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065776"/>
            <a:ext cx="5943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AEB8C6"/>
                </a:solidFill>
                <a:latin typeface="Microsoft JhengHei"/>
              </a:rPr>
              <a:t>改一條需求，沒人說得清會影響哪些 API、哪些頁面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C50BBD4-EC45-400F-B63A-7A07D36478D2}"/>
              </a:ext>
            </a:extLst>
          </p:cNvPr>
          <p:cNvSpPr/>
          <p:nvPr/>
        </p:nvSpPr>
        <p:spPr>
          <a:xfrm>
            <a:off x="1422400" y="6146800"/>
            <a:ext cx="9728200" cy="584200"/>
          </a:xfrm>
          <a:prstGeom prst="roundRect">
            <a:avLst/>
          </a:prstGeom>
          <a:solidFill>
            <a:srgbClr val="F2C98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1A1A1A"/>
                </a:solidFill>
                <a:latin typeface="Microsoft JhengHei"/>
                <a:ea typeface="Microsoft JhengHei"/>
              </a:rPr>
              <a:t>共同病根</a:t>
            </a:r>
            <a:r>
              <a:rPr lang="en-US" altLang="zh-TW" sz="1700" b="1">
                <a:solidFill>
                  <a:srgbClr val="1A1A1A"/>
                </a:solidFill>
                <a:latin typeface="Microsoft JhengHei"/>
                <a:ea typeface="Microsoft JhengHei"/>
              </a:rPr>
              <a:t>:</a:t>
            </a:r>
            <a:r>
              <a:rPr lang="zh-TW" altLang="en-US" sz="1700" b="1">
                <a:solidFill>
                  <a:srgbClr val="1A1A1A"/>
                </a:solidFill>
                <a:latin typeface="Microsoft JhengHei"/>
                <a:ea typeface="Microsoft JhengHei"/>
              </a:rPr>
              <a:t>沒有「單一事實來源</a:t>
            </a:r>
            <a:r>
              <a:rPr lang="en-US" altLang="zh-TW" sz="1700" b="1">
                <a:solidFill>
                  <a:srgbClr val="1A1A1A"/>
                </a:solidFill>
                <a:latin typeface="Microsoft JhengHei"/>
                <a:ea typeface="Microsoft JhengHei"/>
              </a:rPr>
              <a:t>(SSoT)</a:t>
            </a:r>
            <a:r>
              <a:rPr lang="zh-TW" altLang="en-US" sz="1700" b="1">
                <a:solidFill>
                  <a:srgbClr val="1A1A1A"/>
                </a:solidFill>
                <a:latin typeface="Microsoft JhengHei"/>
                <a:ea typeface="Microsoft JhengHei"/>
              </a:rPr>
              <a:t>」</a:t>
            </a:r>
            <a:r>
              <a:rPr lang="en-US" altLang="zh-TW" sz="1700" b="1">
                <a:solidFill>
                  <a:srgbClr val="1A1A1A"/>
                </a:solidFill>
                <a:latin typeface="Microsoft JhengHei"/>
                <a:ea typeface="Microsoft JhengHei"/>
              </a:rPr>
              <a:t>—— </a:t>
            </a:r>
            <a:r>
              <a:rPr lang="zh-TW" altLang="en-US" sz="1700" b="1">
                <a:solidFill>
                  <a:srgbClr val="1A1A1A"/>
                </a:solidFill>
                <a:latin typeface="Microsoft JhengHei"/>
                <a:ea typeface="Microsoft JhengHei"/>
              </a:rPr>
              <a:t>四個症狀</a:t>
            </a:r>
            <a:r>
              <a:rPr lang="en-US" altLang="zh-TW" sz="1700" b="1">
                <a:solidFill>
                  <a:srgbClr val="1A1A1A"/>
                </a:solidFill>
                <a:latin typeface="Microsoft JhengHei"/>
                <a:ea typeface="Microsoft JhengHei"/>
              </a:rPr>
              <a:t>,</a:t>
            </a:r>
            <a:r>
              <a:rPr lang="zh-TW" altLang="en-US" sz="1700" b="1">
                <a:solidFill>
                  <a:srgbClr val="1A1A1A"/>
                </a:solidFill>
                <a:latin typeface="Microsoft JhengHei"/>
                <a:ea typeface="Microsoft JhengHei"/>
              </a:rPr>
              <a:t>同一個病。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4345C9-60BE-3FEA-270D-810AEC9F437E}"/>
              </a:ext>
            </a:extLst>
          </p:cNvPr>
          <p:cNvSpPr txBox="1"/>
          <p:nvPr/>
        </p:nvSpPr>
        <p:spPr>
          <a:xfrm>
            <a:off x="1660955" y="5785858"/>
            <a:ext cx="5492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dirty="0">
                <a:solidFill>
                  <a:schemeClr val="bg1"/>
                </a:solidFill>
              </a:rPr>
              <a:t>Before baseline：散落、漂移、漏問、不可預測變</a:t>
            </a:r>
            <a:r>
              <a:rPr lang="zh-TW" altLang="en-US" sz="1400" dirty="0">
                <a:solidFill>
                  <a:schemeClr val="bg1"/>
                </a:solidFill>
              </a:rPr>
              <a:t>更</a:t>
            </a:r>
            <a:endParaRPr lang="zh-TW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965960"/>
            <a:ext cx="128016" cy="10972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然後，AI 來了，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帶著一個非常誘人的承諾：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416" y="4023360"/>
            <a:ext cx="9692640" cy="775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dirty="0">
                <a:solidFill>
                  <a:srgbClr val="F2C984"/>
                </a:solidFill>
                <a:latin typeface="Microsoft JhengHei"/>
              </a:rPr>
              <a:t>「讓 AI </a:t>
            </a:r>
            <a:r>
              <a:rPr sz="2200" b="1" dirty="0" err="1">
                <a:solidFill>
                  <a:srgbClr val="F2C984"/>
                </a:solidFill>
                <a:latin typeface="Microsoft JhengHei"/>
              </a:rPr>
              <a:t>幫你</a:t>
            </a:r>
            <a:r>
              <a:rPr sz="2200" b="1" dirty="0">
                <a:solidFill>
                  <a:srgbClr val="F2C984"/>
                </a:solidFill>
                <a:latin typeface="Microsoft JhengHei"/>
              </a:rPr>
              <a:t>，</a:t>
            </a:r>
            <a:r>
              <a:rPr lang="zh-TW" altLang="en-US" sz="2200" b="1" dirty="0">
                <a:solidFill>
                  <a:srgbClr val="F2C9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很快</a:t>
            </a:r>
            <a:r>
              <a:rPr sz="2200" b="1" dirty="0" err="1">
                <a:solidFill>
                  <a:srgbClr val="F2C984"/>
                </a:solidFill>
                <a:latin typeface="Microsoft JhengHei"/>
              </a:rPr>
              <a:t>把程式碼寫完</a:t>
            </a:r>
            <a:r>
              <a:rPr sz="2200" b="1" dirty="0">
                <a:solidFill>
                  <a:srgbClr val="F2C984"/>
                </a:solidFill>
                <a:latin typeface="Microsoft JhengHei"/>
              </a:rPr>
              <a:t>。」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我們當然試了。一開始，真的很快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——</a:t>
            </a: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快到讓人上癮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3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74980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但很快，我們就被背叛了。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783080"/>
            <a:ext cx="3429000" cy="141732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6384" y="1783080"/>
            <a:ext cx="3429000" cy="73152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3" y="1938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C984"/>
                </a:solidFill>
                <a:latin typeface="Microsoft JhengHei"/>
              </a:rPr>
              <a:t>燒錢的快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688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9D3E0"/>
                </a:solidFill>
                <a:latin typeface="Microsoft JhengHei"/>
              </a:rPr>
              <a:t>token 跟生成量成正比，還夾帶技術債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3984" y="1783080"/>
            <a:ext cx="3429000" cy="141732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3984" y="1783080"/>
            <a:ext cx="3429000" cy="73152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1938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C984"/>
                </a:solidFill>
                <a:latin typeface="Microsoft JhengHei"/>
              </a:rPr>
              <a:t>騙過測試的快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4688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9D3E0"/>
                </a:solidFill>
                <a:latin typeface="Microsoft JhengHei"/>
              </a:rPr>
              <a:t>temperature=0 也非確定性；通過測試 ≠ 沒有深層邏輯錯誤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783080"/>
            <a:ext cx="3429000" cy="141732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783080"/>
            <a:ext cx="3429000" cy="73152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938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C984"/>
                </a:solidFill>
                <a:latin typeface="Microsoft JhengHei"/>
              </a:rPr>
              <a:t>斷了線索的快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4688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9D3E0"/>
                </a:solidFill>
                <a:latin typeface="Microsoft JhengHei"/>
              </a:rPr>
              <a:t>注意力從理解系統，轉向優化提示詞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611880"/>
            <a:ext cx="10607040" cy="13258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" y="3611880"/>
            <a:ext cx="82296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611880"/>
            <a:ext cx="101498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AI 不會停下來問你：『這件事，有人決定過嗎？』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它會用一個看起來很合理的答案，直接幫你猜——然後用前所未有的速度，鋪滿你整個系統。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88696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是不是，我們一開始就問錯了？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7744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strike="sngStrike">
                <a:solidFill>
                  <a:srgbClr val="8A93A0"/>
                </a:solidFill>
                <a:latin typeface="Microsoft JhengHei"/>
              </a:rPr>
              <a:t>怎麼讓 AI 把程式碼寫得更好？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38328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8A33D"/>
                </a:solidFill>
                <a:latin typeface="Microsoft JhengHei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023360"/>
            <a:ext cx="9692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AI，到底該站在生命週期的</a:t>
            </a:r>
            <a:r>
              <a:rPr sz="2800" b="1">
                <a:solidFill>
                  <a:srgbClr val="F2C984"/>
                </a:solidFill>
                <a:latin typeface="Microsoft JhengHei"/>
              </a:rPr>
              <a:t>哪一個位置</a:t>
            </a:r>
            <a:r>
              <a:rPr sz="2800" b="1">
                <a:solidFill>
                  <a:srgbClr val="FFFFFF"/>
                </a:solidFill>
                <a:latin typeface="Microsoft JhengHei"/>
              </a:rPr>
              <a:t>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9D3E0"/>
                </a:solidFill>
                <a:latin typeface="Microsoft JhengHei"/>
              </a:rPr>
              <a:t>我們的答案是兩個字：左移。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左移到哪、到什麼程度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頓悟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6 / 22</a:t>
            </a:r>
          </a:p>
        </p:txBody>
      </p:sp>
      <p:pic>
        <p:nvPicPr>
          <p:cNvPr id="8" name="Picture 7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54480"/>
            <a:ext cx="5342021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5029200"/>
            <a:ext cx="484632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50474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2A41"/>
                </a:solidFill>
                <a:latin typeface="Microsoft JhengHei"/>
              </a:rPr>
              <a:t>圖 1：左移軸（橫）× 治理軸（縱）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1508760"/>
            <a:ext cx="56692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" y="1508760"/>
            <a:ext cx="82296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1508760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Level 0 ✗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AI 直接寫交付碼——排除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Level 2 ✓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AI 當規格助手——每專案迭代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651760"/>
            <a:ext cx="566928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2651760"/>
            <a:ext cx="82296" cy="137160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2651760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那條最關鍵的紅線：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前段——需求探索、澄清，交給 AI 發散；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後段——規格一旦定稿，程式碼生成 AI 不准進場，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是 100% 確定性的純函式編譯。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251960"/>
            <a:ext cx="566928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" y="4251960"/>
            <a:ext cx="82296" cy="1280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497573"/>
            <a:ext cx="5212080" cy="788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E8A33D"/>
                </a:solidFill>
                <a:latin typeface="Microsoft JhengHei"/>
              </a:rPr>
              <a:t>⭐ </a:t>
            </a:r>
            <a:r>
              <a:rPr sz="1400" b="1" dirty="0" err="1">
                <a:solidFill>
                  <a:srgbClr val="E8A33D"/>
                </a:solidFill>
                <a:latin typeface="Microsoft JhengHei"/>
              </a:rPr>
              <a:t>先記著一件事</a:t>
            </a:r>
            <a:r>
              <a:rPr sz="1400" b="1" dirty="0">
                <a:solidFill>
                  <a:srgbClr val="E8A33D"/>
                </a:solidFill>
                <a:latin typeface="Microsoft JhengHei"/>
              </a:rPr>
              <a:t>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 err="1">
                <a:solidFill>
                  <a:srgbClr val="262E3A"/>
                </a:solidFill>
                <a:latin typeface="Microsoft JhengHei"/>
              </a:rPr>
              <a:t>接下來講的</a:t>
            </a:r>
            <a:r>
              <a:rPr lang="en-US" sz="1350" b="0" dirty="0">
                <a:solidFill>
                  <a:srgbClr val="262E3A"/>
                </a:solidFill>
                <a:latin typeface="Microsoft JhengHei"/>
              </a:rPr>
              <a:t> Level2 </a:t>
            </a:r>
            <a:r>
              <a:rPr sz="1350" b="0" dirty="0" err="1">
                <a:solidFill>
                  <a:srgbClr val="262E3A"/>
                </a:solidFill>
                <a:latin typeface="Microsoft JhengHei"/>
              </a:rPr>
              <a:t>這整套東西</a:t>
            </a:r>
            <a:r>
              <a:rPr sz="1350" b="0" dirty="0">
                <a:solidFill>
                  <a:srgbClr val="262E3A"/>
                </a:solidFill>
                <a:latin typeface="Microsoft JhengHei"/>
              </a:rPr>
              <a:t>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1B2A41"/>
                </a:solidFill>
                <a:latin typeface="Microsoft JhengHei"/>
              </a:rPr>
              <a:t>我們已經放上</a:t>
            </a:r>
            <a:r>
              <a:rPr sz="1500" b="1" dirty="0">
                <a:solidFill>
                  <a:srgbClr val="1B2A41"/>
                </a:solidFill>
                <a:latin typeface="Microsoft JhengHei"/>
              </a:rPr>
              <a:t> GitHub 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965960"/>
            <a:ext cx="128016" cy="10972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可是……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把 AI 移到規格層，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2C984"/>
                </a:solidFill>
                <a:latin typeface="Microsoft JhengHei"/>
              </a:rPr>
              <a:t>幻覺不就跟著移過去了嗎？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9692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3E0"/>
                </a:solidFill>
                <a:latin typeface="Microsoft JhengHei"/>
              </a:rPr>
              <a:t>—— 一位審查委員問了一個致命的好問題。這個問題，逼出了我們框架真正的核心。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7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不靠 AI 寫得好，靠護欄攔得住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馴服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8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63040"/>
            <a:ext cx="10607040" cy="7772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" y="1463040"/>
            <a:ext cx="82296" cy="777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46304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正確性，不依賴 AI『生成得好』；依賴靜態護欄『攔得住』。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514600"/>
            <a:ext cx="342900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" y="2514600"/>
            <a:ext cx="34290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3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① 語法／結構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2918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E3A"/>
                </a:solidFill>
                <a:latin typeface="Microsoft JhengHei"/>
              </a:rPr>
              <a:t>EBNF ＋ JSON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1148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482"/>
                </a:solidFill>
                <a:latin typeface="Microsoft JhengHei"/>
              </a:rPr>
              <a:t>捏造一個屬性 → 解析就掛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3984" y="2514600"/>
            <a:ext cx="342900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43984" y="2514600"/>
            <a:ext cx="34290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2584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② 跨維度引用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32918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E3A"/>
                </a:solidFill>
                <a:latin typeface="Microsoft JhengHei"/>
              </a:rPr>
              <a:t>統合 AST Linter (L-04/L-07/L-08)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41148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482"/>
                </a:solidFill>
                <a:latin typeface="Microsoft JhengHei"/>
              </a:rPr>
              <a:t>幻覺欄位、幻覺權限當場被抓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2514600"/>
            <a:ext cx="342900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1583" y="2514600"/>
            <a:ext cx="34290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3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③ 深層語意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32918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E3A"/>
                </a:solidFill>
                <a:latin typeface="Microsoft JhengHei"/>
              </a:rPr>
              <a:t>一階邏輯 → Z3 SMT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41148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482"/>
                </a:solidFill>
                <a:latin typeface="Microsoft JhengHei"/>
              </a:rPr>
              <a:t>攔人眼看不出的授權衝突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074920"/>
            <a:ext cx="10607040" cy="7772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5074920"/>
            <a:ext cx="82296" cy="777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507492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被攔下的幻覺</a:t>
            </a:r>
            <a:r>
              <a:rPr sz="1400" b="1" dirty="0">
                <a:solidFill>
                  <a:srgbClr val="1B2A41"/>
                </a:solidFill>
                <a:latin typeface="Microsoft JhengHei"/>
              </a:rPr>
              <a:t> → </a:t>
            </a: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結構化錯誤回饋</a:t>
            </a:r>
            <a:r>
              <a:rPr sz="1400" b="1" dirty="0">
                <a:solidFill>
                  <a:srgbClr val="1B2A41"/>
                </a:solidFill>
                <a:latin typeface="Microsoft JhengHei"/>
              </a:rPr>
              <a:t> AI </a:t>
            </a: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自我修正</a:t>
            </a:r>
            <a:r>
              <a:rPr sz="1400" b="1" dirty="0">
                <a:solidFill>
                  <a:srgbClr val="1B2A41"/>
                </a:solidFill>
                <a:latin typeface="Microsoft JhengHei"/>
              </a:rPr>
              <a:t>。</a:t>
            </a:r>
            <a:r>
              <a:rPr sz="1400" b="1" dirty="0">
                <a:solidFill>
                  <a:srgbClr val="C05A4E"/>
                </a:solidFill>
                <a:latin typeface="Microsoft JhengHei"/>
              </a:rPr>
              <a:t>　</a:t>
            </a:r>
            <a:r>
              <a:rPr sz="1400" b="1" dirty="0" err="1">
                <a:solidFill>
                  <a:srgbClr val="C05A4E"/>
                </a:solidFill>
                <a:latin typeface="Microsoft JhengHei"/>
              </a:rPr>
              <a:t>錯的規格，根本走不到生成那一步</a:t>
            </a:r>
            <a:r>
              <a:rPr sz="1400" b="1" dirty="0">
                <a:solidFill>
                  <a:srgbClr val="C05A4E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12801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28016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我們沒有設計 haARM。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C984"/>
                </a:solidFill>
                <a:latin typeface="Microsoft JhengHei"/>
              </a:rPr>
              <a:t>是框架，把它逼了出來。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3108960"/>
            <a:ext cx="6583680" cy="6400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73352" y="3273552"/>
            <a:ext cx="612648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E4EE"/>
                </a:solidFill>
                <a:latin typeface="Consolas"/>
              </a:rPr>
              <a:t>  hasPermission(['admin'])   ← 角色 ID 被當成權限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069080"/>
            <a:ext cx="9509760" cy="192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一個型別衝突，讓我們追出：弱型別字串『角色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 ID = </a:t>
            </a: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權限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 </a:t>
            </a: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ID』悄悄穿透了五層規格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我們並不是事先聰明到知道要做權限模型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——</a:t>
            </a:r>
            <a:endParaRPr lang="en-US" sz="1500" b="0" dirty="0">
              <a:solidFill>
                <a:srgbClr val="C9D3E0"/>
              </a:solidFill>
              <a:latin typeface="Microsoft JhengHei"/>
            </a:endParaRP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lang="zh-TW" altLang="zh-TW" sz="1600" dirty="0">
                <a:solidFill>
                  <a:schemeClr val="bg2">
                    <a:lumMod val="75000"/>
                  </a:schemeClr>
                </a:solidFill>
              </a:rPr>
              <a:t>這不是 AI 發現的，是驗證鏈逼出來的</a:t>
            </a:r>
            <a:endParaRPr lang="zh-TW" altLang="en-US" sz="1200" b="1" dirty="0">
              <a:solidFill>
                <a:schemeClr val="bg2">
                  <a:lumMod val="75000"/>
                </a:schemeClr>
              </a:solidFill>
              <a:latin typeface="Microsoft Jheng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dirty="0" err="1">
                <a:solidFill>
                  <a:srgbClr val="F2C984"/>
                </a:solidFill>
                <a:latin typeface="Microsoft JhengHei"/>
              </a:rPr>
              <a:t>是框架自己，把一個我們從不知道存在的架構漏洞，逼到了檯面上</a:t>
            </a:r>
            <a:r>
              <a:rPr sz="1600" b="1" dirty="0">
                <a:solidFill>
                  <a:srgbClr val="F2C984"/>
                </a:solidFill>
                <a:latin typeface="Microsoft JhengHei"/>
              </a:rPr>
              <a:t>。</a:t>
            </a:r>
            <a:endParaRPr lang="en-US" sz="1600" b="1" dirty="0">
              <a:solidFill>
                <a:srgbClr val="F2C984"/>
              </a:solidFill>
              <a:latin typeface="Microsoft Jheng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endParaRPr sz="1600" b="1" dirty="0">
              <a:solidFill>
                <a:srgbClr val="F2C984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Level 2，不再是一段方法論的描述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成真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這一步，你今晚就能自己跑一次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我們把整個 Level 2 流程，實作成了一條你能跑的生產線——</a:t>
            </a:r>
            <a:r>
              <a:rPr sz="1400" b="1">
                <a:solidFill>
                  <a:srgbClr val="C05A4E"/>
                </a:solidFill>
                <a:latin typeface="Microsoft JhengHei"/>
              </a:rPr>
              <a:t>21 個 skill。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783080"/>
            <a:ext cx="10607040" cy="27432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1947672"/>
            <a:ext cx="10149840" cy="162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/rapt-kickoff → /rapt-discovery → /rapt-behavior → /rapt-modeling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  (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初始化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)       (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業務探索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)      (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高階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 Gherkin)    (DBML + 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haARM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                                         ↓ 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模糊處留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CiC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便條</a:t>
            </a:r>
            <a:endParaRPr sz="1150" b="0" dirty="0">
              <a:solidFill>
                <a:srgbClr val="DDE4EE"/>
              </a:solidFill>
              <a:latin typeface="Consolas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   ┌──</a:t>
            </a:r>
            <a:r>
              <a:rPr lang="en-US" sz="11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 /rapt-clarify (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人來定奪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) </a:t>
            </a:r>
            <a:r>
              <a:rPr lang="en-US" sz="11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←──┐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   ↓                                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/rapt-intent → /rapt-verify → /rapt-reconcile ──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語意性問題</a:t>
            </a:r>
            <a:r>
              <a:rPr sz="1150" b="0" dirty="0">
                <a:solidFill>
                  <a:srgbClr val="DDE4EE"/>
                </a:solidFill>
                <a:latin typeface="Consolas"/>
              </a:rPr>
              <a:t>──┘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DDE4EE"/>
                </a:solidFill>
                <a:latin typeface="Consolas"/>
              </a:rPr>
              <a:t>        ↓ </a:t>
            </a:r>
            <a:r>
              <a:rPr sz="1150" b="0" dirty="0" err="1">
                <a:solidFill>
                  <a:srgbClr val="DDE4EE"/>
                </a:solidFill>
                <a:latin typeface="Consolas"/>
              </a:rPr>
              <a:t>全綠後</a:t>
            </a:r>
            <a:endParaRPr lang="en-US" sz="1150" b="0" dirty="0">
              <a:solidFill>
                <a:srgbClr val="DDE4EE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 (</a:t>
            </a:r>
            <a:r>
              <a:rPr lang="en-US" altLang="zh-TW" sz="1150" dirty="0" err="1">
                <a:solidFill>
                  <a:srgbClr val="DDE4EE"/>
                </a:solidFill>
                <a:latin typeface="Consolas"/>
              </a:rPr>
              <a:t>haPDL</a:t>
            </a: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 + </a:t>
            </a:r>
            <a:r>
              <a:rPr lang="en-US" altLang="zh-TW" sz="1150" dirty="0" err="1">
                <a:solidFill>
                  <a:srgbClr val="DDE4EE"/>
                </a:solidFill>
                <a:latin typeface="Consolas"/>
              </a:rPr>
              <a:t>haAPI</a:t>
            </a: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) </a:t>
            </a:r>
            <a:r>
              <a:rPr lang="zh-TW" altLang="en-US" sz="1150" dirty="0">
                <a:solidFill>
                  <a:srgbClr val="DDE4EE"/>
                </a:solidFill>
                <a:latin typeface="Consolas"/>
              </a:rPr>
              <a:t>──→</a:t>
            </a: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 /rapt-</a:t>
            </a:r>
            <a:r>
              <a:rPr lang="en-US" altLang="zh-TW" sz="1150" dirty="0" err="1">
                <a:solidFill>
                  <a:srgbClr val="DDE4EE"/>
                </a:solidFill>
                <a:latin typeface="Consolas"/>
              </a:rPr>
              <a:t>openapi</a:t>
            </a: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  /rapt-</a:t>
            </a:r>
            <a:r>
              <a:rPr lang="en-US" altLang="zh-TW" sz="1150" dirty="0" err="1">
                <a:solidFill>
                  <a:srgbClr val="DDE4EE"/>
                </a:solidFill>
                <a:latin typeface="Consolas"/>
              </a:rPr>
              <a:t>lofi</a:t>
            </a:r>
            <a:r>
              <a:rPr lang="en-US" altLang="zh-TW" sz="1150" dirty="0">
                <a:solidFill>
                  <a:srgbClr val="DDE4EE"/>
                </a:solidFill>
                <a:latin typeface="Consolas"/>
              </a:rPr>
              <a:t>  /rapt-design-brief</a:t>
            </a:r>
            <a:endParaRPr sz="1150" b="0" dirty="0">
              <a:solidFill>
                <a:srgbClr val="DDE4EE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6384" y="4754880"/>
            <a:ext cx="10607040" cy="11430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4754880"/>
            <a:ext cx="82296" cy="1143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4754880"/>
            <a:ext cx="10149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這不是投影片上的方塊圖。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05A4E"/>
                </a:solidFill>
                <a:latin typeface="Microsoft JhengHei"/>
              </a:rPr>
              <a:t>這是你今晚 clone 下來，就能跑的東西。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先看成品：跑完一輪你會得到什麼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全貌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4892040"/>
          </a:xfrm>
          <a:prstGeom prst="roundRect">
            <a:avLst>
              <a:gd name="adj" fmla="val 4500"/>
            </a:avLst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15015" cy="45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DDE4EE"/>
                </a:solidFill>
                <a:latin typeface="Consolas"/>
                <a:ea typeface="Microsoft JhengHei"/>
              </a:rPr>
              <a:t>docs/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DDE4EE"/>
                </a:solidFill>
                <a:latin typeface="Consolas"/>
                <a:ea typeface="Microsoft JhengHei"/>
              </a:rPr>
              <a:t>├─ discovery/              Phase 1 業務探索摘要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00-source-inventory.md     RFP / 會議記錄盤點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01-stakeholders.md         利害關係人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02-user-journeys.md        使用者旅程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03-event-timeline.md       業務事件時間線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└─ 04-vision-kpi-scope.md     願景 / KPI / 範圍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5FD3C4"/>
                </a:solidFill>
                <a:latin typeface="Consolas"/>
                <a:ea typeface="Microsoft JhengHei"/>
              </a:rPr>
              <a:t>├─ ssot/                   ★ 五份規格 SSoT（唯一事實來源，人簽核的資產）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habdd/   *.feature           高階 Gherkin：行為規則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dbml/    schema + glossary/seeds/constraints   資料模型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haarm/   *.haarm.yaml        角色與權限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haapi/   *.haapi.yaml        API 意圖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└─ hapdl/   *.hapdl.yaml        頁面意圖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F0C277"/>
                </a:solidFill>
                <a:latin typeface="Consolas"/>
                <a:ea typeface="Microsoft JhengHei"/>
              </a:rPr>
              <a:t>├─ generate/               下游生成物（隨時可刪掉重生）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├─ openapi/   Swagger 可瀏覽的 API 文件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├─ lofi/      可開啟的 Lo-Fi wireframe HTML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└─ designbrief/   餵給 AI 設計工具的 Design Brief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DDE4EE"/>
                </a:solidFill>
                <a:latin typeface="Consolas"/>
                <a:ea typeface="Microsoft JhengHei"/>
              </a:rPr>
              <a:t>└─ reports/                驗證報告 + RAscore 品質計分卡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.clarify/                  澄清問題 backlog 與決策記錄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.raptor/                   session 狀態、可追溯矩陣、影響矩陣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4 / 23</a:t>
            </a:r>
          </a:p>
        </p:txBody>
      </p:sp>
      <p:sp>
        <p:nvSpPr>
          <p:cNvPr id="11" name="SkillAnnotations">
            <a:extLst>
              <a:ext uri="{FF2B5EF4-FFF2-40B4-BE49-F238E27FC236}">
                <a16:creationId xmlns:a16="http://schemas.microsoft.com/office/drawing/2014/main" id="{F3FB0CD4-FBC8-47C8-A8B2-CE2C2C000C44}"/>
              </a:ext>
            </a:extLst>
          </p:cNvPr>
          <p:cNvSpPr txBox="1"/>
          <p:nvPr/>
        </p:nvSpPr>
        <p:spPr>
          <a:xfrm>
            <a:off x="8572500" y="1536700"/>
            <a:ext cx="2921000" cy="4559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/rapt-discovery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/rapt-behavior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/rapt-modeling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/rapt-modeling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/rapt-intent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/rapt-intent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sz="1150" dirty="0"/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</a:t>
            </a:r>
            <a:r>
              <a:rPr lang="en-US" sz="1150" b="1" i="0" dirty="0" err="1">
                <a:solidFill>
                  <a:srgbClr val="6FA8DC"/>
                </a:solidFill>
                <a:latin typeface="Consolas"/>
              </a:rPr>
              <a:t>openapi</a:t>
            </a:r>
            <a:endParaRPr lang="en-US" sz="1150" b="1" i="0" dirty="0">
              <a:solidFill>
                <a:srgbClr val="6FA8DC"/>
              </a:solidFill>
              <a:latin typeface="Consolas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</a:t>
            </a:r>
            <a:r>
              <a:rPr lang="en-US" sz="1150" b="1" i="0" dirty="0" err="1">
                <a:solidFill>
                  <a:srgbClr val="6FA8DC"/>
                </a:solidFill>
                <a:latin typeface="Consolas"/>
              </a:rPr>
              <a:t>lofi</a:t>
            </a:r>
            <a:endParaRPr lang="en-US" sz="1150" b="1" i="0" dirty="0">
              <a:solidFill>
                <a:srgbClr val="6FA8DC"/>
              </a:solidFill>
              <a:latin typeface="Consolas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/rapt-design-brief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/rapt-verify /rapt-</a:t>
            </a:r>
            <a:r>
              <a:rPr lang="en-US" sz="1150" b="1" i="0" dirty="0" err="1">
                <a:solidFill>
                  <a:srgbClr val="6FA8DC"/>
                </a:solidFill>
                <a:latin typeface="Consolas"/>
              </a:rPr>
              <a:t>RAscore</a:t>
            </a:r>
            <a:endParaRPr lang="en-US" sz="1150" b="1" i="0" dirty="0">
              <a:solidFill>
                <a:srgbClr val="6FA8DC"/>
              </a:solidFill>
              <a:latin typeface="Consolas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/rapt-clarify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6FA8DC"/>
                </a:solidFill>
                <a:latin typeface="Consolas"/>
              </a:rPr>
              <a:t>← /rapt-kickoff</a:t>
            </a:r>
          </a:p>
        </p:txBody>
      </p:sp>
    </p:spTree>
    <p:extLst>
      <p:ext uri="{BB962C8B-B14F-4D97-AF65-F5344CB8AC3E}">
        <p14:creationId xmlns:p14="http://schemas.microsoft.com/office/powerpoint/2010/main" val="2948871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還記得，那個沒被問的問題嗎？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成真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這一步，你今晚就能自己跑一次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11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554480"/>
            <a:ext cx="10607040" cy="30175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54480"/>
            <a:ext cx="109728" cy="30175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78308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5A4E"/>
                </a:solidFill>
                <a:latin typeface="Microsoft JhengHei"/>
              </a:rPr>
              <a:t>CiC · 待澄清 · 優先級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1B2A41"/>
                </a:solidFill>
                <a:latin typeface="Microsoft JhengHei"/>
              </a:rPr>
              <a:t>「</a:t>
            </a:r>
            <a:r>
              <a:rPr sz="2600" b="1" dirty="0" err="1">
                <a:solidFill>
                  <a:srgbClr val="1B2A41"/>
                </a:solidFill>
                <a:latin typeface="Microsoft JhengHei"/>
              </a:rPr>
              <a:t>商品庫存不足時，訂單該怎麼辦</a:t>
            </a:r>
            <a:r>
              <a:rPr sz="2600" b="1" dirty="0">
                <a:solidFill>
                  <a:srgbClr val="1B2A41"/>
                </a:solidFill>
                <a:latin typeface="Microsoft JhengHei"/>
              </a:rPr>
              <a:t>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54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62E3A"/>
                </a:solidFill>
                <a:latin typeface="Microsoft JhengHei"/>
              </a:rPr>
              <a:t>A. 完全拒絕　　B. 允許建立，標記待補貨　　C. 部分成立　　D. 允許超賣後通知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A93A0"/>
                </a:solidFill>
                <a:latin typeface="Microsoft JhengHei"/>
              </a:rPr>
              <a:t>影響範圍：建立訂單 Feature、庫存檢查、訂單狀態定義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062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→ 由真正懂業務的人，用一個字母回答；答案寫回規格，並留 decision log。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754880"/>
            <a:ext cx="10607040" cy="11430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4754880"/>
            <a:ext cx="82296" cy="1143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754880"/>
            <a:ext cx="10149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E3A"/>
                </a:solidFill>
                <a:latin typeface="Microsoft JhengHei"/>
              </a:rPr>
              <a:t>AI 讀到這裡、發現規格沒講，它</a:t>
            </a:r>
            <a:r>
              <a:rPr sz="1600" b="1">
                <a:solidFill>
                  <a:srgbClr val="C05A4E"/>
                </a:solidFill>
                <a:latin typeface="Microsoft JhengHei"/>
              </a:rPr>
              <a:t>不准猜</a:t>
            </a:r>
            <a:r>
              <a:rPr sz="1450" b="0">
                <a:solidFill>
                  <a:srgbClr val="262E3A"/>
                </a:solidFill>
                <a:latin typeface="Microsoft JhengHei"/>
              </a:rPr>
              <a:t>——它留一張便條。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六個月前搞掛生產線的那個問題，在這套流程裡，永遠不會被一個看似合理的幻覺蓋過去。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965960"/>
            <a:ext cx="128016" cy="10972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但故事還沒完。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規格不是寫完就結束——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2C984"/>
                </a:solidFill>
                <a:latin typeface="Microsoft JhengHei"/>
              </a:rPr>
              <a:t>它會被改，改一輩子。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9692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3E0"/>
                </a:solidFill>
                <a:latin typeface="Microsoft JhengHei"/>
              </a:rPr>
              <a:t>而變更，正是一切腐化的起點。所以我們補了規格治理最常缺的兩塊。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12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動手前，系統先告訴你會炸到哪裡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成真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這一步，你今晚就能自己跑一次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客戶說：我想加一個『商品評論』功能。過去我們會憑感覺開始改。現在，先跑一個指令 </a:t>
            </a:r>
            <a:r>
              <a:rPr sz="1300" b="1">
                <a:solidFill>
                  <a:srgbClr val="C05A4E"/>
                </a:solidFill>
                <a:latin typeface="Microsoft JhengHei"/>
              </a:rPr>
              <a:t>/rapt-impact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（完全不動規格）：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965960"/>
            <a:ext cx="23774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1965960"/>
            <a:ext cx="23774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3774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B2A41"/>
                </a:solidFill>
                <a:latin typeface="Microsoft JhengHei"/>
              </a:rPr>
              <a:t>287 / 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4290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節點 / 邊
自動建出證據圖譜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9583" y="1965960"/>
            <a:ext cx="23774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9583" y="1965960"/>
            <a:ext cx="23774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23774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B2A41"/>
                </a:solidFill>
                <a:latin typeface="Microsoft JhengHei"/>
              </a:rPr>
              <a:t>5 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4290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橫跨全部
DBML→haPDL 規格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3" y="1965960"/>
            <a:ext cx="23774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783" y="1965960"/>
            <a:ext cx="23774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23774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B2A41"/>
                </a:solidFill>
                <a:latin typeface="Microsoft JhengHei"/>
              </a:rPr>
              <a:t>5 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4290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既有行為
回歸風險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3" y="1965960"/>
            <a:ext cx="23774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15983" y="1965960"/>
            <a:ext cx="23774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23774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B2A41"/>
                </a:solidFill>
                <a:latin typeface="Microsoft JhengHei"/>
              </a:rPr>
              <a:t>6 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34290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你必須先問清楚
否則別動手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343400"/>
            <a:ext cx="1060704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4343400"/>
            <a:ext cx="8229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343400"/>
            <a:ext cx="10149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還記得開場那個『沒被問的問題』嗎？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現在，系統會在你寫下第一行之前，主動幫你把該問的問題問出來。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這就是從『事後救火』，到『事前看見』。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3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那如果，有人直接手改了規格？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成真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這一步，你今晚就能自己跑一次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46304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現實裡總有人繞過流程、直接改規格——這很正常。問題是『誰改的、何時、為什麼』就斷線了。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057400"/>
            <a:ext cx="1060704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2057400"/>
            <a:ext cx="8229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05740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05A4E"/>
                </a:solidFill>
                <a:latin typeface="Microsoft JhengHei"/>
              </a:rPr>
              <a:t>/rapt-human-sync</a:t>
            </a:r>
            <a:r>
              <a:rPr sz="1400" b="1">
                <a:solidFill>
                  <a:srgbClr val="1B2A41"/>
                </a:solidFill>
                <a:latin typeface="Microsoft JhengHei"/>
              </a:rPr>
              <a:t>　自動偵測人工改動 → 補一張變更紀錄 → 接回追溯鏈。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154680"/>
            <a:ext cx="10607040" cy="13716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3319272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DDE4EE"/>
                </a:solidFill>
                <a:latin typeface="Consolas"/>
              </a:rPr>
              <a:t> 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動手前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：/rapt-impact      ──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事前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what-if，算出會炸到哪裡</a:t>
            </a:r>
            <a:endParaRPr sz="1250" b="0" dirty="0">
              <a:solidFill>
                <a:srgbClr val="DDE4EE"/>
              </a:solidFill>
              <a:latin typeface="Consolas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DDE4EE"/>
                </a:solidFill>
                <a:latin typeface="Consolas"/>
              </a:rPr>
              <a:t> 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動手後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：/rapt-human-sync  ──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補回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provenance，誰改的、為什麼</a:t>
            </a:r>
            <a:endParaRPr sz="1250" b="0" dirty="0">
              <a:solidFill>
                <a:srgbClr val="DDE4EE"/>
              </a:solidFill>
              <a:latin typeface="Consolas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DDE4EE"/>
                </a:solidFill>
                <a:latin typeface="Consolas"/>
              </a:rPr>
              <a:t> 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合起來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 = </a:t>
            </a:r>
            <a:r>
              <a:rPr sz="1250" b="0" dirty="0" err="1">
                <a:solidFill>
                  <a:srgbClr val="DDE4EE"/>
                </a:solidFill>
                <a:latin typeface="Consolas"/>
              </a:rPr>
              <a:t>規格的『完整變更生命週期治理</a:t>
            </a:r>
            <a:r>
              <a:rPr sz="1250" b="0" dirty="0">
                <a:solidFill>
                  <a:srgbClr val="DDE4EE"/>
                </a:solidFill>
                <a:latin typeface="Consolas"/>
              </a:rPr>
              <a:t>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4800600"/>
            <a:ext cx="10607040" cy="10058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" y="4800600"/>
            <a:ext cx="82296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80060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而它們有一條鐵律：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永遠只給建議、只做登錄，絕不替你做語意決策——裁判，不下場踢球。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不是投影片上的承諾，是跑出來的結果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成真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這一步，你今晚就能自己跑一次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554480"/>
            <a:ext cx="5212080" cy="4023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54480"/>
            <a:ext cx="521208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smallBiz 電商（RFP → 完整規格）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95.13 /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RAscore 品質分數（veto 未觸發）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0 錯誤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跨 DSL 一致性 dsl-lint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17 /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00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must-have 需求覆蓋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554480"/>
            <a:ext cx="5029200" cy="4023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554480"/>
            <a:ext cx="50292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6" y="1783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aisystem 企業後台（與手寫碼共存）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377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369 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880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生成的 Java 檔，無縫整合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3375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185 / 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840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後端 / 前端測試全過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4297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05A4E"/>
                </a:solidFill>
                <a:latin typeface="Microsoft JhengHei"/>
              </a:rPr>
              <a:t>7.4 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Spring Boot 啟動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715000"/>
            <a:ext cx="10607040" cy="502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6384" y="5715000"/>
            <a:ext cx="82296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7150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誠實說一句：這是工程可行性驗證；更大規模的對照實驗，是我們接下來要做的。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一個挑戰，不只是一個邀請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換你了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17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0607040" cy="13258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" y="1508760"/>
            <a:ext cx="82296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45649"/>
            <a:ext cx="10149840" cy="65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dirty="0" err="1">
                <a:solidFill>
                  <a:srgbClr val="1B2A41"/>
                </a:solidFill>
                <a:latin typeface="Microsoft JhengHei"/>
              </a:rPr>
              <a:t>拿你手上最亂、最棘手的那份</a:t>
            </a:r>
            <a:r>
              <a:rPr sz="1800" b="1" dirty="0">
                <a:solidFill>
                  <a:srgbClr val="1B2A41"/>
                </a:solidFill>
                <a:latin typeface="Microsoft JhengHei"/>
              </a:rPr>
              <a:t> RFP，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dirty="0" err="1">
                <a:solidFill>
                  <a:srgbClr val="C05A4E"/>
                </a:solidFill>
                <a:latin typeface="Microsoft JhengHei"/>
              </a:rPr>
              <a:t>今晚跑一次</a:t>
            </a:r>
            <a:r>
              <a:rPr lang="zh-TW" altLang="en-US" sz="1900" b="1" dirty="0">
                <a:solidFill>
                  <a:srgbClr val="C05A4E"/>
                </a:solidFill>
                <a:latin typeface="Microsoft JhengHei"/>
              </a:rPr>
              <a:t>，</a:t>
            </a:r>
            <a:r>
              <a:rPr lang="zh-TW" altLang="en-US" sz="1900" b="1" dirty="0">
                <a:solidFill>
                  <a:srgbClr val="C05A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只要先跑到 </a:t>
            </a:r>
            <a:r>
              <a:rPr lang="en-US" sz="1900" b="1" dirty="0">
                <a:solidFill>
                  <a:srgbClr val="C05A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discovery / behavior，</a:t>
            </a:r>
            <a:r>
              <a:rPr lang="zh-TW" altLang="en-US" sz="1900" b="1" dirty="0">
                <a:solidFill>
                  <a:srgbClr val="C05A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你就可感受到效果。</a:t>
            </a:r>
            <a:endParaRPr sz="1900" b="1" dirty="0">
              <a:solidFill>
                <a:srgbClr val="C05A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3063240"/>
            <a:ext cx="6583680" cy="215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別擔心門檻</a:t>
            </a:r>
            <a:r>
              <a:rPr sz="1400" b="1" dirty="0">
                <a:solidFill>
                  <a:srgbClr val="1B2A41"/>
                </a:solidFill>
                <a:latin typeface="Microsoft JhengHei"/>
              </a:rPr>
              <a:t>——AI </a:t>
            </a: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做所有</a:t>
            </a:r>
            <a:r>
              <a:rPr lang="zh-TW" altLang="en-US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結構化</a:t>
            </a:r>
            <a:r>
              <a:rPr lang="en-US" altLang="zh-TW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一致性</a:t>
            </a:r>
            <a:r>
              <a:rPr lang="en-US" altLang="zh-TW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搬運</a:t>
            </a:r>
            <a:r>
              <a:rPr lang="en-US" altLang="zh-TW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rgbClr val="1B2A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對齊</a:t>
            </a:r>
            <a:r>
              <a:rPr sz="1400" b="1" dirty="0" err="1">
                <a:solidFill>
                  <a:srgbClr val="1B2A41"/>
                </a:solidFill>
                <a:latin typeface="Microsoft JhengHei"/>
              </a:rPr>
              <a:t>苦工，你只需要做三件事</a:t>
            </a:r>
            <a:r>
              <a:rPr sz="1400" b="1" dirty="0">
                <a:solidFill>
                  <a:srgbClr val="1B2A41"/>
                </a:solidFill>
                <a:latin typeface="Microsoft JhengHei"/>
              </a:rPr>
              <a:t>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611880"/>
            <a:ext cx="65836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611880"/>
            <a:ext cx="82296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① 備材料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1188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把 RFP、會議記錄丟進去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453128"/>
            <a:ext cx="65836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4453128"/>
            <a:ext cx="82296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5312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② 審 Gherkin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53128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看一份行為規格對不對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5294376"/>
            <a:ext cx="65836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5294376"/>
            <a:ext cx="82296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29437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③ 一場澄清會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94376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回答排好優先級的選擇題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17220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05A4E"/>
                </a:solidFill>
                <a:latin typeface="Microsoft JhengHei"/>
              </a:rPr>
              <a:t>一個下午，就能跑完第一輪。</a:t>
            </a:r>
          </a:p>
        </p:txBody>
      </p:sp>
      <p:pic>
        <p:nvPicPr>
          <p:cNvPr id="25" name="Picture 24" descr="rapt_qr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200400"/>
            <a:ext cx="2651760" cy="2651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18120" y="5897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github.com/chrisokchen/rapt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1783080"/>
            <a:ext cx="1216152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9439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「商品庫存不足時，訂單該怎麼辦？」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94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2C984"/>
                </a:solidFill>
                <a:latin typeface="Microsoft JhengHei"/>
              </a:rPr>
              <a:t>現在，它不會再被略過了。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9943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規格即源碼——不只是讓 AI 寫得更快，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而是讓那些沒被問的問題，第一次有了一個家。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94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換你了。　</a:t>
            </a:r>
            <a:r>
              <a:rPr sz="1600" b="1">
                <a:solidFill>
                  <a:srgbClr val="F2C984"/>
                </a:solidFill>
                <a:latin typeface="Microsoft JhengHei"/>
              </a:rPr>
              <a:t>github.com/chrisokchen/rapt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468880"/>
            <a:ext cx="128016" cy="1188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237744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Q&amp;A 備用投影片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4290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Backup — 被問到時再展開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與具名框架之逐點對照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19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54480"/>
          <a:ext cx="10607039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框架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缺口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本框架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OpenAPI / Swagger Codegen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僅 API 介面與 DTO；無領域模型、頁面意圖、細粒度授權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四維 SSoT＋統合 Linter／Z3 跨層驗證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EMF &amp; Sirius（MDE）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圖形化＋XMI，與 LLM 摩擦大、Git 不友善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純文字 YAML/DBML/Gherkin，版控原生友善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Devin / SWE-agent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Level 0：靈活但難保確定性、token 貴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AI 約束於 Level 2，交付交給確定性管線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5212080"/>
            <a:ext cx="106070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5212080"/>
            <a:ext cx="82296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521208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【R1-5】被問『跟現有東西有何不同』時翻。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21 個 skill 全貌與人機分工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46304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▸ 主流程：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kickoff／discovery／behavior／modeling／clarify／intent／verify／reconcile／openapi／lofi／design-brief／RAscore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C05A4E"/>
                </a:solidFill>
                <a:latin typeface="Microsoft JhengHei"/>
              </a:rPr>
              <a:t>▸ 治理新增：</a:t>
            </a:r>
            <a:r>
              <a:rPr sz="1300" b="1">
                <a:solidFill>
                  <a:srgbClr val="1B2A41"/>
                </a:solidFill>
                <a:latin typeface="Microsoft JhengHei"/>
              </a:rPr>
              <a:t>impact（變更前 what-if）／human-sync（人工修改 provenance）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▸ 基礎：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core ＋ 五個格式 worker（form-gherkin／dbml／haarm／haapi／hapdl）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4023360"/>
            <a:ext cx="1060704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4023360"/>
            <a:ext cx="8229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023360"/>
            <a:ext cx="10149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人機分工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AI 做苦工：消化材料、起草五份規格、交叉驗證、自動修復、算變更影響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人做三件事：備材料、審 Gherkin、一場澄清 session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六道驗證鏈與跨層逃逸實例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13716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(1)靜態規格驗證(EBNF/Schema/Linter/Z3) → (2)生成器單元測試 → (3)mvn package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   → (4)Spring IoC 啟動 → (5)執行期 API → (6)前端整合冒煙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200400"/>
            <a:ext cx="10607040" cy="1645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3200400"/>
            <a:ext cx="82296" cy="164592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200400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05A4E"/>
                </a:solidFill>
                <a:latin typeface="Microsoft JhengHei"/>
              </a:rPr>
              <a:t>跨層逃逸實例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hasPermission("admin") 帶雙引號 → 通過 Stage 2 EJS 渲染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→ Stage 6 因 HTML 屬性引號衝突『靜默失敗』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印證單一驗證關卡不足、N 道鏈之必要。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治理雙工具的鐵律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22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54480"/>
          <a:ext cx="106070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1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1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面向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/rapt-impact（變更前）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/rapt-human-sync（人工修改後）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輸入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what-if 提案／行內需求／指定 SSoT 路徑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git diff（baseline 依序解析）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產出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IA 報告＋proposed CiC＋proposed impact entries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HSYNC 紀錄＋登錄 manual_change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鐵律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Advisory-only；只建議不裁決；證據不足標 low＋提 CiC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只登錄不修復；deny 任何 SSoT 改動；fingerprint 去重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5074920"/>
            <a:ext cx="106070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5074920"/>
            <a:ext cx="8229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507492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共同原則：</a:t>
            </a:r>
            <a:r>
              <a:rPr sz="1250" b="0">
                <a:solidFill>
                  <a:srgbClr val="262E3A"/>
                </a:solidFill>
                <a:latin typeface="Microsoft JhengHei"/>
              </a:rPr>
              <a:t>皆 deny-by-default、皆不替人做語意決策——裁判永遠不下場踢球。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8786B9-296B-4D50-856C-93FB0B92950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25fb423-e3ce-4b4f-ad15-0e017f668e6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2151</Words>
  <Application>Microsoft Office PowerPoint</Application>
  <PresentationFormat>寬螢幕</PresentationFormat>
  <Paragraphs>291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微軟正黑體</vt:lpstr>
      <vt:lpstr>微軟正黑體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A08陳建維</cp:lastModifiedBy>
  <cp:revision>14</cp:revision>
  <cp:lastPrinted>2026-06-29T06:41:09Z</cp:lastPrinted>
  <dcterms:created xsi:type="dcterms:W3CDTF">2013-01-27T09:14:16Z</dcterms:created>
  <dcterms:modified xsi:type="dcterms:W3CDTF">2026-07-01T06:47:48Z</dcterms:modified>
  <cp:category/>
</cp:coreProperties>
</file>